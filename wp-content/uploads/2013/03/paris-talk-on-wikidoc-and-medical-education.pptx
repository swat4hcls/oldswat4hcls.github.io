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370" r:id="rId2"/>
    <p:sldId id="335" r:id="rId3"/>
    <p:sldId id="551" r:id="rId4"/>
    <p:sldId id="555" r:id="rId5"/>
    <p:sldId id="334" r:id="rId6"/>
    <p:sldId id="338" r:id="rId7"/>
    <p:sldId id="422" r:id="rId8"/>
    <p:sldId id="336" r:id="rId9"/>
    <p:sldId id="337" r:id="rId10"/>
    <p:sldId id="452" r:id="rId11"/>
    <p:sldId id="393" r:id="rId12"/>
    <p:sldId id="428" r:id="rId13"/>
    <p:sldId id="391" r:id="rId14"/>
    <p:sldId id="572" r:id="rId15"/>
    <p:sldId id="573" r:id="rId16"/>
    <p:sldId id="574" r:id="rId17"/>
    <p:sldId id="373" r:id="rId18"/>
    <p:sldId id="374" r:id="rId19"/>
    <p:sldId id="416" r:id="rId20"/>
    <p:sldId id="415" r:id="rId21"/>
    <p:sldId id="457" r:id="rId22"/>
    <p:sldId id="432" r:id="rId23"/>
    <p:sldId id="430" r:id="rId24"/>
    <p:sldId id="438" r:id="rId25"/>
    <p:sldId id="376" r:id="rId26"/>
    <p:sldId id="532" r:id="rId27"/>
    <p:sldId id="486" r:id="rId28"/>
    <p:sldId id="487" r:id="rId29"/>
    <p:sldId id="586" r:id="rId30"/>
    <p:sldId id="488" r:id="rId31"/>
    <p:sldId id="489" r:id="rId32"/>
    <p:sldId id="591" r:id="rId33"/>
    <p:sldId id="590" r:id="rId34"/>
    <p:sldId id="587" r:id="rId35"/>
    <p:sldId id="588" r:id="rId36"/>
    <p:sldId id="589" r:id="rId37"/>
    <p:sldId id="582" r:id="rId38"/>
    <p:sldId id="577" r:id="rId39"/>
    <p:sldId id="578" r:id="rId40"/>
    <p:sldId id="579" r:id="rId41"/>
    <p:sldId id="580" r:id="rId42"/>
    <p:sldId id="581" r:id="rId43"/>
    <p:sldId id="575" r:id="rId44"/>
    <p:sldId id="576" r:id="rId45"/>
    <p:sldId id="596" r:id="rId46"/>
    <p:sldId id="601" r:id="rId47"/>
    <p:sldId id="599" r:id="rId48"/>
    <p:sldId id="602" r:id="rId49"/>
    <p:sldId id="600" r:id="rId50"/>
    <p:sldId id="606" r:id="rId51"/>
    <p:sldId id="603" r:id="rId52"/>
    <p:sldId id="594" r:id="rId53"/>
    <p:sldId id="597" r:id="rId54"/>
    <p:sldId id="595" r:id="rId55"/>
    <p:sldId id="598" r:id="rId56"/>
    <p:sldId id="608" r:id="rId57"/>
    <p:sldId id="604" r:id="rId58"/>
    <p:sldId id="605" r:id="rId59"/>
    <p:sldId id="550" r:id="rId60"/>
    <p:sldId id="553" r:id="rId61"/>
    <p:sldId id="531" r:id="rId62"/>
    <p:sldId id="609" r:id="rId63"/>
    <p:sldId id="511" r:id="rId64"/>
    <p:sldId id="610" r:id="rId65"/>
    <p:sldId id="607" r:id="rId66"/>
  </p:sldIdLst>
  <p:sldSz cx="9144000" cy="6858000" type="screen4x3"/>
  <p:notesSz cx="7099300" cy="9398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2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2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2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200" kern="1200">
        <a:solidFill>
          <a:schemeClr val="tx1"/>
        </a:solidFill>
        <a:latin typeface="Times New Roman" pitchFamily="18" charset="0"/>
        <a:ea typeface="+mn-ea"/>
        <a:cs typeface="Arial" charset="0"/>
      </a:defRPr>
    </a:lvl5pPr>
    <a:lvl6pPr marL="2286000" algn="l" defTabSz="914400" rtl="0" eaLnBrk="1" latinLnBrk="0" hangingPunct="1">
      <a:defRPr sz="2200" kern="1200">
        <a:solidFill>
          <a:schemeClr val="tx1"/>
        </a:solidFill>
        <a:latin typeface="Times New Roman" pitchFamily="18" charset="0"/>
        <a:ea typeface="+mn-ea"/>
        <a:cs typeface="Arial" charset="0"/>
      </a:defRPr>
    </a:lvl6pPr>
    <a:lvl7pPr marL="2743200" algn="l" defTabSz="914400" rtl="0" eaLnBrk="1" latinLnBrk="0" hangingPunct="1">
      <a:defRPr sz="2200" kern="1200">
        <a:solidFill>
          <a:schemeClr val="tx1"/>
        </a:solidFill>
        <a:latin typeface="Times New Roman" pitchFamily="18" charset="0"/>
        <a:ea typeface="+mn-ea"/>
        <a:cs typeface="Arial" charset="0"/>
      </a:defRPr>
    </a:lvl7pPr>
    <a:lvl8pPr marL="3200400" algn="l" defTabSz="914400" rtl="0" eaLnBrk="1" latinLnBrk="0" hangingPunct="1">
      <a:defRPr sz="2200" kern="1200">
        <a:solidFill>
          <a:schemeClr val="tx1"/>
        </a:solidFill>
        <a:latin typeface="Times New Roman" pitchFamily="18" charset="0"/>
        <a:ea typeface="+mn-ea"/>
        <a:cs typeface="Arial" charset="0"/>
      </a:defRPr>
    </a:lvl8pPr>
    <a:lvl9pPr marL="3657600" algn="l" defTabSz="914400" rtl="0" eaLnBrk="1" latinLnBrk="0" hangingPunct="1">
      <a:defRPr sz="2200" kern="1200">
        <a:solidFill>
          <a:schemeClr val="tx1"/>
        </a:solidFill>
        <a:latin typeface="Times New Roman" pitchFamily="18"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C49572"/>
    <a:srgbClr val="AA9E8C"/>
    <a:srgbClr val="FF9933"/>
    <a:srgbClr val="FFFF00"/>
    <a:srgbClr val="FF6600"/>
    <a:srgbClr val="FFCC00"/>
    <a:srgbClr val="0000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645" autoAdjust="0"/>
  </p:normalViewPr>
  <p:slideViewPr>
    <p:cSldViewPr>
      <p:cViewPr varScale="1">
        <p:scale>
          <a:sx n="179" d="100"/>
          <a:sy n="179" d="100"/>
        </p:scale>
        <p:origin x="-1584" y="-90"/>
      </p:cViewPr>
      <p:guideLst>
        <p:guide orient="horz" pos="2160"/>
        <p:guide pos="2880"/>
      </p:guideLst>
    </p:cSldViewPr>
  </p:slideViewPr>
  <p:outlineViewPr>
    <p:cViewPr>
      <p:scale>
        <a:sx n="33" d="100"/>
        <a:sy n="33" d="100"/>
      </p:scale>
      <p:origin x="0" y="23952"/>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880" y="-58"/>
      </p:cViewPr>
      <p:guideLst>
        <p:guide orient="horz" pos="2960"/>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76575" cy="469900"/>
          </a:xfrm>
          <a:prstGeom prst="rect">
            <a:avLst/>
          </a:prstGeom>
          <a:noFill/>
          <a:ln w="9525">
            <a:noFill/>
            <a:miter lim="800000"/>
            <a:headEnd/>
            <a:tailEnd/>
          </a:ln>
          <a:effectLst/>
        </p:spPr>
        <p:txBody>
          <a:bodyPr vert="horz" wrap="square" lIns="94253" tIns="47126" rIns="94253" bIns="47126" numCol="1" anchor="t" anchorCtr="0" compatLnSpc="1">
            <a:prstTxWarp prst="textNoShape">
              <a:avLst/>
            </a:prstTxWarp>
          </a:bodyPr>
          <a:lstStyle>
            <a:lvl1pPr defTabSz="942975">
              <a:defRPr sz="1200">
                <a:cs typeface="+mn-cs"/>
              </a:defRPr>
            </a:lvl1pPr>
          </a:lstStyle>
          <a:p>
            <a:pPr>
              <a:defRPr/>
            </a:pPr>
            <a:endParaRPr lang="en-US"/>
          </a:p>
        </p:txBody>
      </p:sp>
      <p:sp>
        <p:nvSpPr>
          <p:cNvPr id="49155" name="Rectangle 3"/>
          <p:cNvSpPr>
            <a:spLocks noGrp="1" noChangeArrowheads="1"/>
          </p:cNvSpPr>
          <p:nvPr>
            <p:ph type="dt" sz="quarter" idx="1"/>
          </p:nvPr>
        </p:nvSpPr>
        <p:spPr bwMode="auto">
          <a:xfrm>
            <a:off x="4022725" y="0"/>
            <a:ext cx="3076575" cy="469900"/>
          </a:xfrm>
          <a:prstGeom prst="rect">
            <a:avLst/>
          </a:prstGeom>
          <a:noFill/>
          <a:ln w="9525">
            <a:noFill/>
            <a:miter lim="800000"/>
            <a:headEnd/>
            <a:tailEnd/>
          </a:ln>
          <a:effectLst/>
        </p:spPr>
        <p:txBody>
          <a:bodyPr vert="horz" wrap="square" lIns="94253" tIns="47126" rIns="94253" bIns="47126" numCol="1" anchor="t" anchorCtr="0" compatLnSpc="1">
            <a:prstTxWarp prst="textNoShape">
              <a:avLst/>
            </a:prstTxWarp>
          </a:bodyPr>
          <a:lstStyle>
            <a:lvl1pPr algn="r" defTabSz="942975">
              <a:defRPr sz="1200">
                <a:cs typeface="+mn-cs"/>
              </a:defRPr>
            </a:lvl1pPr>
          </a:lstStyle>
          <a:p>
            <a:pPr>
              <a:defRPr/>
            </a:pPr>
            <a:endParaRPr lang="en-US"/>
          </a:p>
        </p:txBody>
      </p:sp>
      <p:sp>
        <p:nvSpPr>
          <p:cNvPr id="49156" name="Rectangle 4"/>
          <p:cNvSpPr>
            <a:spLocks noGrp="1" noChangeArrowheads="1"/>
          </p:cNvSpPr>
          <p:nvPr>
            <p:ph type="ftr" sz="quarter" idx="2"/>
          </p:nvPr>
        </p:nvSpPr>
        <p:spPr bwMode="auto">
          <a:xfrm>
            <a:off x="0" y="8928100"/>
            <a:ext cx="3076575" cy="469900"/>
          </a:xfrm>
          <a:prstGeom prst="rect">
            <a:avLst/>
          </a:prstGeom>
          <a:noFill/>
          <a:ln w="9525">
            <a:noFill/>
            <a:miter lim="800000"/>
            <a:headEnd/>
            <a:tailEnd/>
          </a:ln>
          <a:effectLst/>
        </p:spPr>
        <p:txBody>
          <a:bodyPr vert="horz" wrap="square" lIns="94253" tIns="47126" rIns="94253" bIns="47126" numCol="1" anchor="b" anchorCtr="0" compatLnSpc="1">
            <a:prstTxWarp prst="textNoShape">
              <a:avLst/>
            </a:prstTxWarp>
          </a:bodyPr>
          <a:lstStyle>
            <a:lvl1pPr defTabSz="942975">
              <a:defRPr sz="1200">
                <a:cs typeface="+mn-cs"/>
              </a:defRPr>
            </a:lvl1pPr>
          </a:lstStyle>
          <a:p>
            <a:pPr>
              <a:defRPr/>
            </a:pPr>
            <a:endParaRPr lang="en-US"/>
          </a:p>
        </p:txBody>
      </p:sp>
      <p:sp>
        <p:nvSpPr>
          <p:cNvPr id="49157" name="Rectangle 5"/>
          <p:cNvSpPr>
            <a:spLocks noGrp="1" noChangeArrowheads="1"/>
          </p:cNvSpPr>
          <p:nvPr>
            <p:ph type="sldNum" sz="quarter" idx="3"/>
          </p:nvPr>
        </p:nvSpPr>
        <p:spPr bwMode="auto">
          <a:xfrm>
            <a:off x="4022725" y="8928100"/>
            <a:ext cx="3076575" cy="469900"/>
          </a:xfrm>
          <a:prstGeom prst="rect">
            <a:avLst/>
          </a:prstGeom>
          <a:noFill/>
          <a:ln w="9525">
            <a:noFill/>
            <a:miter lim="800000"/>
            <a:headEnd/>
            <a:tailEnd/>
          </a:ln>
          <a:effectLst/>
        </p:spPr>
        <p:txBody>
          <a:bodyPr vert="horz" wrap="square" lIns="94253" tIns="47126" rIns="94253" bIns="47126" numCol="1" anchor="b" anchorCtr="0" compatLnSpc="1">
            <a:prstTxWarp prst="textNoShape">
              <a:avLst/>
            </a:prstTxWarp>
          </a:bodyPr>
          <a:lstStyle>
            <a:lvl1pPr algn="r" defTabSz="942975">
              <a:defRPr sz="1200">
                <a:cs typeface="+mn-cs"/>
              </a:defRPr>
            </a:lvl1pPr>
          </a:lstStyle>
          <a:p>
            <a:pPr>
              <a:defRPr/>
            </a:pPr>
            <a:fld id="{D4DB8506-0EDF-4B86-9568-8A7716803180}" type="slidenum">
              <a:rPr lang="en-US"/>
              <a:pPr>
                <a:defRPr/>
              </a:pPr>
              <a:t>‹#›</a:t>
            </a:fld>
            <a:endParaRPr lang="en-US"/>
          </a:p>
        </p:txBody>
      </p:sp>
    </p:spTree>
    <p:extLst>
      <p:ext uri="{BB962C8B-B14F-4D97-AF65-F5344CB8AC3E}">
        <p14:creationId xmlns:p14="http://schemas.microsoft.com/office/powerpoint/2010/main" val="428417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6575" cy="469900"/>
          </a:xfrm>
          <a:prstGeom prst="rect">
            <a:avLst/>
          </a:prstGeom>
          <a:noFill/>
          <a:ln w="9525">
            <a:noFill/>
            <a:miter lim="800000"/>
            <a:headEnd/>
            <a:tailEnd/>
          </a:ln>
          <a:effectLst/>
        </p:spPr>
        <p:txBody>
          <a:bodyPr vert="horz" wrap="square" lIns="94253" tIns="47126" rIns="94253" bIns="47126" numCol="1" anchor="t" anchorCtr="0" compatLnSpc="1">
            <a:prstTxWarp prst="textNoShape">
              <a:avLst/>
            </a:prstTxWarp>
          </a:bodyPr>
          <a:lstStyle>
            <a:lvl1pPr defTabSz="942975">
              <a:defRPr sz="1200">
                <a:cs typeface="+mn-cs"/>
              </a:defRPr>
            </a:lvl1pPr>
          </a:lstStyle>
          <a:p>
            <a:pPr>
              <a:defRPr/>
            </a:pPr>
            <a:endParaRPr lang="en-US"/>
          </a:p>
        </p:txBody>
      </p:sp>
      <p:sp>
        <p:nvSpPr>
          <p:cNvPr id="4099" name="Rectangle 3"/>
          <p:cNvSpPr>
            <a:spLocks noGrp="1" noChangeArrowheads="1"/>
          </p:cNvSpPr>
          <p:nvPr>
            <p:ph type="dt" idx="1"/>
          </p:nvPr>
        </p:nvSpPr>
        <p:spPr bwMode="auto">
          <a:xfrm>
            <a:off x="4021138" y="0"/>
            <a:ext cx="3076575" cy="469900"/>
          </a:xfrm>
          <a:prstGeom prst="rect">
            <a:avLst/>
          </a:prstGeom>
          <a:noFill/>
          <a:ln w="9525">
            <a:noFill/>
            <a:miter lim="800000"/>
            <a:headEnd/>
            <a:tailEnd/>
          </a:ln>
          <a:effectLst/>
        </p:spPr>
        <p:txBody>
          <a:bodyPr vert="horz" wrap="square" lIns="94253" tIns="47126" rIns="94253" bIns="47126" numCol="1" anchor="t" anchorCtr="0" compatLnSpc="1">
            <a:prstTxWarp prst="textNoShape">
              <a:avLst/>
            </a:prstTxWarp>
          </a:bodyPr>
          <a:lstStyle>
            <a:lvl1pPr algn="r" defTabSz="942975">
              <a:defRPr sz="1200">
                <a:cs typeface="+mn-cs"/>
              </a:defRPr>
            </a:lvl1pPr>
          </a:lstStyle>
          <a:p>
            <a:pPr>
              <a:defRPr/>
            </a:pPr>
            <a:endParaRPr lang="en-US"/>
          </a:p>
        </p:txBody>
      </p:sp>
      <p:sp>
        <p:nvSpPr>
          <p:cNvPr id="62468" name="Rectangle 4"/>
          <p:cNvSpPr>
            <a:spLocks noGrp="1" noRot="1" noChangeAspect="1" noChangeArrowheads="1" noTextEdit="1"/>
          </p:cNvSpPr>
          <p:nvPr>
            <p:ph type="sldImg" idx="2"/>
          </p:nvPr>
        </p:nvSpPr>
        <p:spPr bwMode="auto">
          <a:xfrm>
            <a:off x="1200150" y="704850"/>
            <a:ext cx="4699000" cy="35242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9613" y="4464050"/>
            <a:ext cx="5680075" cy="4229100"/>
          </a:xfrm>
          <a:prstGeom prst="rect">
            <a:avLst/>
          </a:prstGeom>
          <a:noFill/>
          <a:ln w="9525">
            <a:noFill/>
            <a:miter lim="800000"/>
            <a:headEnd/>
            <a:tailEnd/>
          </a:ln>
          <a:effectLst/>
        </p:spPr>
        <p:txBody>
          <a:bodyPr vert="horz" wrap="square" lIns="94253" tIns="47126" rIns="94253" bIns="4712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926513"/>
            <a:ext cx="3076575" cy="469900"/>
          </a:xfrm>
          <a:prstGeom prst="rect">
            <a:avLst/>
          </a:prstGeom>
          <a:noFill/>
          <a:ln w="9525">
            <a:noFill/>
            <a:miter lim="800000"/>
            <a:headEnd/>
            <a:tailEnd/>
          </a:ln>
          <a:effectLst/>
        </p:spPr>
        <p:txBody>
          <a:bodyPr vert="horz" wrap="square" lIns="94253" tIns="47126" rIns="94253" bIns="47126" numCol="1" anchor="b" anchorCtr="0" compatLnSpc="1">
            <a:prstTxWarp prst="textNoShape">
              <a:avLst/>
            </a:prstTxWarp>
          </a:bodyPr>
          <a:lstStyle>
            <a:lvl1pPr defTabSz="942975">
              <a:defRPr sz="1200">
                <a:cs typeface="+mn-cs"/>
              </a:defRPr>
            </a:lvl1pPr>
          </a:lstStyle>
          <a:p>
            <a:pPr>
              <a:defRPr/>
            </a:pPr>
            <a:endParaRPr lang="en-US"/>
          </a:p>
        </p:txBody>
      </p:sp>
      <p:sp>
        <p:nvSpPr>
          <p:cNvPr id="4103" name="Rectangle 7"/>
          <p:cNvSpPr>
            <a:spLocks noGrp="1" noChangeArrowheads="1"/>
          </p:cNvSpPr>
          <p:nvPr>
            <p:ph type="sldNum" sz="quarter" idx="5"/>
          </p:nvPr>
        </p:nvSpPr>
        <p:spPr bwMode="auto">
          <a:xfrm>
            <a:off x="4021138" y="8926513"/>
            <a:ext cx="3076575" cy="469900"/>
          </a:xfrm>
          <a:prstGeom prst="rect">
            <a:avLst/>
          </a:prstGeom>
          <a:noFill/>
          <a:ln w="9525">
            <a:noFill/>
            <a:miter lim="800000"/>
            <a:headEnd/>
            <a:tailEnd/>
          </a:ln>
          <a:effectLst/>
        </p:spPr>
        <p:txBody>
          <a:bodyPr vert="horz" wrap="square" lIns="94253" tIns="47126" rIns="94253" bIns="47126" numCol="1" anchor="b" anchorCtr="0" compatLnSpc="1">
            <a:prstTxWarp prst="textNoShape">
              <a:avLst/>
            </a:prstTxWarp>
          </a:bodyPr>
          <a:lstStyle>
            <a:lvl1pPr algn="r" defTabSz="942975">
              <a:defRPr sz="1200">
                <a:cs typeface="+mn-cs"/>
              </a:defRPr>
            </a:lvl1pPr>
          </a:lstStyle>
          <a:p>
            <a:pPr>
              <a:defRPr/>
            </a:pPr>
            <a:fld id="{299580DA-1F1C-4D2E-8DA3-619EC9496117}" type="slidenum">
              <a:rPr lang="en-US"/>
              <a:pPr>
                <a:defRPr/>
              </a:pPr>
              <a:t>‹#›</a:t>
            </a:fld>
            <a:endParaRPr lang="en-US"/>
          </a:p>
        </p:txBody>
      </p:sp>
    </p:spTree>
    <p:extLst>
      <p:ext uri="{BB962C8B-B14F-4D97-AF65-F5344CB8AC3E}">
        <p14:creationId xmlns:p14="http://schemas.microsoft.com/office/powerpoint/2010/main" val="12989826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E4E5F51-9F1E-482C-8B92-59594B5B7F34}" type="slidenum">
              <a:rPr lang="en-US"/>
              <a:pPr>
                <a:defRPr/>
              </a:pPr>
              <a:t>‹#›</a:t>
            </a:fld>
            <a:endParaRPr lang="en-US"/>
          </a:p>
        </p:txBody>
      </p:sp>
    </p:spTree>
    <p:extLst>
      <p:ext uri="{BB962C8B-B14F-4D97-AF65-F5344CB8AC3E}">
        <p14:creationId xmlns:p14="http://schemas.microsoft.com/office/powerpoint/2010/main" val="676376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a:solidFill>
                  <a:srgbClr val="FF9933"/>
                </a:solidFill>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855F15-5A5F-4670-8116-D70CDB367CCF}" type="slidenum">
              <a:rPr lang="en-US"/>
              <a:pPr>
                <a:defRPr/>
              </a:pPr>
              <a:t>‹#›</a:t>
            </a:fld>
            <a:endParaRPr lang="en-US"/>
          </a:p>
        </p:txBody>
      </p:sp>
    </p:spTree>
    <p:extLst>
      <p:ext uri="{BB962C8B-B14F-4D97-AF65-F5344CB8AC3E}">
        <p14:creationId xmlns:p14="http://schemas.microsoft.com/office/powerpoint/2010/main" val="2362349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24CE433-1CB2-4FD2-B763-13766A377A8A}" type="slidenum">
              <a:rPr lang="en-US"/>
              <a:pPr>
                <a:defRPr/>
              </a:pPr>
              <a:t>‹#›</a:t>
            </a:fld>
            <a:endParaRPr lang="en-US"/>
          </a:p>
        </p:txBody>
      </p:sp>
    </p:spTree>
    <p:extLst>
      <p:ext uri="{BB962C8B-B14F-4D97-AF65-F5344CB8AC3E}">
        <p14:creationId xmlns:p14="http://schemas.microsoft.com/office/powerpoint/2010/main" val="3331654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DA18BDD-898D-4D4F-B30E-7698A712DCBB}" type="slidenum">
              <a:rPr lang="en-US"/>
              <a:pPr>
                <a:defRPr/>
              </a:pPr>
              <a:t>‹#›</a:t>
            </a:fld>
            <a:endParaRPr lang="en-US"/>
          </a:p>
        </p:txBody>
      </p:sp>
    </p:spTree>
    <p:extLst>
      <p:ext uri="{BB962C8B-B14F-4D97-AF65-F5344CB8AC3E}">
        <p14:creationId xmlns:p14="http://schemas.microsoft.com/office/powerpoint/2010/main" val="2896244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30C71E2-37E0-4E4F-901E-654B0DDA98C9}" type="slidenum">
              <a:rPr lang="en-US"/>
              <a:pPr>
                <a:defRPr/>
              </a:pPr>
              <a:t>‹#›</a:t>
            </a:fld>
            <a:endParaRPr lang="en-US"/>
          </a:p>
        </p:txBody>
      </p:sp>
    </p:spTree>
    <p:extLst>
      <p:ext uri="{BB962C8B-B14F-4D97-AF65-F5344CB8AC3E}">
        <p14:creationId xmlns:p14="http://schemas.microsoft.com/office/powerpoint/2010/main" val="2438248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F158408-0932-4C21-B201-EBD1EF1A2169}" type="slidenum">
              <a:rPr lang="en-US"/>
              <a:pPr>
                <a:defRPr/>
              </a:pPr>
              <a:t>‹#›</a:t>
            </a:fld>
            <a:endParaRPr lang="en-US"/>
          </a:p>
        </p:txBody>
      </p:sp>
    </p:spTree>
    <p:extLst>
      <p:ext uri="{BB962C8B-B14F-4D97-AF65-F5344CB8AC3E}">
        <p14:creationId xmlns:p14="http://schemas.microsoft.com/office/powerpoint/2010/main" val="3796726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07DDCAD5-3C59-40AF-A77D-286A3FBF84DF}" type="slidenum">
              <a:rPr lang="en-US"/>
              <a:pPr>
                <a:defRPr/>
              </a:pPr>
              <a:t>‹#›</a:t>
            </a:fld>
            <a:endParaRPr lang="en-US"/>
          </a:p>
        </p:txBody>
      </p:sp>
    </p:spTree>
    <p:extLst>
      <p:ext uri="{BB962C8B-B14F-4D97-AF65-F5344CB8AC3E}">
        <p14:creationId xmlns:p14="http://schemas.microsoft.com/office/powerpoint/2010/main" val="100740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8F14C77-DB76-421E-828D-907CA818DCF3}" type="slidenum">
              <a:rPr lang="en-US"/>
              <a:pPr>
                <a:defRPr/>
              </a:pPr>
              <a:t>‹#›</a:t>
            </a:fld>
            <a:endParaRPr lang="en-US"/>
          </a:p>
        </p:txBody>
      </p:sp>
    </p:spTree>
    <p:extLst>
      <p:ext uri="{BB962C8B-B14F-4D97-AF65-F5344CB8AC3E}">
        <p14:creationId xmlns:p14="http://schemas.microsoft.com/office/powerpoint/2010/main" val="2637208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EFF58D6-45C5-4D09-BB09-5AFAA8747B8D}" type="slidenum">
              <a:rPr lang="en-US"/>
              <a:pPr>
                <a:defRPr/>
              </a:pPr>
              <a:t>‹#›</a:t>
            </a:fld>
            <a:endParaRPr lang="en-US"/>
          </a:p>
        </p:txBody>
      </p:sp>
    </p:spTree>
    <p:extLst>
      <p:ext uri="{BB962C8B-B14F-4D97-AF65-F5344CB8AC3E}">
        <p14:creationId xmlns:p14="http://schemas.microsoft.com/office/powerpoint/2010/main" val="2098854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62B9D19-ED15-4EC0-86CA-7C73BCC6C8F1}" type="slidenum">
              <a:rPr lang="en-US"/>
              <a:pPr>
                <a:defRPr/>
              </a:pPr>
              <a:t>‹#›</a:t>
            </a:fld>
            <a:endParaRPr lang="en-US"/>
          </a:p>
        </p:txBody>
      </p:sp>
    </p:spTree>
    <p:extLst>
      <p:ext uri="{BB962C8B-B14F-4D97-AF65-F5344CB8AC3E}">
        <p14:creationId xmlns:p14="http://schemas.microsoft.com/office/powerpoint/2010/main" val="538613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52400"/>
            <a:ext cx="1943100" cy="5638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152400"/>
            <a:ext cx="5676900"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13BFE40-B535-4875-9184-CCC5C576B5A0}" type="slidenum">
              <a:rPr lang="en-US"/>
              <a:pPr>
                <a:defRPr/>
              </a:pPr>
              <a:t>‹#›</a:t>
            </a:fld>
            <a:endParaRPr lang="en-US"/>
          </a:p>
        </p:txBody>
      </p:sp>
    </p:spTree>
    <p:extLst>
      <p:ext uri="{BB962C8B-B14F-4D97-AF65-F5344CB8AC3E}">
        <p14:creationId xmlns:p14="http://schemas.microsoft.com/office/powerpoint/2010/main" val="3055496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152400"/>
            <a:ext cx="77724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85800" y="16764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764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85800" y="38100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8100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FC7ADEDA-D549-4D45-947A-6438192133FC}" type="slidenum">
              <a:rPr lang="en-US"/>
              <a:pPr>
                <a:defRPr/>
              </a:pPr>
              <a:t>‹#›</a:t>
            </a:fld>
            <a:endParaRPr lang="en-US"/>
          </a:p>
        </p:txBody>
      </p:sp>
    </p:spTree>
    <p:extLst>
      <p:ext uri="{BB962C8B-B14F-4D97-AF65-F5344CB8AC3E}">
        <p14:creationId xmlns:p14="http://schemas.microsoft.com/office/powerpoint/2010/main" val="255864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99"/>
            </a:gs>
            <a:gs pos="100000">
              <a:srgbClr val="000037"/>
            </a:gs>
          </a:gsLst>
          <a:path path="rect">
            <a:fillToRect l="100000" t="100000"/>
          </a:path>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52400"/>
            <a:ext cx="7772400"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D22E32DE-D214-475E-BC58-DA6B6509406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a:solidFill>
            <a:srgbClr val="FF9933"/>
          </a:solidFill>
          <a:latin typeface="+mj-lt"/>
          <a:ea typeface="+mj-ea"/>
          <a:cs typeface="+mj-cs"/>
        </a:defRPr>
      </a:lvl1pPr>
      <a:lvl2pPr algn="ctr" rtl="0" eaLnBrk="0" fontAlgn="base" hangingPunct="0">
        <a:spcBef>
          <a:spcPct val="0"/>
        </a:spcBef>
        <a:spcAft>
          <a:spcPct val="0"/>
        </a:spcAft>
        <a:defRPr sz="3200">
          <a:solidFill>
            <a:srgbClr val="FF9933"/>
          </a:solidFill>
          <a:latin typeface="Arial" charset="0"/>
        </a:defRPr>
      </a:lvl2pPr>
      <a:lvl3pPr algn="ctr" rtl="0" eaLnBrk="0" fontAlgn="base" hangingPunct="0">
        <a:spcBef>
          <a:spcPct val="0"/>
        </a:spcBef>
        <a:spcAft>
          <a:spcPct val="0"/>
        </a:spcAft>
        <a:defRPr sz="3200">
          <a:solidFill>
            <a:srgbClr val="FF9933"/>
          </a:solidFill>
          <a:latin typeface="Arial" charset="0"/>
        </a:defRPr>
      </a:lvl3pPr>
      <a:lvl4pPr algn="ctr" rtl="0" eaLnBrk="0" fontAlgn="base" hangingPunct="0">
        <a:spcBef>
          <a:spcPct val="0"/>
        </a:spcBef>
        <a:spcAft>
          <a:spcPct val="0"/>
        </a:spcAft>
        <a:defRPr sz="3200">
          <a:solidFill>
            <a:srgbClr val="FF9933"/>
          </a:solidFill>
          <a:latin typeface="Arial" charset="0"/>
        </a:defRPr>
      </a:lvl4pPr>
      <a:lvl5pPr algn="ctr" rtl="0" eaLnBrk="0" fontAlgn="base" hangingPunct="0">
        <a:spcBef>
          <a:spcPct val="0"/>
        </a:spcBef>
        <a:spcAft>
          <a:spcPct val="0"/>
        </a:spcAft>
        <a:defRPr sz="3200">
          <a:solidFill>
            <a:srgbClr val="FF9933"/>
          </a:solidFill>
          <a:latin typeface="Arial" charset="0"/>
        </a:defRPr>
      </a:lvl5pPr>
      <a:lvl6pPr marL="457200" algn="ctr" rtl="0" fontAlgn="base">
        <a:spcBef>
          <a:spcPct val="0"/>
        </a:spcBef>
        <a:spcAft>
          <a:spcPct val="0"/>
        </a:spcAft>
        <a:defRPr sz="3200">
          <a:solidFill>
            <a:srgbClr val="FF9933"/>
          </a:solidFill>
          <a:latin typeface="Arial" charset="0"/>
        </a:defRPr>
      </a:lvl6pPr>
      <a:lvl7pPr marL="914400" algn="ctr" rtl="0" fontAlgn="base">
        <a:spcBef>
          <a:spcPct val="0"/>
        </a:spcBef>
        <a:spcAft>
          <a:spcPct val="0"/>
        </a:spcAft>
        <a:defRPr sz="3200">
          <a:solidFill>
            <a:srgbClr val="FF9933"/>
          </a:solidFill>
          <a:latin typeface="Arial" charset="0"/>
        </a:defRPr>
      </a:lvl7pPr>
      <a:lvl8pPr marL="1371600" algn="ctr" rtl="0" fontAlgn="base">
        <a:spcBef>
          <a:spcPct val="0"/>
        </a:spcBef>
        <a:spcAft>
          <a:spcPct val="0"/>
        </a:spcAft>
        <a:defRPr sz="3200">
          <a:solidFill>
            <a:srgbClr val="FF9933"/>
          </a:solidFill>
          <a:latin typeface="Arial" charset="0"/>
        </a:defRPr>
      </a:lvl8pPr>
      <a:lvl9pPr marL="1828800" algn="ctr" rtl="0" fontAlgn="base">
        <a:spcBef>
          <a:spcPct val="0"/>
        </a:spcBef>
        <a:spcAft>
          <a:spcPct val="0"/>
        </a:spcAft>
        <a:defRPr sz="3200">
          <a:solidFill>
            <a:srgbClr val="FF9933"/>
          </a:solidFill>
          <a:latin typeface="Arial" charset="0"/>
        </a:defRPr>
      </a:lvl9pPr>
    </p:titleStyle>
    <p:bodyStyle>
      <a:lvl1pPr marL="342900" indent="-342900" algn="l" rtl="0" eaLnBrk="0" fontAlgn="base" hangingPunct="0">
        <a:spcBef>
          <a:spcPct val="20000"/>
        </a:spcBef>
        <a:spcAft>
          <a:spcPct val="0"/>
        </a:spcAft>
        <a:buChar char="•"/>
        <a:defRPr sz="3200">
          <a:solidFill>
            <a:schemeClr val="bg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har char="•"/>
        <a:defRPr sz="2400">
          <a:solidFill>
            <a:schemeClr val="bg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bg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har char="»"/>
        <a:defRPr sz="2000">
          <a:solidFill>
            <a:schemeClr val="bg1"/>
          </a:solidFill>
          <a:effectLst>
            <a:outerShdw blurRad="38100" dist="38100" dir="2700000" algn="tl">
              <a:srgbClr val="000000"/>
            </a:outerShdw>
          </a:effectLst>
          <a:latin typeface="+mn-lt"/>
        </a:defRPr>
      </a:lvl5pPr>
      <a:lvl6pPr marL="2514600" indent="-228600" algn="l" rtl="0" fontAlgn="base">
        <a:spcBef>
          <a:spcPct val="20000"/>
        </a:spcBef>
        <a:spcAft>
          <a:spcPct val="0"/>
        </a:spcAft>
        <a:buChar char="»"/>
        <a:defRPr sz="2000">
          <a:solidFill>
            <a:schemeClr val="bg1"/>
          </a:solidFill>
          <a:effectLst>
            <a:outerShdw blurRad="38100" dist="38100" dir="2700000" algn="tl">
              <a:srgbClr val="000000"/>
            </a:outerShdw>
          </a:effectLst>
          <a:latin typeface="+mn-lt"/>
        </a:defRPr>
      </a:lvl6pPr>
      <a:lvl7pPr marL="2971800" indent="-228600" algn="l" rtl="0" fontAlgn="base">
        <a:spcBef>
          <a:spcPct val="20000"/>
        </a:spcBef>
        <a:spcAft>
          <a:spcPct val="0"/>
        </a:spcAft>
        <a:buChar char="»"/>
        <a:defRPr sz="2000">
          <a:solidFill>
            <a:schemeClr val="bg1"/>
          </a:solidFill>
          <a:effectLst>
            <a:outerShdw blurRad="38100" dist="38100" dir="2700000" algn="tl">
              <a:srgbClr val="000000"/>
            </a:outerShdw>
          </a:effectLst>
          <a:latin typeface="+mn-lt"/>
        </a:defRPr>
      </a:lvl7pPr>
      <a:lvl8pPr marL="3429000" indent="-228600" algn="l" rtl="0" fontAlgn="base">
        <a:spcBef>
          <a:spcPct val="20000"/>
        </a:spcBef>
        <a:spcAft>
          <a:spcPct val="0"/>
        </a:spcAft>
        <a:buChar char="»"/>
        <a:defRPr sz="2000">
          <a:solidFill>
            <a:schemeClr val="bg1"/>
          </a:solidFill>
          <a:effectLst>
            <a:outerShdw blurRad="38100" dist="38100" dir="2700000" algn="tl">
              <a:srgbClr val="000000"/>
            </a:outerShdw>
          </a:effectLst>
          <a:latin typeface="+mn-lt"/>
        </a:defRPr>
      </a:lvl8pPr>
      <a:lvl9pPr marL="3886200" indent="-228600" algn="l" rtl="0" fontAlgn="base">
        <a:spcBef>
          <a:spcPct val="20000"/>
        </a:spcBef>
        <a:spcAft>
          <a:spcPct val="0"/>
        </a:spcAft>
        <a:buChar char="»"/>
        <a:defRPr sz="2000">
          <a:solidFill>
            <a:schemeClr val="bg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amazon.com/exec/obidos/redirect?link_code=ur2&amp;tag=conceptbakery-20&amp;camp=1789&amp;creative=9325&amp;path=http://www.amazon.com/gp/product/0374292884?v=glance&amp;n=283155"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chema.or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en.wikipedia.org/wiki/Richard_Hort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4.jpe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schema.org/"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3" descr="Copyleft.svg.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581400"/>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057400" y="3352800"/>
            <a:ext cx="6858000" cy="2092325"/>
          </a:xfrm>
          <a:prstGeom prst="rect">
            <a:avLst/>
          </a:prstGeom>
          <a:noFill/>
        </p:spPr>
        <p:txBody>
          <a:bodyPr>
            <a:spAutoFit/>
          </a:bodyPr>
          <a:lstStyle/>
          <a:p>
            <a:pPr>
              <a:defRPr/>
            </a:pPr>
            <a:r>
              <a:rPr lang="en-US" sz="2800" dirty="0">
                <a:solidFill>
                  <a:schemeClr val="bg1"/>
                </a:solidFill>
                <a:effectLst>
                  <a:outerShdw blurRad="38100" dist="38100" dir="2700000" algn="tl">
                    <a:srgbClr val="000000">
                      <a:alpha val="43137"/>
                    </a:srgbClr>
                  </a:outerShdw>
                </a:effectLst>
                <a:latin typeface="+mn-lt"/>
                <a:cs typeface="+mn-cs"/>
              </a:rPr>
              <a:t>Copyleft by C. Michael Gibson, M.S., M.D.</a:t>
            </a:r>
          </a:p>
          <a:p>
            <a:pPr>
              <a:defRPr/>
            </a:pPr>
            <a:endParaRPr lang="en-US" dirty="0">
              <a:solidFill>
                <a:schemeClr val="bg1"/>
              </a:solidFill>
              <a:effectLst>
                <a:outerShdw blurRad="38100" dist="38100" dir="2700000" algn="tl">
                  <a:srgbClr val="000000">
                    <a:alpha val="43137"/>
                  </a:srgbClr>
                </a:outerShdw>
              </a:effectLst>
              <a:latin typeface="+mn-lt"/>
              <a:cs typeface="+mn-cs"/>
            </a:endParaRPr>
          </a:p>
          <a:p>
            <a:pPr>
              <a:defRPr/>
            </a:pPr>
            <a:r>
              <a:rPr lang="en-US" sz="2000" dirty="0">
                <a:solidFill>
                  <a:schemeClr val="bg1"/>
                </a:solidFill>
                <a:effectLst>
                  <a:outerShdw blurRad="38100" dist="38100" dir="2700000" algn="tl">
                    <a:srgbClr val="000000">
                      <a:alpha val="43137"/>
                    </a:srgbClr>
                  </a:outerShdw>
                </a:effectLst>
                <a:latin typeface="+mn-lt"/>
                <a:cs typeface="+mn-cs"/>
              </a:rPr>
              <a:t>This material is free for anyone to copy, modify for their own purposes, and redistribute or use as they see fit, as long as the new version grants the same freedoms to others and acknowledges my original work.</a:t>
            </a:r>
            <a:endParaRPr lang="en-US" dirty="0">
              <a:solidFill>
                <a:schemeClr val="bg1"/>
              </a:solidFill>
              <a:effectLst>
                <a:outerShdw blurRad="38100" dist="38100" dir="2700000" algn="tl">
                  <a:srgbClr val="000000">
                    <a:alpha val="43137"/>
                  </a:srgbClr>
                </a:outerShdw>
              </a:effectLst>
              <a:latin typeface="+mn-lt"/>
              <a:cs typeface="+mn-cs"/>
            </a:endParaRPr>
          </a:p>
        </p:txBody>
      </p:sp>
      <p:grpSp>
        <p:nvGrpSpPr>
          <p:cNvPr id="2052" name="Group 8"/>
          <p:cNvGrpSpPr>
            <a:grpSpLocks/>
          </p:cNvGrpSpPr>
          <p:nvPr/>
        </p:nvGrpSpPr>
        <p:grpSpPr bwMode="auto">
          <a:xfrm>
            <a:off x="76200" y="6461125"/>
            <a:ext cx="2736850" cy="369888"/>
            <a:chOff x="76200" y="6461774"/>
            <a:chExt cx="2736405" cy="369332"/>
          </a:xfrm>
        </p:grpSpPr>
        <p:pic>
          <p:nvPicPr>
            <p:cNvPr id="2054" name="Picture 9"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2053" name="Title 1"/>
          <p:cNvSpPr txBox="1">
            <a:spLocks/>
          </p:cNvSpPr>
          <p:nvPr/>
        </p:nvSpPr>
        <p:spPr bwMode="auto">
          <a:xfrm>
            <a:off x="0" y="914400"/>
            <a:ext cx="9144000"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Times New Roman" pitchFamily="18" charset="0"/>
                <a:cs typeface="Arial" charset="0"/>
              </a:defRPr>
            </a:lvl1pPr>
            <a:lvl2pPr marL="742950" indent="-285750" eaLnBrk="0" hangingPunct="0">
              <a:defRPr sz="2200">
                <a:solidFill>
                  <a:schemeClr val="tx1"/>
                </a:solidFill>
                <a:latin typeface="Times New Roman" pitchFamily="18" charset="0"/>
                <a:cs typeface="Arial" charset="0"/>
              </a:defRPr>
            </a:lvl2pPr>
            <a:lvl3pPr marL="1143000" indent="-228600" eaLnBrk="0" hangingPunct="0">
              <a:defRPr sz="2200">
                <a:solidFill>
                  <a:schemeClr val="tx1"/>
                </a:solidFill>
                <a:latin typeface="Times New Roman" pitchFamily="18" charset="0"/>
                <a:cs typeface="Arial" charset="0"/>
              </a:defRPr>
            </a:lvl3pPr>
            <a:lvl4pPr marL="1600200" indent="-228600" eaLnBrk="0" hangingPunct="0">
              <a:defRPr sz="2200">
                <a:solidFill>
                  <a:schemeClr val="tx1"/>
                </a:solidFill>
                <a:latin typeface="Times New Roman" pitchFamily="18" charset="0"/>
                <a:cs typeface="Arial" charset="0"/>
              </a:defRPr>
            </a:lvl4pPr>
            <a:lvl5pPr marL="2057400" indent="-228600" eaLnBrk="0" hangingPunct="0">
              <a:defRPr sz="22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2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2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2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200">
                <a:solidFill>
                  <a:schemeClr val="tx1"/>
                </a:solidFill>
                <a:latin typeface="Times New Roman" pitchFamily="18" charset="0"/>
                <a:cs typeface="Arial" charset="0"/>
              </a:defRPr>
            </a:lvl9pPr>
          </a:lstStyle>
          <a:p>
            <a:pPr algn="ctr"/>
            <a:r>
              <a:rPr lang="en-US" sz="3200">
                <a:solidFill>
                  <a:srgbClr val="FF9933"/>
                </a:solidFill>
                <a:latin typeface="Arial" charset="0"/>
              </a:rPr>
              <a:t>The “World May Be Flat”, But </a:t>
            </a:r>
            <a:br>
              <a:rPr lang="en-US" sz="3200">
                <a:solidFill>
                  <a:srgbClr val="FF9933"/>
                </a:solidFill>
                <a:latin typeface="Arial" charset="0"/>
              </a:rPr>
            </a:br>
            <a:r>
              <a:rPr lang="en-US" sz="3200">
                <a:solidFill>
                  <a:srgbClr val="FF9933"/>
                </a:solidFill>
                <a:latin typeface="Arial" charset="0"/>
              </a:rPr>
              <a:t>“The Earth is Round”</a:t>
            </a:r>
          </a:p>
        </p:txBody>
      </p:sp>
      <p:sp>
        <p:nvSpPr>
          <p:cNvPr id="2" name="TextBox 1"/>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4" name="Line 4"/>
          <p:cNvSpPr>
            <a:spLocks noChangeShapeType="1"/>
          </p:cNvSpPr>
          <p:nvPr/>
        </p:nvSpPr>
        <p:spPr bwMode="auto">
          <a:xfrm>
            <a:off x="1752600" y="1295400"/>
            <a:ext cx="0" cy="4191000"/>
          </a:xfrm>
          <a:prstGeom prst="line">
            <a:avLst/>
          </a:prstGeom>
          <a:noFill/>
          <a:ln w="57150">
            <a:solidFill>
              <a:schemeClr val="bg1"/>
            </a:solidFill>
            <a:round/>
            <a:headEnd/>
            <a:tailEnd/>
          </a:ln>
          <a:effectLst>
            <a:outerShdw dist="35921" dir="2700000" algn="ctr" rotWithShape="0">
              <a:schemeClr val="tx1"/>
            </a:outerShdw>
          </a:effectLst>
        </p:spPr>
        <p:txBody>
          <a:bodyPr/>
          <a:lstStyle/>
          <a:p>
            <a:pPr>
              <a:defRPr/>
            </a:pPr>
            <a:endParaRPr lang="en-US">
              <a:cs typeface="+mn-cs"/>
            </a:endParaRPr>
          </a:p>
        </p:txBody>
      </p:sp>
      <p:sp>
        <p:nvSpPr>
          <p:cNvPr id="204805" name="Line 5"/>
          <p:cNvSpPr>
            <a:spLocks noChangeShapeType="1"/>
          </p:cNvSpPr>
          <p:nvPr/>
        </p:nvSpPr>
        <p:spPr bwMode="auto">
          <a:xfrm>
            <a:off x="3962400" y="5486400"/>
            <a:ext cx="3886200" cy="0"/>
          </a:xfrm>
          <a:prstGeom prst="line">
            <a:avLst/>
          </a:prstGeom>
          <a:noFill/>
          <a:ln w="57150">
            <a:solidFill>
              <a:schemeClr val="bg1"/>
            </a:solidFill>
            <a:round/>
            <a:headEnd/>
            <a:tailEnd/>
          </a:ln>
          <a:effectLst>
            <a:outerShdw dist="35921" dir="2700000" algn="ctr" rotWithShape="0">
              <a:schemeClr val="tx1"/>
            </a:outerShdw>
          </a:effectLst>
        </p:spPr>
        <p:txBody>
          <a:bodyPr/>
          <a:lstStyle/>
          <a:p>
            <a:pPr>
              <a:defRPr/>
            </a:pPr>
            <a:endParaRPr lang="en-US">
              <a:cs typeface="+mn-cs"/>
            </a:endParaRPr>
          </a:p>
        </p:txBody>
      </p:sp>
      <p:pic>
        <p:nvPicPr>
          <p:cNvPr id="3076" name="Picture 6" descr="The World is Flat">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323975"/>
            <a:ext cx="1905000"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AutoShape 8"/>
          <p:cNvSpPr>
            <a:spLocks noChangeArrowheads="1"/>
          </p:cNvSpPr>
          <p:nvPr/>
        </p:nvSpPr>
        <p:spPr bwMode="auto">
          <a:xfrm>
            <a:off x="2286000" y="2971800"/>
            <a:ext cx="1828800" cy="18288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6600"/>
          </a:solidFill>
          <a:ln w="9525">
            <a:solidFill>
              <a:srgbClr val="FF9966"/>
            </a:solidFill>
            <a:miter lim="800000"/>
            <a:headEnd/>
            <a:tailEnd/>
          </a:ln>
        </p:spPr>
        <p:txBody>
          <a:bodyPr wrap="none" anchor="ctr"/>
          <a:lstStyle/>
          <a:p>
            <a:endParaRPr lang="en-US"/>
          </a:p>
        </p:txBody>
      </p:sp>
      <p:grpSp>
        <p:nvGrpSpPr>
          <p:cNvPr id="3078" name="Group 5"/>
          <p:cNvGrpSpPr>
            <a:grpSpLocks/>
          </p:cNvGrpSpPr>
          <p:nvPr/>
        </p:nvGrpSpPr>
        <p:grpSpPr bwMode="auto">
          <a:xfrm>
            <a:off x="76200" y="6461125"/>
            <a:ext cx="2736850" cy="369888"/>
            <a:chOff x="76200" y="6461774"/>
            <a:chExt cx="2736405" cy="369332"/>
          </a:xfrm>
        </p:grpSpPr>
        <p:pic>
          <p:nvPicPr>
            <p:cNvPr id="3079" name="Picture 6" descr="Copyleft.svg.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9" name="TextBox 8"/>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smtClean="0"/>
              <a:t>The “World May Be Flat”, But </a:t>
            </a:r>
            <a:br>
              <a:rPr lang="en-US" dirty="0" smtClean="0"/>
            </a:br>
            <a:r>
              <a:rPr lang="en-US" dirty="0" smtClean="0"/>
              <a:t>“The Earth is Round”</a:t>
            </a:r>
            <a:endParaRPr lang="en-US" dirty="0"/>
          </a:p>
        </p:txBody>
      </p:sp>
      <p:sp>
        <p:nvSpPr>
          <p:cNvPr id="4101" name="Content Placeholder 2"/>
          <p:cNvSpPr>
            <a:spLocks noGrp="1"/>
          </p:cNvSpPr>
          <p:nvPr>
            <p:ph idx="1"/>
          </p:nvPr>
        </p:nvSpPr>
        <p:spPr>
          <a:xfrm>
            <a:off x="152400" y="1135063"/>
            <a:ext cx="8839200" cy="2438400"/>
          </a:xfrm>
        </p:spPr>
        <p:txBody>
          <a:bodyPr/>
          <a:lstStyle/>
          <a:p>
            <a:r>
              <a:rPr lang="en-US" sz="2200" smtClean="0">
                <a:effectLst/>
              </a:rPr>
              <a:t>One of the tenets of Friedman's "The World is Flat" is that Innovation increases as open access to information increases.  </a:t>
            </a:r>
          </a:p>
          <a:p>
            <a:r>
              <a:rPr lang="en-US" sz="2200" smtClean="0">
                <a:effectLst/>
              </a:rPr>
              <a:t>Although the “Wisdom of the Crowd” argued literally that the "World is Flat" several centuries ago, a select number of “Experts" demonstrated the world is in fact round (actually spherical).  </a:t>
            </a:r>
          </a:p>
        </p:txBody>
      </p:sp>
      <p:pic>
        <p:nvPicPr>
          <p:cNvPr id="4102" name="Picture 2" descr="File:Anaximander world map-en.sv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4038600"/>
            <a:ext cx="2438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6" descr="http://4.bp.blogspot.com/_m6r6vWATkho/TLMbr5d62RI/AAAAAAAAAP4/KsAAAOly-kk/s1600/crescent_moon_8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4225925"/>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914400" y="3352800"/>
            <a:ext cx="2884488" cy="769938"/>
          </a:xfrm>
          <a:prstGeom prst="rect">
            <a:avLst/>
          </a:prstGeom>
          <a:noFill/>
        </p:spPr>
        <p:txBody>
          <a:bodyPr wrap="none">
            <a:spAutoFit/>
          </a:bodyPr>
          <a:lstStyle/>
          <a:p>
            <a:pPr algn="ctr">
              <a:defRPr/>
            </a:pPr>
            <a:r>
              <a:rPr lang="en-US" dirty="0">
                <a:solidFill>
                  <a:srgbClr val="FF9933"/>
                </a:solidFill>
                <a:latin typeface="+mn-lt"/>
              </a:rPr>
              <a:t>The World is Flat:</a:t>
            </a:r>
          </a:p>
          <a:p>
            <a:pPr algn="ctr">
              <a:defRPr/>
            </a:pPr>
            <a:r>
              <a:rPr lang="en-US" dirty="0">
                <a:solidFill>
                  <a:srgbClr val="FF9933"/>
                </a:solidFill>
                <a:latin typeface="+mn-lt"/>
              </a:rPr>
              <a:t>Wisdom of the Crowd</a:t>
            </a:r>
          </a:p>
        </p:txBody>
      </p:sp>
      <p:sp>
        <p:nvSpPr>
          <p:cNvPr id="7" name="TextBox 6"/>
          <p:cNvSpPr txBox="1"/>
          <p:nvPr/>
        </p:nvSpPr>
        <p:spPr>
          <a:xfrm>
            <a:off x="5370513" y="3387725"/>
            <a:ext cx="3041650" cy="769938"/>
          </a:xfrm>
          <a:prstGeom prst="rect">
            <a:avLst/>
          </a:prstGeom>
          <a:noFill/>
        </p:spPr>
        <p:txBody>
          <a:bodyPr wrap="none">
            <a:spAutoFit/>
          </a:bodyPr>
          <a:lstStyle/>
          <a:p>
            <a:pPr algn="ctr">
              <a:defRPr/>
            </a:pPr>
            <a:r>
              <a:rPr lang="en-US" dirty="0">
                <a:solidFill>
                  <a:srgbClr val="FF9933"/>
                </a:solidFill>
                <a:latin typeface="+mn-lt"/>
              </a:rPr>
              <a:t>The Earth is Spherical:</a:t>
            </a:r>
          </a:p>
          <a:p>
            <a:pPr algn="ctr">
              <a:defRPr/>
            </a:pPr>
            <a:r>
              <a:rPr lang="en-US" dirty="0">
                <a:solidFill>
                  <a:srgbClr val="FF9933"/>
                </a:solidFill>
                <a:latin typeface="+mn-lt"/>
              </a:rPr>
              <a:t>Expert Opinion</a:t>
            </a:r>
          </a:p>
        </p:txBody>
      </p:sp>
      <p:grpSp>
        <p:nvGrpSpPr>
          <p:cNvPr id="4106" name="Group 3"/>
          <p:cNvGrpSpPr>
            <a:grpSpLocks/>
          </p:cNvGrpSpPr>
          <p:nvPr/>
        </p:nvGrpSpPr>
        <p:grpSpPr bwMode="auto">
          <a:xfrm>
            <a:off x="76200" y="6461125"/>
            <a:ext cx="2736850" cy="369888"/>
            <a:chOff x="76200" y="6461774"/>
            <a:chExt cx="2736405" cy="369332"/>
          </a:xfrm>
        </p:grpSpPr>
        <p:pic>
          <p:nvPicPr>
            <p:cNvPr id="4107" name="Picture 4" descr="Copyleft.svg.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1" name="TextBox 10"/>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smtClean="0"/>
              <a:t>Challenges</a:t>
            </a:r>
            <a:endParaRPr lang="en-US" dirty="0"/>
          </a:p>
        </p:txBody>
      </p:sp>
      <p:sp>
        <p:nvSpPr>
          <p:cNvPr id="3" name="Content Placeholder 2"/>
          <p:cNvSpPr>
            <a:spLocks noGrp="1"/>
          </p:cNvSpPr>
          <p:nvPr>
            <p:ph idx="1"/>
          </p:nvPr>
        </p:nvSpPr>
        <p:spPr>
          <a:xfrm>
            <a:off x="457200" y="1447800"/>
            <a:ext cx="8305800" cy="5029200"/>
          </a:xfrm>
        </p:spPr>
        <p:txBody>
          <a:bodyPr/>
          <a:lstStyle/>
          <a:p>
            <a:pPr>
              <a:defRPr/>
            </a:pPr>
            <a:r>
              <a:rPr lang="en-US" dirty="0">
                <a:effectLst/>
              </a:rPr>
              <a:t>With the vast amount of medical information on the internet, how do we harness the "Wisdom of the Crowds" yet vet it through “Experts”, and drive traffic to credible sites with the most relevant content? </a:t>
            </a:r>
          </a:p>
          <a:p>
            <a:pPr>
              <a:defRPr/>
            </a:pPr>
            <a:r>
              <a:rPr lang="en-US" dirty="0">
                <a:effectLst/>
              </a:rPr>
              <a:t>How can we streamline the process so that greater numbers of individuals and websites can participate in </a:t>
            </a:r>
            <a:r>
              <a:rPr lang="en-US" dirty="0">
                <a:effectLst/>
                <a:hlinkClick r:id="rId2"/>
              </a:rPr>
              <a:t>schema.org</a:t>
            </a:r>
            <a:r>
              <a:rPr lang="en-US" dirty="0" smtClean="0">
                <a:effectLst/>
              </a:rPr>
              <a:t>?</a:t>
            </a:r>
            <a:endParaRPr lang="en-US" dirty="0"/>
          </a:p>
        </p:txBody>
      </p:sp>
      <p:grpSp>
        <p:nvGrpSpPr>
          <p:cNvPr id="5126" name="Group 3"/>
          <p:cNvGrpSpPr>
            <a:grpSpLocks/>
          </p:cNvGrpSpPr>
          <p:nvPr/>
        </p:nvGrpSpPr>
        <p:grpSpPr bwMode="auto">
          <a:xfrm>
            <a:off x="76200" y="6461125"/>
            <a:ext cx="2736850" cy="369888"/>
            <a:chOff x="76200" y="6461774"/>
            <a:chExt cx="2736405" cy="369332"/>
          </a:xfrm>
        </p:grpSpPr>
        <p:pic>
          <p:nvPicPr>
            <p:cNvPr id="5127"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82" name="Text Box 6"/>
          <p:cNvSpPr txBox="1">
            <a:spLocks noChangeArrowheads="1"/>
          </p:cNvSpPr>
          <p:nvPr/>
        </p:nvSpPr>
        <p:spPr bwMode="auto">
          <a:xfrm>
            <a:off x="609600" y="2286000"/>
            <a:ext cx="3429000" cy="3416300"/>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en-US" sz="2400" dirty="0">
                <a:solidFill>
                  <a:schemeClr val="bg1"/>
                </a:solidFill>
                <a:latin typeface="Arial" charset="0"/>
                <a:cs typeface="+mn-cs"/>
              </a:rPr>
              <a:t>Symbol: The silo</a:t>
            </a:r>
          </a:p>
          <a:p>
            <a:pPr>
              <a:defRPr/>
            </a:pPr>
            <a:endParaRPr lang="en-US" sz="2400" dirty="0">
              <a:solidFill>
                <a:schemeClr val="bg1"/>
              </a:solidFill>
              <a:latin typeface="Arial" charset="0"/>
              <a:cs typeface="+mn-cs"/>
            </a:endParaRPr>
          </a:p>
          <a:p>
            <a:pPr>
              <a:defRPr/>
            </a:pPr>
            <a:r>
              <a:rPr lang="en-US" sz="2400" dirty="0">
                <a:solidFill>
                  <a:schemeClr val="bg1"/>
                </a:solidFill>
                <a:latin typeface="Arial" charset="0"/>
                <a:cs typeface="+mn-cs"/>
              </a:rPr>
              <a:t>Organization: Vertical</a:t>
            </a:r>
          </a:p>
          <a:p>
            <a:pPr>
              <a:defRPr/>
            </a:pPr>
            <a:endParaRPr lang="en-US" sz="2400" dirty="0">
              <a:solidFill>
                <a:schemeClr val="bg1"/>
              </a:solidFill>
              <a:latin typeface="Arial" charset="0"/>
              <a:cs typeface="+mn-cs"/>
            </a:endParaRPr>
          </a:p>
          <a:p>
            <a:pPr>
              <a:defRPr/>
            </a:pPr>
            <a:r>
              <a:rPr lang="en-US" sz="2400" dirty="0">
                <a:solidFill>
                  <a:schemeClr val="bg1"/>
                </a:solidFill>
                <a:latin typeface="Arial" charset="0"/>
                <a:cs typeface="+mn-cs"/>
              </a:rPr>
              <a:t>“Command and Control”</a:t>
            </a:r>
          </a:p>
          <a:p>
            <a:pPr>
              <a:defRPr/>
            </a:pPr>
            <a:endParaRPr lang="en-US" sz="2400" dirty="0">
              <a:solidFill>
                <a:schemeClr val="bg1"/>
              </a:solidFill>
              <a:latin typeface="Arial" charset="0"/>
              <a:cs typeface="+mn-cs"/>
            </a:endParaRPr>
          </a:p>
          <a:p>
            <a:pPr>
              <a:defRPr/>
            </a:pPr>
            <a:endParaRPr lang="en-US" sz="2400" dirty="0">
              <a:solidFill>
                <a:schemeClr val="bg1"/>
              </a:solidFill>
              <a:latin typeface="Arial" charset="0"/>
              <a:cs typeface="+mn-cs"/>
            </a:endParaRPr>
          </a:p>
          <a:p>
            <a:pPr>
              <a:defRPr/>
            </a:pPr>
            <a:r>
              <a:rPr lang="en-US" sz="2400" dirty="0">
                <a:solidFill>
                  <a:schemeClr val="bg1"/>
                </a:solidFill>
                <a:latin typeface="Arial" charset="0"/>
                <a:cs typeface="+mn-cs"/>
              </a:rPr>
              <a:t>The corner office</a:t>
            </a:r>
          </a:p>
        </p:txBody>
      </p:sp>
      <p:sp>
        <p:nvSpPr>
          <p:cNvPr id="203783" name="Text Box 7"/>
          <p:cNvSpPr txBox="1">
            <a:spLocks noChangeArrowheads="1"/>
          </p:cNvSpPr>
          <p:nvPr/>
        </p:nvSpPr>
        <p:spPr bwMode="auto">
          <a:xfrm>
            <a:off x="4495800" y="2286000"/>
            <a:ext cx="4419600" cy="3416300"/>
          </a:xfrm>
          <a:prstGeom prst="rect">
            <a:avLst/>
          </a:prstGeom>
          <a:noFill/>
          <a:ln w="9525">
            <a:noFill/>
            <a:miter lim="800000"/>
            <a:headEnd/>
            <a:tailEnd/>
          </a:ln>
          <a:effectLst/>
        </p:spPr>
        <p:txBody>
          <a:bodyPr>
            <a:spAutoFit/>
          </a:bodyPr>
          <a:lstStyle/>
          <a:p>
            <a:pPr>
              <a:defRPr/>
            </a:pPr>
            <a:r>
              <a:rPr lang="en-US" sz="2400" dirty="0">
                <a:solidFill>
                  <a:schemeClr val="bg1"/>
                </a:solidFill>
                <a:effectLst>
                  <a:outerShdw blurRad="38100" dist="38100" dir="2700000" algn="tl">
                    <a:srgbClr val="000000">
                      <a:alpha val="43137"/>
                    </a:srgbClr>
                  </a:outerShdw>
                </a:effectLst>
                <a:latin typeface="Arial" charset="0"/>
                <a:cs typeface="+mn-cs"/>
              </a:rPr>
              <a:t>Symbol: The Globe</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Organization: Horizontal</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a:t>
            </a:r>
            <a:r>
              <a:rPr lang="en-US" sz="2400" dirty="0" err="1">
                <a:solidFill>
                  <a:schemeClr val="bg1"/>
                </a:solidFill>
                <a:effectLst>
                  <a:outerShdw blurRad="38100" dist="38100" dir="2700000" algn="tl">
                    <a:srgbClr val="000000">
                      <a:alpha val="43137"/>
                    </a:srgbClr>
                  </a:outerShdw>
                </a:effectLst>
                <a:latin typeface="Arial" charset="0"/>
                <a:cs typeface="+mn-cs"/>
              </a:rPr>
              <a:t>Cocreation</a:t>
            </a:r>
            <a:r>
              <a:rPr lang="en-US" sz="2400" dirty="0">
                <a:solidFill>
                  <a:schemeClr val="bg1"/>
                </a:solidFill>
                <a:effectLst>
                  <a:outerShdw blurRad="38100" dist="38100" dir="2700000" algn="tl">
                    <a:srgbClr val="000000">
                      <a:alpha val="43137"/>
                    </a:srgbClr>
                  </a:outerShdw>
                </a:effectLst>
                <a:latin typeface="Arial" charset="0"/>
                <a:cs typeface="+mn-cs"/>
              </a:rPr>
              <a:t>” “Collective genius” “Peering” “Online collectivism”</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Cubicles at Google</a:t>
            </a:r>
          </a:p>
        </p:txBody>
      </p:sp>
      <p:sp>
        <p:nvSpPr>
          <p:cNvPr id="203784" name="Text Box 8"/>
          <p:cNvSpPr txBox="1">
            <a:spLocks noChangeArrowheads="1"/>
          </p:cNvSpPr>
          <p:nvPr/>
        </p:nvSpPr>
        <p:spPr bwMode="auto">
          <a:xfrm>
            <a:off x="609600" y="1676400"/>
            <a:ext cx="1636713" cy="457200"/>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Old World</a:t>
            </a:r>
          </a:p>
        </p:txBody>
      </p:sp>
      <p:sp>
        <p:nvSpPr>
          <p:cNvPr id="203785" name="Text Box 9"/>
          <p:cNvSpPr txBox="1">
            <a:spLocks noChangeArrowheads="1"/>
          </p:cNvSpPr>
          <p:nvPr/>
        </p:nvSpPr>
        <p:spPr bwMode="auto">
          <a:xfrm>
            <a:off x="4495800" y="1676400"/>
            <a:ext cx="1757363" cy="457200"/>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New World</a:t>
            </a:r>
          </a:p>
        </p:txBody>
      </p:sp>
      <p:sp>
        <p:nvSpPr>
          <p:cNvPr id="7" name="Title 1"/>
          <p:cNvSpPr>
            <a:spLocks noGrp="1"/>
          </p:cNvSpPr>
          <p:nvPr>
            <p:ph type="title"/>
          </p:nvPr>
        </p:nvSpPr>
        <p:spPr>
          <a:ln>
            <a:miter lim="800000"/>
            <a:headEnd/>
            <a:tailEnd/>
          </a:ln>
          <a:extLst/>
        </p:spPr>
        <p:txBody>
          <a:bodyPr/>
          <a:lstStyle/>
          <a:p>
            <a:pPr>
              <a:defRPr/>
            </a:pPr>
            <a:r>
              <a:rPr lang="en-US" dirty="0" smtClean="0"/>
              <a:t>Old World vs New World: Organizations</a:t>
            </a:r>
            <a:endParaRPr lang="en-US" dirty="0"/>
          </a:p>
        </p:txBody>
      </p:sp>
      <p:grpSp>
        <p:nvGrpSpPr>
          <p:cNvPr id="6153" name="Group 7"/>
          <p:cNvGrpSpPr>
            <a:grpSpLocks/>
          </p:cNvGrpSpPr>
          <p:nvPr/>
        </p:nvGrpSpPr>
        <p:grpSpPr bwMode="auto">
          <a:xfrm>
            <a:off x="76200" y="6461125"/>
            <a:ext cx="2736850" cy="369888"/>
            <a:chOff x="76200" y="6461774"/>
            <a:chExt cx="2736405" cy="369332"/>
          </a:xfrm>
        </p:grpSpPr>
        <p:pic>
          <p:nvPicPr>
            <p:cNvPr id="6154" name="Picture 8"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1" name="TextBox 10"/>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4" name="Text Box 4"/>
          <p:cNvSpPr txBox="1">
            <a:spLocks noChangeArrowheads="1"/>
          </p:cNvSpPr>
          <p:nvPr/>
        </p:nvSpPr>
        <p:spPr bwMode="auto">
          <a:xfrm>
            <a:off x="609600" y="2286000"/>
            <a:ext cx="3733800" cy="3786188"/>
          </a:xfrm>
          <a:prstGeom prst="rect">
            <a:avLst/>
          </a:prstGeom>
          <a:noFill/>
          <a:ln w="9525">
            <a:noFill/>
            <a:miter lim="800000"/>
            <a:headEnd/>
            <a:tailEnd/>
          </a:ln>
          <a:effectLst/>
        </p:spPr>
        <p:txBody>
          <a:bodyPr>
            <a:spAutoFit/>
          </a:bodyPr>
          <a:lstStyle/>
          <a:p>
            <a:pPr>
              <a:defRPr/>
            </a:pPr>
            <a:r>
              <a:rPr lang="en-US" sz="2400">
                <a:solidFill>
                  <a:schemeClr val="bg1"/>
                </a:solidFill>
                <a:effectLst>
                  <a:outerShdw blurRad="38100" dist="38100" dir="2700000" algn="tl">
                    <a:srgbClr val="000000">
                      <a:alpha val="43137"/>
                    </a:srgbClr>
                  </a:outerShdw>
                </a:effectLst>
                <a:latin typeface="Arial" charset="0"/>
                <a:cs typeface="+mn-cs"/>
              </a:rPr>
              <a:t>Insular and Secretive</a:t>
            </a:r>
          </a:p>
          <a:p>
            <a:pPr>
              <a:defRPr/>
            </a:pPr>
            <a:endParaRPr lang="en-US" sz="2400">
              <a:solidFill>
                <a:schemeClr val="bg1"/>
              </a:solidFill>
              <a:effectLst>
                <a:outerShdw blurRad="38100" dist="38100" dir="2700000" algn="tl">
                  <a:srgbClr val="000000">
                    <a:alpha val="43137"/>
                  </a:srgbClr>
                </a:outerShdw>
              </a:effectLst>
              <a:latin typeface="Arial" charset="0"/>
              <a:cs typeface="+mn-cs"/>
            </a:endParaRPr>
          </a:p>
          <a:p>
            <a:pPr>
              <a:defRPr/>
            </a:pPr>
            <a:r>
              <a:rPr lang="en-US" sz="2400">
                <a:solidFill>
                  <a:schemeClr val="bg1"/>
                </a:solidFill>
                <a:effectLst>
                  <a:outerShdw blurRad="38100" dist="38100" dir="2700000" algn="tl">
                    <a:srgbClr val="000000">
                      <a:alpha val="43137"/>
                    </a:srgbClr>
                  </a:outerShdw>
                </a:effectLst>
                <a:latin typeface="Arial" charset="0"/>
                <a:cs typeface="+mn-cs"/>
              </a:rPr>
              <a:t>Innovate from within</a:t>
            </a:r>
          </a:p>
          <a:p>
            <a:pPr>
              <a:defRPr/>
            </a:pPr>
            <a:endParaRPr lang="en-US" sz="2400">
              <a:solidFill>
                <a:schemeClr val="bg1"/>
              </a:solidFill>
              <a:effectLst>
                <a:outerShdw blurRad="38100" dist="38100" dir="2700000" algn="tl">
                  <a:srgbClr val="000000">
                    <a:alpha val="43137"/>
                  </a:srgbClr>
                </a:outerShdw>
              </a:effectLst>
              <a:latin typeface="Arial" charset="0"/>
              <a:cs typeface="+mn-cs"/>
            </a:endParaRPr>
          </a:p>
          <a:p>
            <a:pPr>
              <a:defRPr/>
            </a:pPr>
            <a:r>
              <a:rPr lang="en-US" sz="2400">
                <a:solidFill>
                  <a:schemeClr val="bg1"/>
                </a:solidFill>
                <a:effectLst>
                  <a:outerShdw blurRad="38100" dist="38100" dir="2700000" algn="tl">
                    <a:srgbClr val="000000">
                      <a:alpha val="43137"/>
                    </a:srgbClr>
                  </a:outerShdw>
                </a:effectLst>
                <a:latin typeface="Arial" charset="0"/>
                <a:cs typeface="+mn-cs"/>
              </a:rPr>
              <a:t>Knowledge flowed only to those at the top</a:t>
            </a:r>
          </a:p>
          <a:p>
            <a:pPr>
              <a:defRPr/>
            </a:pPr>
            <a:endParaRPr lang="en-US" sz="2400">
              <a:solidFill>
                <a:schemeClr val="bg1"/>
              </a:solidFill>
              <a:effectLst>
                <a:outerShdw blurRad="38100" dist="38100" dir="2700000" algn="tl">
                  <a:srgbClr val="000000">
                    <a:alpha val="43137"/>
                  </a:srgbClr>
                </a:outerShdw>
              </a:effectLst>
              <a:latin typeface="Arial" charset="0"/>
              <a:cs typeface="+mn-cs"/>
            </a:endParaRPr>
          </a:p>
          <a:p>
            <a:pPr>
              <a:defRPr/>
            </a:pPr>
            <a:r>
              <a:rPr lang="en-US" sz="2400">
                <a:solidFill>
                  <a:schemeClr val="bg1"/>
                </a:solidFill>
                <a:effectLst>
                  <a:outerShdw blurRad="38100" dist="38100" dir="2700000" algn="tl">
                    <a:srgbClr val="000000">
                      <a:alpha val="43137"/>
                    </a:srgbClr>
                  </a:outerShdw>
                </a:effectLst>
                <a:latin typeface="Arial" charset="0"/>
                <a:cs typeface="+mn-cs"/>
              </a:rPr>
              <a:t>Medium: Paper</a:t>
            </a:r>
          </a:p>
          <a:p>
            <a:pPr>
              <a:defRPr/>
            </a:pPr>
            <a:endParaRPr lang="en-US" sz="2400">
              <a:solidFill>
                <a:schemeClr val="bg1"/>
              </a:solidFill>
              <a:effectLst>
                <a:outerShdw blurRad="38100" dist="38100" dir="2700000" algn="tl">
                  <a:srgbClr val="000000">
                    <a:alpha val="43137"/>
                  </a:srgbClr>
                </a:outerShdw>
              </a:effectLst>
              <a:latin typeface="Arial" charset="0"/>
              <a:cs typeface="+mn-cs"/>
            </a:endParaRPr>
          </a:p>
          <a:p>
            <a:pPr>
              <a:defRPr/>
            </a:pPr>
            <a:r>
              <a:rPr lang="en-US" sz="2400">
                <a:solidFill>
                  <a:schemeClr val="bg1"/>
                </a:solidFill>
                <a:effectLst>
                  <a:outerShdw blurRad="38100" dist="38100" dir="2700000" algn="tl">
                    <a:srgbClr val="000000">
                      <a:alpha val="43137"/>
                    </a:srgbClr>
                  </a:outerShdw>
                </a:effectLst>
                <a:latin typeface="Arial" charset="0"/>
                <a:cs typeface="+mn-cs"/>
              </a:rPr>
              <a:t>Copyright</a:t>
            </a:r>
          </a:p>
        </p:txBody>
      </p:sp>
      <p:sp>
        <p:nvSpPr>
          <p:cNvPr id="209925" name="Text Box 5"/>
          <p:cNvSpPr txBox="1">
            <a:spLocks noChangeArrowheads="1"/>
          </p:cNvSpPr>
          <p:nvPr/>
        </p:nvSpPr>
        <p:spPr bwMode="auto">
          <a:xfrm>
            <a:off x="4876800" y="2286000"/>
            <a:ext cx="4038600" cy="3786188"/>
          </a:xfrm>
          <a:prstGeom prst="rect">
            <a:avLst/>
          </a:prstGeom>
          <a:noFill/>
          <a:ln w="9525">
            <a:noFill/>
            <a:miter lim="800000"/>
            <a:headEnd/>
            <a:tailEnd/>
          </a:ln>
          <a:effectLst/>
        </p:spPr>
        <p:txBody>
          <a:bodyPr>
            <a:spAutoFit/>
          </a:bodyPr>
          <a:lstStyle/>
          <a:p>
            <a:pPr>
              <a:defRPr/>
            </a:pPr>
            <a:r>
              <a:rPr lang="en-US" sz="2400" dirty="0">
                <a:solidFill>
                  <a:schemeClr val="bg1"/>
                </a:solidFill>
                <a:effectLst>
                  <a:outerShdw blurRad="38100" dist="38100" dir="2700000" algn="tl">
                    <a:srgbClr val="000000">
                      <a:alpha val="43137"/>
                    </a:srgbClr>
                  </a:outerShdw>
                </a:effectLst>
                <a:latin typeface="Arial" charset="0"/>
                <a:cs typeface="+mn-cs"/>
              </a:rPr>
              <a:t>Open Source</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Innovate from without</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Knowledge flows to and from all</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Medium: Internet</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Copyleft</a:t>
            </a:r>
          </a:p>
        </p:txBody>
      </p:sp>
      <p:sp>
        <p:nvSpPr>
          <p:cNvPr id="209926" name="Text Box 6"/>
          <p:cNvSpPr txBox="1">
            <a:spLocks noChangeArrowheads="1"/>
          </p:cNvSpPr>
          <p:nvPr/>
        </p:nvSpPr>
        <p:spPr bwMode="auto">
          <a:xfrm>
            <a:off x="609600" y="1676400"/>
            <a:ext cx="1636713" cy="457200"/>
          </a:xfrm>
          <a:prstGeom prst="rect">
            <a:avLst/>
          </a:prstGeom>
          <a:noFill/>
          <a:ln w="9525">
            <a:noFill/>
            <a:miter lim="800000"/>
            <a:headEnd/>
            <a:tailEnd/>
          </a:ln>
          <a:effectLst/>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Old World</a:t>
            </a:r>
          </a:p>
        </p:txBody>
      </p:sp>
      <p:sp>
        <p:nvSpPr>
          <p:cNvPr id="209927" name="Text Box 7"/>
          <p:cNvSpPr txBox="1">
            <a:spLocks noChangeArrowheads="1"/>
          </p:cNvSpPr>
          <p:nvPr/>
        </p:nvSpPr>
        <p:spPr bwMode="auto">
          <a:xfrm>
            <a:off x="4872038" y="1676400"/>
            <a:ext cx="1757362" cy="457200"/>
          </a:xfrm>
          <a:prstGeom prst="rect">
            <a:avLst/>
          </a:prstGeom>
          <a:noFill/>
          <a:ln w="9525">
            <a:noFill/>
            <a:miter lim="800000"/>
            <a:headEnd/>
            <a:tailEnd/>
          </a:ln>
          <a:effectLst/>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New World</a:t>
            </a:r>
          </a:p>
        </p:txBody>
      </p:sp>
      <p:sp>
        <p:nvSpPr>
          <p:cNvPr id="7" name="Title 1"/>
          <p:cNvSpPr>
            <a:spLocks noGrp="1"/>
          </p:cNvSpPr>
          <p:nvPr>
            <p:ph type="title"/>
          </p:nvPr>
        </p:nvSpPr>
        <p:spPr>
          <a:ln>
            <a:miter lim="800000"/>
            <a:headEnd/>
            <a:tailEnd/>
          </a:ln>
          <a:extLst/>
        </p:spPr>
        <p:txBody>
          <a:bodyPr/>
          <a:lstStyle/>
          <a:p>
            <a:pPr>
              <a:defRPr/>
            </a:pPr>
            <a:r>
              <a:rPr lang="en-US" dirty="0" smtClean="0"/>
              <a:t>Old World vs New World: Information Flow</a:t>
            </a:r>
            <a:endParaRPr lang="en-US" dirty="0"/>
          </a:p>
        </p:txBody>
      </p:sp>
      <p:grpSp>
        <p:nvGrpSpPr>
          <p:cNvPr id="7177" name="Group 7"/>
          <p:cNvGrpSpPr>
            <a:grpSpLocks/>
          </p:cNvGrpSpPr>
          <p:nvPr/>
        </p:nvGrpSpPr>
        <p:grpSpPr bwMode="auto">
          <a:xfrm>
            <a:off x="76200" y="6461125"/>
            <a:ext cx="2736850" cy="369888"/>
            <a:chOff x="76200" y="6461774"/>
            <a:chExt cx="2736405" cy="369332"/>
          </a:xfrm>
        </p:grpSpPr>
        <p:pic>
          <p:nvPicPr>
            <p:cNvPr id="7178" name="Picture 8"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1" name="TextBox 10"/>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6" name="Text Box 4"/>
          <p:cNvSpPr txBox="1">
            <a:spLocks noChangeArrowheads="1"/>
          </p:cNvSpPr>
          <p:nvPr/>
        </p:nvSpPr>
        <p:spPr bwMode="auto">
          <a:xfrm>
            <a:off x="609600" y="1876425"/>
            <a:ext cx="3429000" cy="831850"/>
          </a:xfrm>
          <a:prstGeom prst="rect">
            <a:avLst/>
          </a:prstGeom>
          <a:noFill/>
          <a:ln w="9525">
            <a:noFill/>
            <a:miter lim="800000"/>
            <a:headEnd/>
            <a:tailEnd/>
          </a:ln>
          <a:effectLst/>
        </p:spPr>
        <p:txBody>
          <a:bodyPr>
            <a:spAutoFit/>
          </a:bodyPr>
          <a:lstStyle/>
          <a:p>
            <a:pPr>
              <a:defRPr/>
            </a:pPr>
            <a:r>
              <a:rPr lang="en-US" sz="2400" dirty="0">
                <a:solidFill>
                  <a:schemeClr val="bg1"/>
                </a:solidFill>
                <a:effectLst>
                  <a:outerShdw blurRad="38100" dist="38100" dir="2700000" algn="tl">
                    <a:srgbClr val="000000">
                      <a:alpha val="43137"/>
                    </a:srgbClr>
                  </a:outerShdw>
                </a:effectLst>
                <a:latin typeface="Arial" charset="0"/>
                <a:cs typeface="+mn-cs"/>
              </a:rPr>
              <a:t>Expensive Weapons of Mass Destruction</a:t>
            </a:r>
          </a:p>
        </p:txBody>
      </p:sp>
      <p:sp>
        <p:nvSpPr>
          <p:cNvPr id="207877" name="Text Box 5"/>
          <p:cNvSpPr txBox="1">
            <a:spLocks noChangeArrowheads="1"/>
          </p:cNvSpPr>
          <p:nvPr/>
        </p:nvSpPr>
        <p:spPr bwMode="auto">
          <a:xfrm>
            <a:off x="4495800" y="1905000"/>
            <a:ext cx="3429000" cy="830263"/>
          </a:xfrm>
          <a:prstGeom prst="rect">
            <a:avLst/>
          </a:prstGeom>
          <a:noFill/>
          <a:ln w="9525">
            <a:noFill/>
            <a:miter lim="800000"/>
            <a:headEnd/>
            <a:tailEnd/>
          </a:ln>
          <a:effectLst/>
        </p:spPr>
        <p:txBody>
          <a:bodyPr>
            <a:spAutoFit/>
          </a:bodyPr>
          <a:lstStyle/>
          <a:p>
            <a:pPr>
              <a:defRPr/>
            </a:pPr>
            <a:r>
              <a:rPr lang="en-US" sz="2400" dirty="0">
                <a:solidFill>
                  <a:schemeClr val="bg1"/>
                </a:solidFill>
                <a:effectLst>
                  <a:outerShdw blurRad="38100" dist="38100" dir="2700000" algn="tl">
                    <a:srgbClr val="000000">
                      <a:alpha val="43137"/>
                    </a:srgbClr>
                  </a:outerShdw>
                </a:effectLst>
                <a:latin typeface="Arial" charset="0"/>
                <a:cs typeface="+mn-cs"/>
              </a:rPr>
              <a:t>Inexpensive Weapons of Mass Collaboration</a:t>
            </a:r>
          </a:p>
        </p:txBody>
      </p:sp>
      <p:sp>
        <p:nvSpPr>
          <p:cNvPr id="207878" name="Text Box 6"/>
          <p:cNvSpPr txBox="1">
            <a:spLocks noChangeArrowheads="1"/>
          </p:cNvSpPr>
          <p:nvPr/>
        </p:nvSpPr>
        <p:spPr bwMode="auto">
          <a:xfrm>
            <a:off x="609600" y="1371600"/>
            <a:ext cx="1636713" cy="457200"/>
          </a:xfrm>
          <a:prstGeom prst="rect">
            <a:avLst/>
          </a:prstGeom>
          <a:noFill/>
          <a:ln w="9525">
            <a:noFill/>
            <a:miter lim="800000"/>
            <a:headEnd/>
            <a:tailEnd/>
          </a:ln>
          <a:effectLst/>
        </p:spPr>
        <p:txBody>
          <a:bodyPr wrap="none">
            <a:spAutoFit/>
          </a:bodyPr>
          <a:lstStyle/>
          <a:p>
            <a:pPr>
              <a:defRPr/>
            </a:pPr>
            <a:r>
              <a:rPr lang="en-US" sz="2400" b="1" dirty="0">
                <a:solidFill>
                  <a:srgbClr val="FF9933"/>
                </a:solidFill>
                <a:effectLst>
                  <a:outerShdw blurRad="38100" dist="38100" dir="2700000" algn="tl">
                    <a:srgbClr val="000000">
                      <a:alpha val="43137"/>
                    </a:srgbClr>
                  </a:outerShdw>
                </a:effectLst>
                <a:latin typeface="Arial" charset="0"/>
                <a:cs typeface="+mn-cs"/>
              </a:rPr>
              <a:t>Old World</a:t>
            </a:r>
          </a:p>
        </p:txBody>
      </p:sp>
      <p:sp>
        <p:nvSpPr>
          <p:cNvPr id="207879" name="Text Box 7"/>
          <p:cNvSpPr txBox="1">
            <a:spLocks noChangeArrowheads="1"/>
          </p:cNvSpPr>
          <p:nvPr/>
        </p:nvSpPr>
        <p:spPr bwMode="auto">
          <a:xfrm>
            <a:off x="4495800" y="1371600"/>
            <a:ext cx="1757363" cy="457200"/>
          </a:xfrm>
          <a:prstGeom prst="rect">
            <a:avLst/>
          </a:prstGeom>
          <a:noFill/>
          <a:ln w="9525">
            <a:noFill/>
            <a:miter lim="800000"/>
            <a:headEnd/>
            <a:tailEnd/>
          </a:ln>
          <a:effectLst/>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New World</a:t>
            </a:r>
          </a:p>
        </p:txBody>
      </p:sp>
      <p:sp>
        <p:nvSpPr>
          <p:cNvPr id="7" name="Title 1"/>
          <p:cNvSpPr>
            <a:spLocks noGrp="1"/>
          </p:cNvSpPr>
          <p:nvPr>
            <p:ph type="title"/>
          </p:nvPr>
        </p:nvSpPr>
        <p:spPr>
          <a:ln>
            <a:miter lim="800000"/>
            <a:headEnd/>
            <a:tailEnd/>
          </a:ln>
          <a:extLst/>
        </p:spPr>
        <p:txBody>
          <a:bodyPr/>
          <a:lstStyle/>
          <a:p>
            <a:pPr>
              <a:defRPr/>
            </a:pPr>
            <a:r>
              <a:rPr lang="en-US" dirty="0" smtClean="0"/>
              <a:t>Old World vs New World: Competition</a:t>
            </a:r>
            <a:endParaRPr lang="en-US" dirty="0"/>
          </a:p>
        </p:txBody>
      </p:sp>
      <p:grpSp>
        <p:nvGrpSpPr>
          <p:cNvPr id="8201" name="Group 7"/>
          <p:cNvGrpSpPr>
            <a:grpSpLocks/>
          </p:cNvGrpSpPr>
          <p:nvPr/>
        </p:nvGrpSpPr>
        <p:grpSpPr bwMode="auto">
          <a:xfrm>
            <a:off x="76200" y="6461125"/>
            <a:ext cx="2736850" cy="369888"/>
            <a:chOff x="76200" y="6461774"/>
            <a:chExt cx="2736405" cy="369332"/>
          </a:xfrm>
        </p:grpSpPr>
        <p:pic>
          <p:nvPicPr>
            <p:cNvPr id="8202" name="Picture 8"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1" name="TextBox 10"/>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6" name="Text Box 4"/>
          <p:cNvSpPr txBox="1">
            <a:spLocks noChangeArrowheads="1"/>
          </p:cNvSpPr>
          <p:nvPr/>
        </p:nvSpPr>
        <p:spPr bwMode="auto">
          <a:xfrm>
            <a:off x="609600" y="1876425"/>
            <a:ext cx="3429000" cy="4524375"/>
          </a:xfrm>
          <a:prstGeom prst="rect">
            <a:avLst/>
          </a:prstGeom>
          <a:noFill/>
          <a:ln w="9525">
            <a:noFill/>
            <a:miter lim="800000"/>
            <a:headEnd/>
            <a:tailEnd/>
          </a:ln>
          <a:effectLst/>
        </p:spPr>
        <p:txBody>
          <a:bodyPr>
            <a:spAutoFit/>
          </a:bodyPr>
          <a:lstStyle/>
          <a:p>
            <a:pPr>
              <a:defRPr/>
            </a:pPr>
            <a:r>
              <a:rPr lang="en-US" sz="2400" dirty="0">
                <a:solidFill>
                  <a:schemeClr val="bg1"/>
                </a:solidFill>
                <a:effectLst>
                  <a:outerShdw blurRad="38100" dist="38100" dir="2700000" algn="tl">
                    <a:srgbClr val="000000">
                      <a:alpha val="43137"/>
                    </a:srgbClr>
                  </a:outerShdw>
                </a:effectLst>
                <a:latin typeface="Arial" charset="0"/>
                <a:cs typeface="+mn-cs"/>
              </a:rPr>
              <a:t>John is the brightest child in kindergarten</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Physician as a “individual player”</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Promotion depends on first/last author publications</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Publish or perish</a:t>
            </a:r>
          </a:p>
        </p:txBody>
      </p:sp>
      <p:sp>
        <p:nvSpPr>
          <p:cNvPr id="207877" name="Text Box 5"/>
          <p:cNvSpPr txBox="1">
            <a:spLocks noChangeArrowheads="1"/>
          </p:cNvSpPr>
          <p:nvPr/>
        </p:nvSpPr>
        <p:spPr bwMode="auto">
          <a:xfrm>
            <a:off x="4495800" y="1905000"/>
            <a:ext cx="3429000" cy="4524375"/>
          </a:xfrm>
          <a:prstGeom prst="rect">
            <a:avLst/>
          </a:prstGeom>
          <a:noFill/>
          <a:ln w="9525">
            <a:noFill/>
            <a:miter lim="800000"/>
            <a:headEnd/>
            <a:tailEnd/>
          </a:ln>
          <a:effectLst/>
        </p:spPr>
        <p:txBody>
          <a:bodyPr>
            <a:spAutoFit/>
          </a:bodyPr>
          <a:lstStyle/>
          <a:p>
            <a:pPr>
              <a:defRPr/>
            </a:pPr>
            <a:r>
              <a:rPr lang="en-US" sz="2400" dirty="0">
                <a:solidFill>
                  <a:schemeClr val="bg1"/>
                </a:solidFill>
                <a:effectLst>
                  <a:outerShdw blurRad="38100" dist="38100" dir="2700000" algn="tl">
                    <a:srgbClr val="000000">
                      <a:alpha val="43137"/>
                    </a:srgbClr>
                  </a:outerShdw>
                </a:effectLst>
                <a:latin typeface="Arial" charset="0"/>
                <a:cs typeface="+mn-cs"/>
              </a:rPr>
              <a:t>John plays well with others  in kindergarten</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Physician as a “team player”</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Promotion depends upon more broadly conceived contributions and collaboration</a:t>
            </a:r>
          </a:p>
          <a:p>
            <a:pPr>
              <a:defRPr/>
            </a:pPr>
            <a:endParaRPr lang="en-US" sz="24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400" dirty="0">
                <a:solidFill>
                  <a:schemeClr val="bg1"/>
                </a:solidFill>
                <a:effectLst>
                  <a:outerShdw blurRad="38100" dist="38100" dir="2700000" algn="tl">
                    <a:srgbClr val="000000">
                      <a:alpha val="43137"/>
                    </a:srgbClr>
                  </a:outerShdw>
                </a:effectLst>
                <a:latin typeface="Arial" charset="0"/>
                <a:cs typeface="+mn-cs"/>
              </a:rPr>
              <a:t>Collaborate or perish</a:t>
            </a:r>
          </a:p>
        </p:txBody>
      </p:sp>
      <p:sp>
        <p:nvSpPr>
          <p:cNvPr id="207878" name="Text Box 6"/>
          <p:cNvSpPr txBox="1">
            <a:spLocks noChangeArrowheads="1"/>
          </p:cNvSpPr>
          <p:nvPr/>
        </p:nvSpPr>
        <p:spPr bwMode="auto">
          <a:xfrm>
            <a:off x="609600" y="1371600"/>
            <a:ext cx="1636713" cy="457200"/>
          </a:xfrm>
          <a:prstGeom prst="rect">
            <a:avLst/>
          </a:prstGeom>
          <a:noFill/>
          <a:ln w="9525">
            <a:noFill/>
            <a:miter lim="800000"/>
            <a:headEnd/>
            <a:tailEnd/>
          </a:ln>
          <a:effectLst/>
        </p:spPr>
        <p:txBody>
          <a:bodyPr wrap="none">
            <a:spAutoFit/>
          </a:bodyPr>
          <a:lstStyle/>
          <a:p>
            <a:pPr>
              <a:defRPr/>
            </a:pPr>
            <a:r>
              <a:rPr lang="en-US" sz="2400" b="1" dirty="0">
                <a:solidFill>
                  <a:srgbClr val="FF9933"/>
                </a:solidFill>
                <a:effectLst>
                  <a:outerShdw blurRad="38100" dist="38100" dir="2700000" algn="tl">
                    <a:srgbClr val="000000">
                      <a:alpha val="43137"/>
                    </a:srgbClr>
                  </a:outerShdw>
                </a:effectLst>
                <a:latin typeface="Arial" charset="0"/>
                <a:cs typeface="+mn-cs"/>
              </a:rPr>
              <a:t>Old World</a:t>
            </a:r>
          </a:p>
        </p:txBody>
      </p:sp>
      <p:sp>
        <p:nvSpPr>
          <p:cNvPr id="207879" name="Text Box 7"/>
          <p:cNvSpPr txBox="1">
            <a:spLocks noChangeArrowheads="1"/>
          </p:cNvSpPr>
          <p:nvPr/>
        </p:nvSpPr>
        <p:spPr bwMode="auto">
          <a:xfrm>
            <a:off x="4495800" y="1371600"/>
            <a:ext cx="1757363" cy="457200"/>
          </a:xfrm>
          <a:prstGeom prst="rect">
            <a:avLst/>
          </a:prstGeom>
          <a:noFill/>
          <a:ln w="9525">
            <a:noFill/>
            <a:miter lim="800000"/>
            <a:headEnd/>
            <a:tailEnd/>
          </a:ln>
          <a:effectLst/>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New World</a:t>
            </a:r>
          </a:p>
        </p:txBody>
      </p:sp>
      <p:sp>
        <p:nvSpPr>
          <p:cNvPr id="7" name="Title 1"/>
          <p:cNvSpPr>
            <a:spLocks noGrp="1"/>
          </p:cNvSpPr>
          <p:nvPr>
            <p:ph type="title"/>
          </p:nvPr>
        </p:nvSpPr>
        <p:spPr>
          <a:ln>
            <a:miter lim="800000"/>
            <a:headEnd/>
            <a:tailEnd/>
          </a:ln>
          <a:extLst/>
        </p:spPr>
        <p:txBody>
          <a:bodyPr/>
          <a:lstStyle/>
          <a:p>
            <a:pPr>
              <a:defRPr/>
            </a:pPr>
            <a:r>
              <a:rPr lang="en-US" dirty="0" smtClean="0"/>
              <a:t>Old World vs New World: Collaboration</a:t>
            </a:r>
            <a:endParaRPr lang="en-US" dirty="0"/>
          </a:p>
        </p:txBody>
      </p:sp>
      <p:grpSp>
        <p:nvGrpSpPr>
          <p:cNvPr id="9225" name="Group 7"/>
          <p:cNvGrpSpPr>
            <a:grpSpLocks/>
          </p:cNvGrpSpPr>
          <p:nvPr/>
        </p:nvGrpSpPr>
        <p:grpSpPr bwMode="auto">
          <a:xfrm>
            <a:off x="76200" y="6461125"/>
            <a:ext cx="2736850" cy="369888"/>
            <a:chOff x="76200" y="6461774"/>
            <a:chExt cx="2736405" cy="369332"/>
          </a:xfrm>
        </p:grpSpPr>
        <p:pic>
          <p:nvPicPr>
            <p:cNvPr id="9226" name="Picture 8"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1" name="TextBox 10"/>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p:cNvSpPr txBox="1">
            <a:spLocks noChangeArrowheads="1"/>
          </p:cNvSpPr>
          <p:nvPr/>
        </p:nvSpPr>
        <p:spPr bwMode="auto">
          <a:xfrm>
            <a:off x="609600" y="2286000"/>
            <a:ext cx="3581400" cy="2246313"/>
          </a:xfrm>
          <a:prstGeom prst="rect">
            <a:avLst/>
          </a:prstGeom>
          <a:noFill/>
          <a:ln w="9525">
            <a:noFill/>
            <a:miter lim="800000"/>
            <a:headEnd/>
            <a:tailEnd/>
          </a:ln>
        </p:spPr>
        <p:txBody>
          <a:bodyPr>
            <a:spAutoFit/>
          </a:bodyPr>
          <a:lstStyle/>
          <a:p>
            <a:pPr>
              <a:defRPr/>
            </a:pPr>
            <a:r>
              <a:rPr lang="en-US" sz="2800" dirty="0">
                <a:solidFill>
                  <a:schemeClr val="bg1"/>
                </a:solidFill>
                <a:effectLst>
                  <a:outerShdw blurRad="38100" dist="38100" dir="2700000" algn="tl">
                    <a:srgbClr val="000000">
                      <a:alpha val="43137"/>
                    </a:srgbClr>
                  </a:outerShdw>
                </a:effectLst>
                <a:latin typeface="Arial" charset="0"/>
                <a:cs typeface="+mn-cs"/>
              </a:rPr>
              <a:t>Internet 1.0</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Website with </a:t>
            </a:r>
            <a:r>
              <a:rPr lang="en-US" sz="2800" i="1" dirty="0">
                <a:solidFill>
                  <a:schemeClr val="bg1"/>
                </a:solidFill>
                <a:effectLst>
                  <a:outerShdw blurRad="38100" dist="38100" dir="2700000" algn="tl">
                    <a:srgbClr val="000000">
                      <a:alpha val="43137"/>
                    </a:srgbClr>
                  </a:outerShdw>
                </a:effectLst>
                <a:latin typeface="Arial" charset="0"/>
                <a:cs typeface="+mn-cs"/>
              </a:rPr>
              <a:t>one directional flow</a:t>
            </a:r>
            <a:r>
              <a:rPr lang="en-US" sz="2800" dirty="0">
                <a:solidFill>
                  <a:schemeClr val="bg1"/>
                </a:solidFill>
                <a:effectLst>
                  <a:outerShdw blurRad="38100" dist="38100" dir="2700000" algn="tl">
                    <a:srgbClr val="000000">
                      <a:alpha val="43137"/>
                    </a:srgbClr>
                  </a:outerShdw>
                </a:effectLst>
                <a:latin typeface="Arial" charset="0"/>
                <a:cs typeface="+mn-cs"/>
              </a:rPr>
              <a:t> of information</a:t>
            </a:r>
          </a:p>
        </p:txBody>
      </p:sp>
      <p:sp>
        <p:nvSpPr>
          <p:cNvPr id="17411" name="Text Box 5"/>
          <p:cNvSpPr txBox="1">
            <a:spLocks noChangeArrowheads="1"/>
          </p:cNvSpPr>
          <p:nvPr/>
        </p:nvSpPr>
        <p:spPr bwMode="auto">
          <a:xfrm>
            <a:off x="4495800" y="2286000"/>
            <a:ext cx="4419600" cy="3108325"/>
          </a:xfrm>
          <a:prstGeom prst="rect">
            <a:avLst/>
          </a:prstGeom>
          <a:noFill/>
          <a:ln w="9525">
            <a:noFill/>
            <a:miter lim="800000"/>
            <a:headEnd/>
            <a:tailEnd/>
          </a:ln>
        </p:spPr>
        <p:txBody>
          <a:bodyPr>
            <a:spAutoFit/>
          </a:bodyPr>
          <a:lstStyle/>
          <a:p>
            <a:pPr>
              <a:defRPr/>
            </a:pPr>
            <a:r>
              <a:rPr lang="en-US" sz="2800" dirty="0">
                <a:solidFill>
                  <a:schemeClr val="bg1"/>
                </a:solidFill>
                <a:effectLst>
                  <a:outerShdw blurRad="38100" dist="38100" dir="2700000" algn="tl">
                    <a:srgbClr val="000000">
                      <a:alpha val="43137"/>
                    </a:srgbClr>
                  </a:outerShdw>
                </a:effectLst>
                <a:latin typeface="Arial" charset="0"/>
                <a:cs typeface="+mn-cs"/>
              </a:rPr>
              <a:t>Internet 2.0</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Participatory community with bidirectional flow of information</a:t>
            </a: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Think YouTube; Facebook; Wikipedia</a:t>
            </a:r>
          </a:p>
        </p:txBody>
      </p:sp>
      <p:sp>
        <p:nvSpPr>
          <p:cNvPr id="17412" name="Text Box 6"/>
          <p:cNvSpPr txBox="1">
            <a:spLocks noChangeArrowheads="1"/>
          </p:cNvSpPr>
          <p:nvPr/>
        </p:nvSpPr>
        <p:spPr bwMode="auto">
          <a:xfrm>
            <a:off x="609600" y="1676400"/>
            <a:ext cx="1636713" cy="457200"/>
          </a:xfrm>
          <a:prstGeom prst="rect">
            <a:avLst/>
          </a:prstGeom>
          <a:noFill/>
          <a:ln w="9525">
            <a:noFill/>
            <a:miter lim="800000"/>
            <a:headEnd/>
            <a:tailEnd/>
          </a:ln>
        </p:spPr>
        <p:txBody>
          <a:bodyPr wrap="none">
            <a:spAutoFit/>
          </a:bodyPr>
          <a:lstStyle/>
          <a:p>
            <a:pPr>
              <a:defRPr/>
            </a:pPr>
            <a:r>
              <a:rPr lang="en-US" sz="2400" b="1" dirty="0">
                <a:solidFill>
                  <a:srgbClr val="FF9933"/>
                </a:solidFill>
                <a:effectLst>
                  <a:outerShdw blurRad="38100" dist="38100" dir="2700000" algn="tl">
                    <a:srgbClr val="000000">
                      <a:alpha val="43137"/>
                    </a:srgbClr>
                  </a:outerShdw>
                </a:effectLst>
                <a:latin typeface="Arial" charset="0"/>
                <a:cs typeface="+mn-cs"/>
              </a:rPr>
              <a:t>Old World</a:t>
            </a:r>
          </a:p>
        </p:txBody>
      </p:sp>
      <p:sp>
        <p:nvSpPr>
          <p:cNvPr id="17413" name="Text Box 7"/>
          <p:cNvSpPr txBox="1">
            <a:spLocks noChangeArrowheads="1"/>
          </p:cNvSpPr>
          <p:nvPr/>
        </p:nvSpPr>
        <p:spPr bwMode="auto">
          <a:xfrm>
            <a:off x="4495800" y="1676400"/>
            <a:ext cx="1757363" cy="457200"/>
          </a:xfrm>
          <a:prstGeom prst="rect">
            <a:avLst/>
          </a:prstGeom>
          <a:noFill/>
          <a:ln w="9525">
            <a:noFill/>
            <a:miter lim="800000"/>
            <a:headEnd/>
            <a:tailEnd/>
          </a:ln>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New World</a:t>
            </a:r>
          </a:p>
        </p:txBody>
      </p:sp>
      <p:sp>
        <p:nvSpPr>
          <p:cNvPr id="7" name="Title 1"/>
          <p:cNvSpPr>
            <a:spLocks noGrp="1"/>
          </p:cNvSpPr>
          <p:nvPr>
            <p:ph type="title"/>
          </p:nvPr>
        </p:nvSpPr>
        <p:spPr>
          <a:ln>
            <a:miter lim="800000"/>
            <a:headEnd/>
            <a:tailEnd/>
          </a:ln>
          <a:extLst/>
        </p:spPr>
        <p:txBody>
          <a:bodyPr/>
          <a:lstStyle/>
          <a:p>
            <a:pPr>
              <a:defRPr/>
            </a:pPr>
            <a:r>
              <a:rPr lang="en-US" dirty="0" smtClean="0"/>
              <a:t>Old World vs New World: Internet</a:t>
            </a:r>
            <a:endParaRPr lang="en-US" dirty="0"/>
          </a:p>
        </p:txBody>
      </p:sp>
      <p:grpSp>
        <p:nvGrpSpPr>
          <p:cNvPr id="10249" name="Group 7"/>
          <p:cNvGrpSpPr>
            <a:grpSpLocks/>
          </p:cNvGrpSpPr>
          <p:nvPr/>
        </p:nvGrpSpPr>
        <p:grpSpPr bwMode="auto">
          <a:xfrm>
            <a:off x="76200" y="6461125"/>
            <a:ext cx="2736850" cy="369888"/>
            <a:chOff x="76200" y="6461774"/>
            <a:chExt cx="2736405" cy="369332"/>
          </a:xfrm>
        </p:grpSpPr>
        <p:pic>
          <p:nvPicPr>
            <p:cNvPr id="10250" name="Picture 8"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1" name="TextBox 10"/>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Old World vs New World: Media</a:t>
            </a:r>
            <a:endParaRPr lang="en-US" dirty="0"/>
          </a:p>
        </p:txBody>
      </p:sp>
      <p:sp>
        <p:nvSpPr>
          <p:cNvPr id="3" name="Content Placeholder 2"/>
          <p:cNvSpPr>
            <a:spLocks noGrp="1"/>
          </p:cNvSpPr>
          <p:nvPr>
            <p:ph idx="1"/>
          </p:nvPr>
        </p:nvSpPr>
        <p:spPr>
          <a:xfrm>
            <a:off x="381000" y="4572000"/>
            <a:ext cx="3962400" cy="1981200"/>
          </a:xfrm>
        </p:spPr>
        <p:txBody>
          <a:bodyPr/>
          <a:lstStyle/>
          <a:p>
            <a:pPr>
              <a:defRPr/>
            </a:pPr>
            <a:r>
              <a:rPr lang="en-US" sz="2000" dirty="0" smtClean="0"/>
              <a:t>Broadcast  one show to millions</a:t>
            </a:r>
          </a:p>
        </p:txBody>
      </p:sp>
      <p:pic>
        <p:nvPicPr>
          <p:cNvPr id="112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408940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266825"/>
            <a:ext cx="428625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p:cNvSpPr txBox="1">
            <a:spLocks/>
          </p:cNvSpPr>
          <p:nvPr/>
        </p:nvSpPr>
        <p:spPr bwMode="auto">
          <a:xfrm>
            <a:off x="4572000" y="4572000"/>
            <a:ext cx="3962400" cy="1981200"/>
          </a:xfrm>
          <a:prstGeom prst="rect">
            <a:avLst/>
          </a:prstGeom>
          <a:noFill/>
          <a:ln w="9525">
            <a:noFill/>
            <a:miter lim="800000"/>
            <a:headEnd/>
            <a:tailEnd/>
          </a:ln>
          <a:effectLst/>
        </p:spPr>
        <p:txBody>
          <a:bodyPr/>
          <a:lstStyle/>
          <a:p>
            <a:pPr marL="342900" indent="-342900" eaLnBrk="0" hangingPunct="0">
              <a:spcBef>
                <a:spcPct val="20000"/>
              </a:spcBef>
              <a:buFontTx/>
              <a:buChar char="•"/>
              <a:defRPr/>
            </a:pPr>
            <a:r>
              <a:rPr lang="en-US" sz="2000" kern="0" dirty="0">
                <a:solidFill>
                  <a:schemeClr val="bg1"/>
                </a:solidFill>
                <a:effectLst>
                  <a:outerShdw blurRad="38100" dist="38100" dir="2700000" algn="tl">
                    <a:srgbClr val="000000"/>
                  </a:outerShdw>
                </a:effectLst>
                <a:latin typeface="+mn-lt"/>
                <a:cs typeface="+mn-cs"/>
              </a:rPr>
              <a:t>Broadcast millions of shows to one</a:t>
            </a:r>
          </a:p>
        </p:txBody>
      </p:sp>
      <p:grpSp>
        <p:nvGrpSpPr>
          <p:cNvPr id="11273" name="Group 6"/>
          <p:cNvGrpSpPr>
            <a:grpSpLocks/>
          </p:cNvGrpSpPr>
          <p:nvPr/>
        </p:nvGrpSpPr>
        <p:grpSpPr bwMode="auto">
          <a:xfrm>
            <a:off x="76200" y="6461125"/>
            <a:ext cx="2736850" cy="369888"/>
            <a:chOff x="76200" y="6461774"/>
            <a:chExt cx="2736405" cy="369332"/>
          </a:xfrm>
        </p:grpSpPr>
        <p:pic>
          <p:nvPicPr>
            <p:cNvPr id="11274" name="Picture 7" descr="Copyleft.svg.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0" name="TextBox 9"/>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Old World vs New World: The Truth Standard</a:t>
            </a:r>
            <a:endParaRPr lang="en-US" dirty="0"/>
          </a:p>
        </p:txBody>
      </p:sp>
      <p:sp>
        <p:nvSpPr>
          <p:cNvPr id="4" name="Text Box 4"/>
          <p:cNvSpPr txBox="1">
            <a:spLocks noChangeArrowheads="1"/>
          </p:cNvSpPr>
          <p:nvPr/>
        </p:nvSpPr>
        <p:spPr bwMode="auto">
          <a:xfrm>
            <a:off x="609600" y="1828800"/>
            <a:ext cx="3581400" cy="4400550"/>
          </a:xfrm>
          <a:prstGeom prst="rect">
            <a:avLst/>
          </a:prstGeom>
          <a:noFill/>
          <a:ln w="9525">
            <a:noFill/>
            <a:miter lim="800000"/>
            <a:headEnd/>
            <a:tailEnd/>
          </a:ln>
        </p:spPr>
        <p:txBody>
          <a:bodyPr>
            <a:spAutoFit/>
          </a:bodyPr>
          <a:lstStyle/>
          <a:p>
            <a:pPr>
              <a:defRPr/>
            </a:pPr>
            <a:r>
              <a:rPr lang="en-US" sz="2800" dirty="0">
                <a:solidFill>
                  <a:schemeClr val="bg1"/>
                </a:solidFill>
                <a:effectLst>
                  <a:outerShdw blurRad="38100" dist="38100" dir="2700000" algn="tl">
                    <a:srgbClr val="000000">
                      <a:alpha val="43137"/>
                    </a:srgbClr>
                  </a:outerShdw>
                </a:effectLst>
                <a:latin typeface="Arial" charset="0"/>
                <a:cs typeface="+mn-cs"/>
              </a:rPr>
              <a:t>The professor</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Diagnosis: “In my experience …”</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Auscultates murmur</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Eminence based therapy: “In my experience …”</a:t>
            </a:r>
          </a:p>
        </p:txBody>
      </p:sp>
      <p:sp>
        <p:nvSpPr>
          <p:cNvPr id="5" name="Text Box 5"/>
          <p:cNvSpPr txBox="1">
            <a:spLocks noChangeArrowheads="1"/>
          </p:cNvSpPr>
          <p:nvPr/>
        </p:nvSpPr>
        <p:spPr bwMode="auto">
          <a:xfrm>
            <a:off x="4495800" y="1828800"/>
            <a:ext cx="4419600" cy="4400550"/>
          </a:xfrm>
          <a:prstGeom prst="rect">
            <a:avLst/>
          </a:prstGeom>
          <a:noFill/>
          <a:ln w="9525">
            <a:noFill/>
            <a:miter lim="800000"/>
            <a:headEnd/>
            <a:tailEnd/>
          </a:ln>
        </p:spPr>
        <p:txBody>
          <a:bodyPr>
            <a:spAutoFit/>
          </a:bodyPr>
          <a:lstStyle/>
          <a:p>
            <a:pPr>
              <a:defRPr/>
            </a:pPr>
            <a:r>
              <a:rPr lang="en-US" sz="2800" dirty="0">
                <a:solidFill>
                  <a:schemeClr val="bg1"/>
                </a:solidFill>
                <a:effectLst>
                  <a:outerShdw blurRad="38100" dist="38100" dir="2700000" algn="tl">
                    <a:srgbClr val="000000">
                      <a:alpha val="43137"/>
                    </a:srgbClr>
                  </a:outerShdw>
                </a:effectLst>
                <a:latin typeface="Arial" charset="0"/>
                <a:cs typeface="+mn-cs"/>
              </a:rPr>
              <a:t>Consensus &amp; guidelines</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Registry experience of many physicians</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ECHO</a:t>
            </a:r>
          </a:p>
          <a:p>
            <a:pPr>
              <a:defRPr/>
            </a:pPr>
            <a:endParaRPr lang="en-US" sz="2800" dirty="0">
              <a:solidFill>
                <a:schemeClr val="bg1"/>
              </a:solidFill>
              <a:effectLst>
                <a:outerShdw blurRad="38100" dist="38100" dir="2700000" algn="tl">
                  <a:srgbClr val="000000">
                    <a:alpha val="43137"/>
                  </a:srgbClr>
                </a:outerShdw>
              </a:effectLst>
              <a:latin typeface="Arial" charset="0"/>
              <a:cs typeface="+mn-cs"/>
            </a:endParaRPr>
          </a:p>
          <a:p>
            <a:pPr>
              <a:defRPr/>
            </a:pPr>
            <a:r>
              <a:rPr lang="en-US" sz="2800" dirty="0">
                <a:solidFill>
                  <a:schemeClr val="bg1"/>
                </a:solidFill>
                <a:effectLst>
                  <a:outerShdw blurRad="38100" dist="38100" dir="2700000" algn="tl">
                    <a:srgbClr val="000000">
                      <a:alpha val="43137"/>
                    </a:srgbClr>
                  </a:outerShdw>
                </a:effectLst>
                <a:latin typeface="Arial" charset="0"/>
                <a:cs typeface="+mn-cs"/>
              </a:rPr>
              <a:t>Evidence based therapy: “In the GUSTO, TIMI experience …”</a:t>
            </a:r>
          </a:p>
        </p:txBody>
      </p:sp>
      <p:sp>
        <p:nvSpPr>
          <p:cNvPr id="6" name="Text Box 6"/>
          <p:cNvSpPr txBox="1">
            <a:spLocks noChangeArrowheads="1"/>
          </p:cNvSpPr>
          <p:nvPr/>
        </p:nvSpPr>
        <p:spPr bwMode="auto">
          <a:xfrm>
            <a:off x="609600" y="1219200"/>
            <a:ext cx="1636713" cy="457200"/>
          </a:xfrm>
          <a:prstGeom prst="rect">
            <a:avLst/>
          </a:prstGeom>
          <a:noFill/>
          <a:ln w="9525">
            <a:noFill/>
            <a:miter lim="800000"/>
            <a:headEnd/>
            <a:tailEnd/>
          </a:ln>
        </p:spPr>
        <p:txBody>
          <a:bodyPr wrap="none">
            <a:spAutoFit/>
          </a:bodyPr>
          <a:lstStyle/>
          <a:p>
            <a:pPr>
              <a:defRPr/>
            </a:pPr>
            <a:r>
              <a:rPr lang="en-US" sz="2400" b="1" dirty="0">
                <a:solidFill>
                  <a:srgbClr val="FF9933"/>
                </a:solidFill>
                <a:effectLst>
                  <a:outerShdw blurRad="38100" dist="38100" dir="2700000" algn="tl">
                    <a:srgbClr val="000000">
                      <a:alpha val="43137"/>
                    </a:srgbClr>
                  </a:outerShdw>
                </a:effectLst>
                <a:latin typeface="Arial" charset="0"/>
                <a:cs typeface="+mn-cs"/>
              </a:rPr>
              <a:t>Old World</a:t>
            </a:r>
          </a:p>
        </p:txBody>
      </p:sp>
      <p:sp>
        <p:nvSpPr>
          <p:cNvPr id="7" name="Text Box 7"/>
          <p:cNvSpPr txBox="1">
            <a:spLocks noChangeArrowheads="1"/>
          </p:cNvSpPr>
          <p:nvPr/>
        </p:nvSpPr>
        <p:spPr bwMode="auto">
          <a:xfrm>
            <a:off x="4495800" y="1219200"/>
            <a:ext cx="1757363" cy="457200"/>
          </a:xfrm>
          <a:prstGeom prst="rect">
            <a:avLst/>
          </a:prstGeom>
          <a:noFill/>
          <a:ln w="9525">
            <a:noFill/>
            <a:miter lim="800000"/>
            <a:headEnd/>
            <a:tailEnd/>
          </a:ln>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New World</a:t>
            </a:r>
          </a:p>
        </p:txBody>
      </p:sp>
      <p:grpSp>
        <p:nvGrpSpPr>
          <p:cNvPr id="12297" name="Group 7"/>
          <p:cNvGrpSpPr>
            <a:grpSpLocks/>
          </p:cNvGrpSpPr>
          <p:nvPr/>
        </p:nvGrpSpPr>
        <p:grpSpPr bwMode="auto">
          <a:xfrm>
            <a:off x="76200" y="6461125"/>
            <a:ext cx="2736850" cy="369888"/>
            <a:chOff x="76200" y="6461774"/>
            <a:chExt cx="2736405" cy="369332"/>
          </a:xfrm>
        </p:grpSpPr>
        <p:pic>
          <p:nvPicPr>
            <p:cNvPr id="12298" name="Picture 8"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1" name="TextBox 10"/>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29200" y="1830388"/>
            <a:ext cx="1163638" cy="954087"/>
          </a:xfrm>
          <a:prstGeom prst="rect">
            <a:avLst/>
          </a:prstGeom>
          <a:noFill/>
        </p:spPr>
        <p:txBody>
          <a:bodyPr wrap="none">
            <a:spAutoFit/>
          </a:bodyPr>
          <a:lstStyle/>
          <a:p>
            <a:pPr>
              <a:defRPr/>
            </a:pPr>
            <a:r>
              <a:rPr lang="en-US" sz="2800" dirty="0">
                <a:solidFill>
                  <a:schemeClr val="bg1"/>
                </a:solidFill>
                <a:latin typeface="+mj-lt"/>
                <a:cs typeface="+mn-cs"/>
              </a:rPr>
              <a:t>Public</a:t>
            </a:r>
          </a:p>
          <a:p>
            <a:pPr>
              <a:defRPr/>
            </a:pPr>
            <a:r>
              <a:rPr lang="en-US" sz="2800" dirty="0">
                <a:solidFill>
                  <a:schemeClr val="bg1"/>
                </a:solidFill>
                <a:latin typeface="+mj-lt"/>
                <a:cs typeface="+mn-cs"/>
              </a:rPr>
              <a:t>Good</a:t>
            </a:r>
          </a:p>
        </p:txBody>
      </p:sp>
      <p:sp>
        <p:nvSpPr>
          <p:cNvPr id="5" name="TextBox 4"/>
          <p:cNvSpPr txBox="1"/>
          <p:nvPr/>
        </p:nvSpPr>
        <p:spPr>
          <a:xfrm>
            <a:off x="1143000" y="1754188"/>
            <a:ext cx="1303338" cy="954087"/>
          </a:xfrm>
          <a:prstGeom prst="rect">
            <a:avLst/>
          </a:prstGeom>
          <a:noFill/>
        </p:spPr>
        <p:txBody>
          <a:bodyPr wrap="none">
            <a:spAutoFit/>
          </a:bodyPr>
          <a:lstStyle/>
          <a:p>
            <a:pPr>
              <a:defRPr/>
            </a:pPr>
            <a:r>
              <a:rPr lang="en-US" sz="2800" dirty="0">
                <a:solidFill>
                  <a:schemeClr val="bg1"/>
                </a:solidFill>
                <a:latin typeface="+mj-lt"/>
                <a:cs typeface="+mn-cs"/>
              </a:rPr>
              <a:t>Private</a:t>
            </a:r>
          </a:p>
          <a:p>
            <a:pPr>
              <a:defRPr/>
            </a:pPr>
            <a:r>
              <a:rPr lang="en-US" sz="2800" dirty="0">
                <a:solidFill>
                  <a:schemeClr val="bg1"/>
                </a:solidFill>
                <a:latin typeface="+mj-lt"/>
                <a:cs typeface="+mn-cs"/>
              </a:rPr>
              <a:t>Good</a:t>
            </a:r>
          </a:p>
        </p:txBody>
      </p:sp>
      <p:sp>
        <p:nvSpPr>
          <p:cNvPr id="6" name="Title 1"/>
          <p:cNvSpPr>
            <a:spLocks noGrp="1"/>
          </p:cNvSpPr>
          <p:nvPr>
            <p:ph type="title"/>
          </p:nvPr>
        </p:nvSpPr>
        <p:spPr>
          <a:ln>
            <a:miter lim="800000"/>
            <a:headEnd/>
            <a:tailEnd/>
          </a:ln>
          <a:extLst/>
        </p:spPr>
        <p:txBody>
          <a:bodyPr/>
          <a:lstStyle/>
          <a:p>
            <a:pPr>
              <a:defRPr/>
            </a:pPr>
            <a:r>
              <a:rPr lang="en-US" dirty="0" smtClean="0"/>
              <a:t>Old World vs New World: Medical Information</a:t>
            </a:r>
            <a:endParaRPr lang="en-US" dirty="0"/>
          </a:p>
        </p:txBody>
      </p:sp>
      <p:sp>
        <p:nvSpPr>
          <p:cNvPr id="7" name="Text Box 6"/>
          <p:cNvSpPr txBox="1">
            <a:spLocks noChangeArrowheads="1"/>
          </p:cNvSpPr>
          <p:nvPr/>
        </p:nvSpPr>
        <p:spPr bwMode="auto">
          <a:xfrm>
            <a:off x="1138238" y="1295400"/>
            <a:ext cx="1636712" cy="457200"/>
          </a:xfrm>
          <a:prstGeom prst="rect">
            <a:avLst/>
          </a:prstGeom>
          <a:noFill/>
          <a:ln w="9525">
            <a:noFill/>
            <a:miter lim="800000"/>
            <a:headEnd/>
            <a:tailEnd/>
          </a:ln>
          <a:effectLst/>
        </p:spPr>
        <p:txBody>
          <a:bodyPr wrap="none">
            <a:spAutoFit/>
          </a:bodyPr>
          <a:lstStyle/>
          <a:p>
            <a:pPr>
              <a:defRPr/>
            </a:pPr>
            <a:r>
              <a:rPr lang="en-US" sz="2400" b="1" dirty="0">
                <a:solidFill>
                  <a:srgbClr val="FF9933"/>
                </a:solidFill>
                <a:effectLst>
                  <a:outerShdw blurRad="38100" dist="38100" dir="2700000" algn="tl">
                    <a:srgbClr val="000000">
                      <a:alpha val="43137"/>
                    </a:srgbClr>
                  </a:outerShdw>
                </a:effectLst>
                <a:latin typeface="Arial" charset="0"/>
                <a:cs typeface="+mn-cs"/>
              </a:rPr>
              <a:t>Old World</a:t>
            </a:r>
          </a:p>
        </p:txBody>
      </p:sp>
      <p:sp>
        <p:nvSpPr>
          <p:cNvPr id="8" name="Text Box 7"/>
          <p:cNvSpPr txBox="1">
            <a:spLocks noChangeArrowheads="1"/>
          </p:cNvSpPr>
          <p:nvPr/>
        </p:nvSpPr>
        <p:spPr bwMode="auto">
          <a:xfrm>
            <a:off x="5024438" y="1295400"/>
            <a:ext cx="1757362" cy="457200"/>
          </a:xfrm>
          <a:prstGeom prst="rect">
            <a:avLst/>
          </a:prstGeom>
          <a:noFill/>
          <a:ln w="9525">
            <a:noFill/>
            <a:miter lim="800000"/>
            <a:headEnd/>
            <a:tailEnd/>
          </a:ln>
          <a:effectLst/>
        </p:spPr>
        <p:txBody>
          <a:bodyPr wrap="none">
            <a:spAutoFit/>
          </a:bodyPr>
          <a:lstStyle/>
          <a:p>
            <a:pPr>
              <a:defRPr/>
            </a:pPr>
            <a:r>
              <a:rPr lang="en-US" sz="2400" b="1">
                <a:solidFill>
                  <a:srgbClr val="FF9933"/>
                </a:solidFill>
                <a:effectLst>
                  <a:outerShdw blurRad="38100" dist="38100" dir="2700000" algn="tl">
                    <a:srgbClr val="000000">
                      <a:alpha val="43137"/>
                    </a:srgbClr>
                  </a:outerShdw>
                </a:effectLst>
                <a:latin typeface="Arial" charset="0"/>
                <a:cs typeface="+mn-cs"/>
              </a:rPr>
              <a:t>New World</a:t>
            </a:r>
          </a:p>
        </p:txBody>
      </p:sp>
      <p:sp>
        <p:nvSpPr>
          <p:cNvPr id="9" name="TextBox 8"/>
          <p:cNvSpPr txBox="1"/>
          <p:nvPr/>
        </p:nvSpPr>
        <p:spPr>
          <a:xfrm>
            <a:off x="1116013" y="2792413"/>
            <a:ext cx="3276600" cy="3540125"/>
          </a:xfrm>
          <a:prstGeom prst="rect">
            <a:avLst/>
          </a:prstGeom>
          <a:noFill/>
        </p:spPr>
        <p:txBody>
          <a:bodyPr>
            <a:spAutoFit/>
          </a:bodyPr>
          <a:lstStyle/>
          <a:p>
            <a:pPr>
              <a:defRPr/>
            </a:pPr>
            <a:r>
              <a:rPr lang="en-US" sz="2400" b="1" dirty="0">
                <a:solidFill>
                  <a:schemeClr val="bg1"/>
                </a:solidFill>
                <a:latin typeface="+mn-lt"/>
                <a:cs typeface="+mn-cs"/>
              </a:rPr>
              <a:t>Business Model:</a:t>
            </a:r>
          </a:p>
          <a:p>
            <a:pPr>
              <a:defRPr/>
            </a:pPr>
            <a:endParaRPr lang="en-US" sz="2000" dirty="0">
              <a:solidFill>
                <a:schemeClr val="bg1"/>
              </a:solidFill>
              <a:latin typeface="+mn-lt"/>
              <a:cs typeface="+mn-cs"/>
            </a:endParaRPr>
          </a:p>
          <a:p>
            <a:pPr>
              <a:defRPr/>
            </a:pPr>
            <a:r>
              <a:rPr lang="en-US" sz="2000" dirty="0">
                <a:solidFill>
                  <a:schemeClr val="bg1"/>
                </a:solidFill>
                <a:latin typeface="+mn-lt"/>
                <a:cs typeface="+mn-cs"/>
              </a:rPr>
              <a:t>Author, publisher, journal personally profit by selling medical information to those who can and will pay for it via either purchase or subscription</a:t>
            </a:r>
          </a:p>
          <a:p>
            <a:pPr>
              <a:defRPr/>
            </a:pPr>
            <a:endParaRPr lang="en-US" sz="2000" dirty="0">
              <a:solidFill>
                <a:schemeClr val="bg1"/>
              </a:solidFill>
              <a:latin typeface="+mn-lt"/>
              <a:cs typeface="+mn-cs"/>
            </a:endParaRPr>
          </a:p>
          <a:p>
            <a:pPr>
              <a:defRPr/>
            </a:pPr>
            <a:r>
              <a:rPr lang="en-US" sz="2000" dirty="0">
                <a:solidFill>
                  <a:schemeClr val="bg1"/>
                </a:solidFill>
                <a:latin typeface="+mn-lt"/>
                <a:cs typeface="+mn-cs"/>
              </a:rPr>
              <a:t>Copyrighted protection of journal or publisher</a:t>
            </a:r>
          </a:p>
        </p:txBody>
      </p:sp>
      <p:sp>
        <p:nvSpPr>
          <p:cNvPr id="12" name="TextBox 11"/>
          <p:cNvSpPr txBox="1"/>
          <p:nvPr/>
        </p:nvSpPr>
        <p:spPr>
          <a:xfrm>
            <a:off x="5078413" y="2803525"/>
            <a:ext cx="3505200" cy="3540125"/>
          </a:xfrm>
          <a:prstGeom prst="rect">
            <a:avLst/>
          </a:prstGeom>
          <a:noFill/>
        </p:spPr>
        <p:txBody>
          <a:bodyPr>
            <a:spAutoFit/>
          </a:bodyPr>
          <a:lstStyle/>
          <a:p>
            <a:pPr>
              <a:defRPr/>
            </a:pPr>
            <a:r>
              <a:rPr lang="en-US" sz="2400" b="1" dirty="0">
                <a:solidFill>
                  <a:schemeClr val="bg1"/>
                </a:solidFill>
                <a:latin typeface="+mn-lt"/>
                <a:cs typeface="+mn-cs"/>
              </a:rPr>
              <a:t>No Business Model:</a:t>
            </a:r>
          </a:p>
          <a:p>
            <a:pPr>
              <a:defRPr/>
            </a:pPr>
            <a:endParaRPr lang="en-US" sz="2000" dirty="0">
              <a:solidFill>
                <a:schemeClr val="bg1"/>
              </a:solidFill>
              <a:latin typeface="+mn-lt"/>
              <a:cs typeface="+mn-cs"/>
            </a:endParaRPr>
          </a:p>
          <a:p>
            <a:pPr>
              <a:defRPr/>
            </a:pPr>
            <a:r>
              <a:rPr lang="en-US" sz="2000" dirty="0">
                <a:solidFill>
                  <a:schemeClr val="bg1"/>
                </a:solidFill>
                <a:latin typeface="+mn-lt"/>
                <a:cs typeface="+mn-cs"/>
              </a:rPr>
              <a:t>Medical information is now ubiquitous</a:t>
            </a:r>
          </a:p>
          <a:p>
            <a:pPr>
              <a:defRPr/>
            </a:pPr>
            <a:r>
              <a:rPr lang="en-US" sz="2000" dirty="0">
                <a:solidFill>
                  <a:schemeClr val="bg1"/>
                </a:solidFill>
                <a:latin typeface="+mn-lt"/>
                <a:cs typeface="+mn-cs"/>
              </a:rPr>
              <a:t>No entity should individually profit by selling medical information</a:t>
            </a:r>
          </a:p>
          <a:p>
            <a:pPr>
              <a:defRPr/>
            </a:pPr>
            <a:endParaRPr lang="en-US" sz="2000" dirty="0">
              <a:solidFill>
                <a:schemeClr val="bg1"/>
              </a:solidFill>
              <a:latin typeface="+mn-lt"/>
              <a:cs typeface="+mn-cs"/>
            </a:endParaRPr>
          </a:p>
          <a:p>
            <a:pPr>
              <a:defRPr/>
            </a:pPr>
            <a:endParaRPr lang="en-US" sz="2000" dirty="0">
              <a:solidFill>
                <a:schemeClr val="bg1"/>
              </a:solidFill>
              <a:latin typeface="+mn-lt"/>
              <a:cs typeface="+mn-cs"/>
            </a:endParaRPr>
          </a:p>
          <a:p>
            <a:pPr>
              <a:defRPr/>
            </a:pPr>
            <a:r>
              <a:rPr lang="en-US" sz="2000" dirty="0">
                <a:solidFill>
                  <a:schemeClr val="bg1"/>
                </a:solidFill>
                <a:latin typeface="+mn-lt"/>
                <a:cs typeface="+mn-cs"/>
              </a:rPr>
              <a:t>Copyleft  distribution to society</a:t>
            </a:r>
          </a:p>
        </p:txBody>
      </p:sp>
      <p:grpSp>
        <p:nvGrpSpPr>
          <p:cNvPr id="13323" name="Group 12"/>
          <p:cNvGrpSpPr>
            <a:grpSpLocks/>
          </p:cNvGrpSpPr>
          <p:nvPr/>
        </p:nvGrpSpPr>
        <p:grpSpPr bwMode="auto">
          <a:xfrm>
            <a:off x="76200" y="6461125"/>
            <a:ext cx="2736850" cy="369888"/>
            <a:chOff x="76200" y="6461774"/>
            <a:chExt cx="2736405" cy="369332"/>
          </a:xfrm>
        </p:grpSpPr>
        <p:pic>
          <p:nvPicPr>
            <p:cNvPr id="13324" name="Picture 13"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3" name="TextBox 12"/>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Limitations to Current Methods of Disseminating Medical Information</a:t>
            </a:r>
            <a:endParaRPr lang="en-US" dirty="0"/>
          </a:p>
        </p:txBody>
      </p:sp>
      <p:sp>
        <p:nvSpPr>
          <p:cNvPr id="3" name="Content Placeholder 2"/>
          <p:cNvSpPr>
            <a:spLocks noGrp="1"/>
          </p:cNvSpPr>
          <p:nvPr>
            <p:ph idx="1"/>
          </p:nvPr>
        </p:nvSpPr>
        <p:spPr>
          <a:xfrm>
            <a:off x="685800" y="2057400"/>
            <a:ext cx="7772400" cy="4114800"/>
          </a:xfrm>
        </p:spPr>
        <p:txBody>
          <a:bodyPr/>
          <a:lstStyle/>
          <a:p>
            <a:pPr>
              <a:defRPr/>
            </a:pPr>
            <a:r>
              <a:rPr lang="en-US" dirty="0" smtClean="0"/>
              <a:t>Textbooks</a:t>
            </a:r>
          </a:p>
          <a:p>
            <a:pPr>
              <a:defRPr/>
            </a:pPr>
            <a:r>
              <a:rPr lang="en-US" dirty="0" smtClean="0"/>
              <a:t>Journals</a:t>
            </a:r>
          </a:p>
          <a:p>
            <a:pPr>
              <a:defRPr/>
            </a:pPr>
            <a:r>
              <a:rPr lang="en-US" dirty="0" smtClean="0"/>
              <a:t>Websites</a:t>
            </a:r>
          </a:p>
          <a:p>
            <a:pPr>
              <a:defRPr/>
            </a:pPr>
            <a:endParaRPr lang="en-US" dirty="0" smtClean="0"/>
          </a:p>
          <a:p>
            <a:pPr>
              <a:defRPr/>
            </a:pPr>
            <a:r>
              <a:rPr lang="en-US" dirty="0" smtClean="0"/>
              <a:t>Shouldn’t all three be brought together?</a:t>
            </a:r>
            <a:endParaRPr lang="en-US" dirty="0"/>
          </a:p>
        </p:txBody>
      </p:sp>
      <p:grpSp>
        <p:nvGrpSpPr>
          <p:cNvPr id="14342" name="Group 3"/>
          <p:cNvGrpSpPr>
            <a:grpSpLocks/>
          </p:cNvGrpSpPr>
          <p:nvPr/>
        </p:nvGrpSpPr>
        <p:grpSpPr bwMode="auto">
          <a:xfrm>
            <a:off x="76200" y="6461125"/>
            <a:ext cx="2736850" cy="369888"/>
            <a:chOff x="76200" y="6461774"/>
            <a:chExt cx="2736405" cy="369332"/>
          </a:xfrm>
        </p:grpSpPr>
        <p:pic>
          <p:nvPicPr>
            <p:cNvPr id="14343"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AMA / JAMA Advertising Revenue</a:t>
            </a:r>
            <a:endParaRPr lang="en-US" dirty="0"/>
          </a:p>
        </p:txBody>
      </p:sp>
      <p:pic>
        <p:nvPicPr>
          <p:cNvPr id="1536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838200"/>
            <a:ext cx="6557963" cy="548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895600" y="6400800"/>
            <a:ext cx="6049963" cy="307975"/>
          </a:xfrm>
          <a:prstGeom prst="rect">
            <a:avLst/>
          </a:prstGeom>
          <a:noFill/>
        </p:spPr>
        <p:txBody>
          <a:bodyPr wrap="none">
            <a:spAutoFit/>
          </a:bodyPr>
          <a:lstStyle/>
          <a:p>
            <a:pPr>
              <a:defRPr/>
            </a:pPr>
            <a:r>
              <a:rPr lang="en-US" sz="1400" i="1" dirty="0">
                <a:solidFill>
                  <a:schemeClr val="bg1"/>
                </a:solidFill>
                <a:latin typeface="+mn-lt"/>
              </a:rPr>
              <a:t>http://www.ama-assn.org/ama1/pub/upload/mm/37/2008-annual-report.pdf</a:t>
            </a:r>
          </a:p>
        </p:txBody>
      </p:sp>
      <p:pic>
        <p:nvPicPr>
          <p:cNvPr id="15367"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endParaRPr lang="en-US"/>
          </a:p>
        </p:txBody>
      </p:sp>
      <p:sp>
        <p:nvSpPr>
          <p:cNvPr id="3" name="Content Placeholder 2"/>
          <p:cNvSpPr>
            <a:spLocks noGrp="1"/>
          </p:cNvSpPr>
          <p:nvPr>
            <p:ph idx="1"/>
          </p:nvPr>
        </p:nvSpPr>
        <p:spPr>
          <a:xfrm>
            <a:off x="322263" y="1447800"/>
            <a:ext cx="8382000" cy="4648200"/>
          </a:xfrm>
        </p:spPr>
        <p:txBody>
          <a:bodyPr/>
          <a:lstStyle/>
          <a:p>
            <a:pPr>
              <a:defRPr/>
            </a:pPr>
            <a:r>
              <a:rPr lang="en-US" sz="2800" dirty="0">
                <a:effectLst/>
              </a:rPr>
              <a:t>Median reprint orders for the seven journals ranged from </a:t>
            </a:r>
            <a:r>
              <a:rPr lang="en-US" sz="2800" dirty="0" smtClean="0">
                <a:effectLst/>
              </a:rPr>
              <a:t>3,000 </a:t>
            </a:r>
            <a:r>
              <a:rPr lang="en-US" sz="2800" dirty="0">
                <a:effectLst/>
              </a:rPr>
              <a:t>to </a:t>
            </a:r>
            <a:r>
              <a:rPr lang="en-US" sz="2800" dirty="0" smtClean="0">
                <a:effectLst/>
              </a:rPr>
              <a:t>126,350</a:t>
            </a:r>
            <a:r>
              <a:rPr lang="en-US" sz="2800" dirty="0">
                <a:effectLst/>
              </a:rPr>
              <a:t>. </a:t>
            </a:r>
            <a:r>
              <a:rPr lang="en-US" sz="2800" dirty="0">
                <a:solidFill>
                  <a:srgbClr val="FFC000"/>
                </a:solidFill>
                <a:effectLst/>
              </a:rPr>
              <a:t>Papers with high reprint orders were more likely to be funded by the pharmaceutical industry than were control papers </a:t>
            </a:r>
            <a:r>
              <a:rPr lang="en-US" sz="2800" dirty="0" smtClean="0">
                <a:effectLst/>
              </a:rPr>
              <a:t>(odds </a:t>
            </a:r>
            <a:r>
              <a:rPr lang="en-US" sz="2800" dirty="0">
                <a:effectLst/>
              </a:rPr>
              <a:t>ratio </a:t>
            </a:r>
            <a:r>
              <a:rPr lang="en-US" sz="2800" dirty="0">
                <a:solidFill>
                  <a:srgbClr val="FFC000"/>
                </a:solidFill>
                <a:effectLst/>
              </a:rPr>
              <a:t>8.64</a:t>
            </a:r>
            <a:r>
              <a:rPr lang="en-US" sz="2800" dirty="0">
                <a:effectLst/>
              </a:rPr>
              <a:t>, 95% confidence interval 5.09 to </a:t>
            </a:r>
            <a:r>
              <a:rPr lang="en-US" sz="2800" dirty="0" smtClean="0">
                <a:effectLst/>
              </a:rPr>
              <a:t>14.68)</a:t>
            </a:r>
          </a:p>
          <a:p>
            <a:pPr>
              <a:defRPr/>
            </a:pPr>
            <a:r>
              <a:rPr lang="en-US" sz="2800" dirty="0" smtClean="0">
                <a:effectLst/>
              </a:rPr>
              <a:t>There is “the </a:t>
            </a:r>
            <a:r>
              <a:rPr lang="en-US" sz="2800" dirty="0">
                <a:effectLst/>
              </a:rPr>
              <a:t>potential for future reprint orders influences decisions to publish particular articles</a:t>
            </a:r>
            <a:r>
              <a:rPr lang="en-US" sz="2800" dirty="0" smtClean="0">
                <a:effectLst/>
              </a:rPr>
              <a:t>.”</a:t>
            </a:r>
          </a:p>
          <a:p>
            <a:pPr>
              <a:defRPr/>
            </a:pPr>
            <a:r>
              <a:rPr lang="en-US" sz="2800" dirty="0" smtClean="0">
                <a:effectLst/>
              </a:rPr>
              <a:t>Up to 40% of revenues at a journal (example Lancet) come from reprint sales</a:t>
            </a:r>
            <a:endParaRPr lang="en-US" sz="2800" dirty="0"/>
          </a:p>
        </p:txBody>
      </p:sp>
      <p:sp>
        <p:nvSpPr>
          <p:cNvPr id="16390" name="TextBox 3"/>
          <p:cNvSpPr txBox="1">
            <a:spLocks noChangeArrowheads="1"/>
          </p:cNvSpPr>
          <p:nvPr/>
        </p:nvSpPr>
        <p:spPr bwMode="auto">
          <a:xfrm>
            <a:off x="7131050" y="6492875"/>
            <a:ext cx="1982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imes New Roman" pitchFamily="18" charset="0"/>
                <a:cs typeface="Arial" charset="0"/>
              </a:defRPr>
            </a:lvl1pPr>
            <a:lvl2pPr marL="742950" indent="-285750" eaLnBrk="0" hangingPunct="0">
              <a:defRPr sz="2200">
                <a:solidFill>
                  <a:schemeClr val="tx1"/>
                </a:solidFill>
                <a:latin typeface="Times New Roman" pitchFamily="18" charset="0"/>
                <a:cs typeface="Arial" charset="0"/>
              </a:defRPr>
            </a:lvl2pPr>
            <a:lvl3pPr marL="1143000" indent="-228600" eaLnBrk="0" hangingPunct="0">
              <a:defRPr sz="2200">
                <a:solidFill>
                  <a:schemeClr val="tx1"/>
                </a:solidFill>
                <a:latin typeface="Times New Roman" pitchFamily="18" charset="0"/>
                <a:cs typeface="Arial" charset="0"/>
              </a:defRPr>
            </a:lvl3pPr>
            <a:lvl4pPr marL="1600200" indent="-228600" eaLnBrk="0" hangingPunct="0">
              <a:defRPr sz="2200">
                <a:solidFill>
                  <a:schemeClr val="tx1"/>
                </a:solidFill>
                <a:latin typeface="Times New Roman" pitchFamily="18" charset="0"/>
                <a:cs typeface="Arial" charset="0"/>
              </a:defRPr>
            </a:lvl4pPr>
            <a:lvl5pPr marL="2057400" indent="-228600" eaLnBrk="0" hangingPunct="0">
              <a:defRPr sz="22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2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2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2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200">
                <a:solidFill>
                  <a:schemeClr val="tx1"/>
                </a:solidFill>
                <a:latin typeface="Times New Roman" pitchFamily="18" charset="0"/>
                <a:cs typeface="Arial" charset="0"/>
              </a:defRPr>
            </a:lvl9pPr>
          </a:lstStyle>
          <a:p>
            <a:pPr eaLnBrk="1" hangingPunct="1"/>
            <a:r>
              <a:rPr lang="en-US" sz="1600" i="1">
                <a:solidFill>
                  <a:schemeClr val="bg1"/>
                </a:solidFill>
              </a:rPr>
              <a:t>BMJ 2012;344:e4212</a:t>
            </a:r>
          </a:p>
        </p:txBody>
      </p:sp>
      <p:pic>
        <p:nvPicPr>
          <p:cNvPr id="16391"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92" name="Group 4"/>
          <p:cNvGrpSpPr>
            <a:grpSpLocks/>
          </p:cNvGrpSpPr>
          <p:nvPr/>
        </p:nvGrpSpPr>
        <p:grpSpPr bwMode="auto">
          <a:xfrm>
            <a:off x="76200" y="6461125"/>
            <a:ext cx="2736850" cy="369888"/>
            <a:chOff x="76200" y="6461774"/>
            <a:chExt cx="2736405" cy="369332"/>
          </a:xfrm>
        </p:grpSpPr>
        <p:pic>
          <p:nvPicPr>
            <p:cNvPr id="16393"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Clinical Research as </a:t>
            </a:r>
            <a:r>
              <a:rPr lang="en-US" dirty="0" err="1" smtClean="0"/>
              <a:t>Experimercials</a:t>
            </a:r>
            <a:endParaRPr lang="en-US" dirty="0"/>
          </a:p>
        </p:txBody>
      </p:sp>
      <p:sp>
        <p:nvSpPr>
          <p:cNvPr id="3" name="Content Placeholder 2"/>
          <p:cNvSpPr>
            <a:spLocks noGrp="1"/>
          </p:cNvSpPr>
          <p:nvPr>
            <p:ph idx="1"/>
          </p:nvPr>
        </p:nvSpPr>
        <p:spPr>
          <a:xfrm>
            <a:off x="381000" y="1676400"/>
            <a:ext cx="8534400" cy="2971800"/>
          </a:xfrm>
        </p:spPr>
        <p:txBody>
          <a:bodyPr/>
          <a:lstStyle/>
          <a:p>
            <a:pPr marL="0" indent="0">
              <a:buFontTx/>
              <a:buNone/>
              <a:defRPr/>
            </a:pPr>
            <a:r>
              <a:rPr lang="en-US" i="1" dirty="0" smtClean="0"/>
              <a:t>"Indeed, medical journals have become an important but </a:t>
            </a:r>
            <a:r>
              <a:rPr lang="en-US" i="1" dirty="0" err="1" smtClean="0"/>
              <a:t>underrecognized</a:t>
            </a:r>
            <a:r>
              <a:rPr lang="en-US" i="1" dirty="0" smtClean="0"/>
              <a:t> obstacle to scientific truth-telling. Journals have devolved into information-laundering operations for the pharmaceutical industry."</a:t>
            </a:r>
          </a:p>
          <a:p>
            <a:pPr>
              <a:defRPr/>
            </a:pPr>
            <a:endParaRPr lang="en-US" dirty="0"/>
          </a:p>
        </p:txBody>
      </p:sp>
      <p:sp>
        <p:nvSpPr>
          <p:cNvPr id="17414" name="TextBox 3"/>
          <p:cNvSpPr txBox="1">
            <a:spLocks noChangeArrowheads="1"/>
          </p:cNvSpPr>
          <p:nvPr/>
        </p:nvSpPr>
        <p:spPr bwMode="auto">
          <a:xfrm>
            <a:off x="3860800" y="6503988"/>
            <a:ext cx="51514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imes New Roman" pitchFamily="18" charset="0"/>
                <a:cs typeface="Arial" charset="0"/>
              </a:defRPr>
            </a:lvl1pPr>
            <a:lvl2pPr marL="742950" indent="-285750" eaLnBrk="0" hangingPunct="0">
              <a:defRPr sz="2200">
                <a:solidFill>
                  <a:schemeClr val="tx1"/>
                </a:solidFill>
                <a:latin typeface="Times New Roman" pitchFamily="18" charset="0"/>
                <a:cs typeface="Arial" charset="0"/>
              </a:defRPr>
            </a:lvl2pPr>
            <a:lvl3pPr marL="1143000" indent="-228600" eaLnBrk="0" hangingPunct="0">
              <a:defRPr sz="2200">
                <a:solidFill>
                  <a:schemeClr val="tx1"/>
                </a:solidFill>
                <a:latin typeface="Times New Roman" pitchFamily="18" charset="0"/>
                <a:cs typeface="Arial" charset="0"/>
              </a:defRPr>
            </a:lvl3pPr>
            <a:lvl4pPr marL="1600200" indent="-228600" eaLnBrk="0" hangingPunct="0">
              <a:defRPr sz="2200">
                <a:solidFill>
                  <a:schemeClr val="tx1"/>
                </a:solidFill>
                <a:latin typeface="Times New Roman" pitchFamily="18" charset="0"/>
                <a:cs typeface="Arial" charset="0"/>
              </a:defRPr>
            </a:lvl4pPr>
            <a:lvl5pPr marL="2057400" indent="-228600" eaLnBrk="0" hangingPunct="0">
              <a:defRPr sz="22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2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2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2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200">
                <a:solidFill>
                  <a:schemeClr val="tx1"/>
                </a:solidFill>
                <a:latin typeface="Times New Roman" pitchFamily="18" charset="0"/>
                <a:cs typeface="Arial" charset="0"/>
              </a:defRPr>
            </a:lvl9pPr>
          </a:lstStyle>
          <a:p>
            <a:pPr eaLnBrk="1" hangingPunct="1"/>
            <a:r>
              <a:rPr lang="en-US" sz="1200">
                <a:solidFill>
                  <a:schemeClr val="bg1"/>
                </a:solidFill>
              </a:rPr>
              <a:t>http://www.nybooks.com/articles/archives/2004/mar/11/the-dawn-of-mcscience/</a:t>
            </a:r>
          </a:p>
        </p:txBody>
      </p:sp>
      <p:sp>
        <p:nvSpPr>
          <p:cNvPr id="17415" name="Rectangle 4"/>
          <p:cNvSpPr>
            <a:spLocks noChangeArrowheads="1"/>
          </p:cNvSpPr>
          <p:nvPr/>
        </p:nvSpPr>
        <p:spPr bwMode="auto">
          <a:xfrm>
            <a:off x="1371600" y="4419600"/>
            <a:ext cx="7620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solidFill>
                  <a:schemeClr val="bg1"/>
                </a:solidFill>
                <a:hlinkClick r:id="rId2"/>
              </a:rPr>
              <a:t>Richard Horton</a:t>
            </a:r>
            <a:r>
              <a:rPr lang="en-US">
                <a:solidFill>
                  <a:schemeClr val="bg1"/>
                </a:solidFill>
              </a:rPr>
              <a:t>, editor of the British medical journal, </a:t>
            </a:r>
            <a:r>
              <a:rPr lang="en-US" i="1">
                <a:solidFill>
                  <a:schemeClr val="bg1"/>
                </a:solidFill>
              </a:rPr>
              <a:t>The Lancet</a:t>
            </a:r>
            <a:endParaRPr lang="en-US">
              <a:solidFill>
                <a:schemeClr val="bg1"/>
              </a:solidFill>
            </a:endParaRPr>
          </a:p>
        </p:txBody>
      </p:sp>
      <p:pic>
        <p:nvPicPr>
          <p:cNvPr id="17416" name="Picture 5"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417" name="Group 4"/>
          <p:cNvGrpSpPr>
            <a:grpSpLocks/>
          </p:cNvGrpSpPr>
          <p:nvPr/>
        </p:nvGrpSpPr>
        <p:grpSpPr bwMode="auto">
          <a:xfrm>
            <a:off x="76200" y="6461125"/>
            <a:ext cx="2736850" cy="369888"/>
            <a:chOff x="76200" y="6461774"/>
            <a:chExt cx="2736405" cy="369332"/>
          </a:xfrm>
        </p:grpSpPr>
        <p:pic>
          <p:nvPicPr>
            <p:cNvPr id="17418" name="Picture 5"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Current Model: Textbooks</a:t>
            </a:r>
            <a:endParaRPr lang="en-US" dirty="0"/>
          </a:p>
        </p:txBody>
      </p:sp>
      <p:sp>
        <p:nvSpPr>
          <p:cNvPr id="3" name="Content Placeholder 2"/>
          <p:cNvSpPr>
            <a:spLocks noGrp="1"/>
          </p:cNvSpPr>
          <p:nvPr>
            <p:ph idx="1"/>
          </p:nvPr>
        </p:nvSpPr>
        <p:spPr>
          <a:xfrm>
            <a:off x="685800" y="1676400"/>
            <a:ext cx="7772400" cy="4724400"/>
          </a:xfrm>
        </p:spPr>
        <p:txBody>
          <a:bodyPr/>
          <a:lstStyle/>
          <a:p>
            <a:pPr>
              <a:defRPr/>
            </a:pPr>
            <a:r>
              <a:rPr lang="en-US" dirty="0" smtClean="0"/>
              <a:t>Paper format</a:t>
            </a:r>
          </a:p>
          <a:p>
            <a:pPr>
              <a:defRPr/>
            </a:pPr>
            <a:r>
              <a:rPr lang="en-US" dirty="0" smtClean="0"/>
              <a:t>Outdated before it is printed</a:t>
            </a:r>
          </a:p>
          <a:p>
            <a:pPr>
              <a:defRPr/>
            </a:pPr>
            <a:r>
              <a:rPr lang="en-US" dirty="0" smtClean="0"/>
              <a:t>Represents views of selected authors</a:t>
            </a:r>
          </a:p>
          <a:p>
            <a:pPr>
              <a:defRPr/>
            </a:pPr>
            <a:r>
              <a:rPr lang="en-US" dirty="0" smtClean="0"/>
              <a:t>Broad community peer review lacking</a:t>
            </a:r>
          </a:p>
          <a:p>
            <a:pPr>
              <a:defRPr/>
            </a:pPr>
            <a:r>
              <a:rPr lang="en-US" dirty="0" smtClean="0"/>
              <a:t>Text based: No video, no audio, non-interactive, one way flow of information</a:t>
            </a:r>
          </a:p>
        </p:txBody>
      </p:sp>
      <p:grpSp>
        <p:nvGrpSpPr>
          <p:cNvPr id="18438" name="Group 3"/>
          <p:cNvGrpSpPr>
            <a:grpSpLocks/>
          </p:cNvGrpSpPr>
          <p:nvPr/>
        </p:nvGrpSpPr>
        <p:grpSpPr bwMode="auto">
          <a:xfrm>
            <a:off x="76200" y="6461125"/>
            <a:ext cx="2736850" cy="369888"/>
            <a:chOff x="76200" y="6461774"/>
            <a:chExt cx="2736405" cy="369332"/>
          </a:xfrm>
        </p:grpSpPr>
        <p:pic>
          <p:nvPicPr>
            <p:cNvPr id="18439"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The Textbook Business Model</a:t>
            </a:r>
            <a:endParaRPr lang="en-US" dirty="0"/>
          </a:p>
        </p:txBody>
      </p:sp>
      <p:sp>
        <p:nvSpPr>
          <p:cNvPr id="3" name="Content Placeholder 2"/>
          <p:cNvSpPr>
            <a:spLocks noGrp="1"/>
          </p:cNvSpPr>
          <p:nvPr>
            <p:ph idx="1"/>
          </p:nvPr>
        </p:nvSpPr>
        <p:spPr/>
        <p:txBody>
          <a:bodyPr/>
          <a:lstStyle/>
          <a:p>
            <a:pPr>
              <a:defRPr/>
            </a:pPr>
            <a:r>
              <a:rPr lang="en-US" dirty="0" smtClean="0"/>
              <a:t>Material is copyrighted: It is owned by the publisher, it cannot be broadly disseminated, it cannot be repurposed</a:t>
            </a:r>
          </a:p>
          <a:p>
            <a:pPr>
              <a:defRPr/>
            </a:pPr>
            <a:r>
              <a:rPr lang="en-US" dirty="0" smtClean="0"/>
              <a:t>Access limited to those who can afford textbook</a:t>
            </a:r>
          </a:p>
          <a:p>
            <a:pPr>
              <a:defRPr/>
            </a:pPr>
            <a:endParaRPr lang="en-US" dirty="0"/>
          </a:p>
        </p:txBody>
      </p:sp>
      <p:grpSp>
        <p:nvGrpSpPr>
          <p:cNvPr id="19462" name="Group 3"/>
          <p:cNvGrpSpPr>
            <a:grpSpLocks/>
          </p:cNvGrpSpPr>
          <p:nvPr/>
        </p:nvGrpSpPr>
        <p:grpSpPr bwMode="auto">
          <a:xfrm>
            <a:off x="76200" y="6461125"/>
            <a:ext cx="2736850" cy="369888"/>
            <a:chOff x="76200" y="6461774"/>
            <a:chExt cx="2736405" cy="369332"/>
          </a:xfrm>
        </p:grpSpPr>
        <p:pic>
          <p:nvPicPr>
            <p:cNvPr id="19463"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Retail Price of Cardiovascular Textbooks in US Dollars</a:t>
            </a:r>
            <a:endParaRPr lang="en-US" dirty="0"/>
          </a:p>
        </p:txBody>
      </p:sp>
      <p:graphicFrame>
        <p:nvGraphicFramePr>
          <p:cNvPr id="4" name="Table 3"/>
          <p:cNvGraphicFramePr>
            <a:graphicFrameLocks noGrp="1"/>
          </p:cNvGraphicFramePr>
          <p:nvPr/>
        </p:nvGraphicFramePr>
        <p:xfrm>
          <a:off x="457200" y="2057400"/>
          <a:ext cx="8229600" cy="1482725"/>
        </p:xfrm>
        <a:graphic>
          <a:graphicData uri="http://schemas.openxmlformats.org/drawingml/2006/table">
            <a:tbl>
              <a:tblPr/>
              <a:tblGrid>
                <a:gridCol w="2709124"/>
                <a:gridCol w="2095736"/>
                <a:gridCol w="3424740"/>
              </a:tblGrid>
              <a:tr h="1107279">
                <a:tc>
                  <a:txBody>
                    <a:bodyPr/>
                    <a:lstStyle/>
                    <a:p>
                      <a:pPr algn="ctr" fontAlgn="ctr"/>
                      <a:r>
                        <a:rPr lang="en-US" sz="2400" b="0" i="0" u="none" strike="noStrike" dirty="0">
                          <a:solidFill>
                            <a:schemeClr val="bg1"/>
                          </a:solidFill>
                          <a:latin typeface="Calibri"/>
                        </a:rPr>
                        <a:t>Braunwald's</a:t>
                      </a:r>
                      <a:br>
                        <a:rPr lang="en-US" sz="2400" b="0" i="0" u="none" strike="noStrike" dirty="0">
                          <a:solidFill>
                            <a:schemeClr val="bg1"/>
                          </a:solidFill>
                          <a:latin typeface="Calibri"/>
                        </a:rPr>
                      </a:br>
                      <a:r>
                        <a:rPr lang="en-US" sz="2400" b="0" i="0" u="none" strike="noStrike" dirty="0">
                          <a:solidFill>
                            <a:schemeClr val="bg1"/>
                          </a:solidFill>
                          <a:latin typeface="Calibri"/>
                        </a:rPr>
                        <a:t>Heart Disease</a:t>
                      </a:r>
                      <a:br>
                        <a:rPr lang="en-US" sz="2400" b="0" i="0" u="none" strike="noStrike" dirty="0">
                          <a:solidFill>
                            <a:schemeClr val="bg1"/>
                          </a:solidFill>
                          <a:latin typeface="Calibri"/>
                        </a:rPr>
                      </a:br>
                      <a:r>
                        <a:rPr lang="en-US" sz="2400" b="0" i="0" u="none" strike="noStrike" dirty="0">
                          <a:solidFill>
                            <a:schemeClr val="bg1"/>
                          </a:solidFill>
                          <a:latin typeface="Calibri"/>
                        </a:rPr>
                        <a:t>8th Edition</a:t>
                      </a:r>
                    </a:p>
                  </a:txBody>
                  <a:tcPr marL="9525" marR="9525" marT="9529" marB="0"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lumMod val="95000"/>
                        <a:lumOff val="5000"/>
                      </a:schemeClr>
                    </a:solidFill>
                  </a:tcPr>
                </a:tc>
                <a:tc>
                  <a:txBody>
                    <a:bodyPr/>
                    <a:lstStyle/>
                    <a:p>
                      <a:pPr algn="ctr" fontAlgn="ctr"/>
                      <a:r>
                        <a:rPr lang="en-US" sz="2400" b="0" i="0" u="none" strike="noStrike" dirty="0">
                          <a:solidFill>
                            <a:schemeClr val="bg1"/>
                          </a:solidFill>
                          <a:latin typeface="Calibri"/>
                        </a:rPr>
                        <a:t>Hurst's</a:t>
                      </a:r>
                      <a:br>
                        <a:rPr lang="en-US" sz="2400" b="0" i="0" u="none" strike="noStrike" dirty="0">
                          <a:solidFill>
                            <a:schemeClr val="bg1"/>
                          </a:solidFill>
                          <a:latin typeface="Calibri"/>
                        </a:rPr>
                      </a:br>
                      <a:r>
                        <a:rPr lang="en-US" sz="2400" b="0" i="0" u="none" strike="noStrike" dirty="0">
                          <a:solidFill>
                            <a:schemeClr val="bg1"/>
                          </a:solidFill>
                          <a:latin typeface="Calibri"/>
                        </a:rPr>
                        <a:t>The Heart</a:t>
                      </a:r>
                      <a:br>
                        <a:rPr lang="en-US" sz="2400" b="0" i="0" u="none" strike="noStrike" dirty="0">
                          <a:solidFill>
                            <a:schemeClr val="bg1"/>
                          </a:solidFill>
                          <a:latin typeface="Calibri"/>
                        </a:rPr>
                      </a:br>
                      <a:r>
                        <a:rPr lang="en-US" sz="2400" b="0" i="0" u="none" strike="noStrike" dirty="0">
                          <a:solidFill>
                            <a:schemeClr val="bg1"/>
                          </a:solidFill>
                          <a:latin typeface="Calibri"/>
                        </a:rPr>
                        <a:t>12th Edition</a:t>
                      </a:r>
                    </a:p>
                  </a:txBody>
                  <a:tcPr marL="9525" marR="9525" marT="9529" marB="0"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lumMod val="95000"/>
                        <a:lumOff val="5000"/>
                      </a:schemeClr>
                    </a:solidFill>
                  </a:tcPr>
                </a:tc>
                <a:tc>
                  <a:txBody>
                    <a:bodyPr/>
                    <a:lstStyle/>
                    <a:p>
                      <a:pPr algn="ctr" fontAlgn="ctr"/>
                      <a:r>
                        <a:rPr lang="en-US" sz="2400" b="0" i="0" u="none" strike="noStrike" dirty="0">
                          <a:solidFill>
                            <a:schemeClr val="bg1"/>
                          </a:solidFill>
                          <a:latin typeface="Calibri"/>
                        </a:rPr>
                        <a:t>Textbook of Cardiovascular Medicine, Topol</a:t>
                      </a:r>
                      <a:br>
                        <a:rPr lang="en-US" sz="2400" b="0" i="0" u="none" strike="noStrike" dirty="0">
                          <a:solidFill>
                            <a:schemeClr val="bg1"/>
                          </a:solidFill>
                          <a:latin typeface="Calibri"/>
                        </a:rPr>
                      </a:br>
                      <a:r>
                        <a:rPr lang="en-US" sz="2400" b="0" i="0" u="none" strike="noStrike" dirty="0">
                          <a:solidFill>
                            <a:schemeClr val="bg1"/>
                          </a:solidFill>
                          <a:latin typeface="Calibri"/>
                        </a:rPr>
                        <a:t>3rd Edition</a:t>
                      </a:r>
                    </a:p>
                  </a:txBody>
                  <a:tcPr marL="9525" marR="9525" marT="9529" marB="0" anchor="ctr">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lumMod val="95000"/>
                        <a:lumOff val="5000"/>
                      </a:schemeClr>
                    </a:solidFill>
                  </a:tcPr>
                </a:tc>
              </a:tr>
              <a:tr h="375446">
                <a:tc>
                  <a:txBody>
                    <a:bodyPr/>
                    <a:lstStyle/>
                    <a:p>
                      <a:pPr algn="ctr" fontAlgn="b"/>
                      <a:r>
                        <a:rPr lang="en-US" sz="2400" b="0" i="0" u="none" strike="noStrike" dirty="0" smtClean="0">
                          <a:solidFill>
                            <a:schemeClr val="bg1"/>
                          </a:solidFill>
                          <a:latin typeface="Calibri"/>
                        </a:rPr>
                        <a:t>$157 </a:t>
                      </a:r>
                      <a:r>
                        <a:rPr lang="en-US" sz="2400" b="0" i="0" u="none" strike="noStrike" dirty="0">
                          <a:solidFill>
                            <a:schemeClr val="bg1"/>
                          </a:solidFill>
                          <a:latin typeface="Calibri"/>
                        </a:rPr>
                        <a:t>- 190</a:t>
                      </a:r>
                    </a:p>
                  </a:txBody>
                  <a:tcPr marL="9525" marR="9525" marT="9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50000"/>
                      </a:schemeClr>
                    </a:solidFill>
                  </a:tcPr>
                </a:tc>
                <a:tc>
                  <a:txBody>
                    <a:bodyPr/>
                    <a:lstStyle/>
                    <a:p>
                      <a:pPr algn="ctr" fontAlgn="b"/>
                      <a:r>
                        <a:rPr lang="en-US" sz="2400" b="0" i="0" u="none" strike="noStrike" dirty="0" smtClean="0">
                          <a:solidFill>
                            <a:schemeClr val="bg1"/>
                          </a:solidFill>
                          <a:latin typeface="Calibri"/>
                        </a:rPr>
                        <a:t> $170 </a:t>
                      </a:r>
                      <a:r>
                        <a:rPr lang="en-US" sz="2400" b="0" i="0" u="none" strike="noStrike" dirty="0">
                          <a:solidFill>
                            <a:schemeClr val="bg1"/>
                          </a:solidFill>
                          <a:latin typeface="Calibri"/>
                        </a:rPr>
                        <a:t>- 225</a:t>
                      </a:r>
                    </a:p>
                  </a:txBody>
                  <a:tcPr marL="9525" marR="9525" marT="9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50000"/>
                      </a:schemeClr>
                    </a:solidFill>
                  </a:tcPr>
                </a:tc>
                <a:tc>
                  <a:txBody>
                    <a:bodyPr/>
                    <a:lstStyle/>
                    <a:p>
                      <a:pPr algn="ctr" fontAlgn="b"/>
                      <a:r>
                        <a:rPr lang="en-US" sz="2400" b="0" i="0" u="none" strike="noStrike" dirty="0" smtClean="0">
                          <a:solidFill>
                            <a:schemeClr val="bg1"/>
                          </a:solidFill>
                          <a:latin typeface="Calibri"/>
                        </a:rPr>
                        <a:t>$217 </a:t>
                      </a:r>
                      <a:r>
                        <a:rPr lang="en-US" sz="2400" b="0" i="0" u="none" strike="noStrike" dirty="0">
                          <a:solidFill>
                            <a:schemeClr val="bg1"/>
                          </a:solidFill>
                          <a:latin typeface="Calibri"/>
                        </a:rPr>
                        <a:t>- 229</a:t>
                      </a:r>
                    </a:p>
                  </a:txBody>
                  <a:tcPr marL="9525" marR="9525" marT="9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50000"/>
                      </a:schemeClr>
                    </a:solidFill>
                  </a:tcPr>
                </a:tc>
              </a:tr>
            </a:tbl>
          </a:graphicData>
        </a:graphic>
      </p:graphicFrame>
      <p:grpSp>
        <p:nvGrpSpPr>
          <p:cNvPr id="20494" name="Group 4"/>
          <p:cNvGrpSpPr>
            <a:grpSpLocks/>
          </p:cNvGrpSpPr>
          <p:nvPr/>
        </p:nvGrpSpPr>
        <p:grpSpPr bwMode="auto">
          <a:xfrm>
            <a:off x="76200" y="6461125"/>
            <a:ext cx="2736850" cy="369888"/>
            <a:chOff x="76200" y="6461774"/>
            <a:chExt cx="2736405" cy="369332"/>
          </a:xfrm>
        </p:grpSpPr>
        <p:pic>
          <p:nvPicPr>
            <p:cNvPr id="20495"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General Practitioner and Specialist’s Income</a:t>
            </a:r>
            <a:endParaRPr lang="en-US" dirty="0"/>
          </a:p>
        </p:txBody>
      </p:sp>
      <p:graphicFrame>
        <p:nvGraphicFramePr>
          <p:cNvPr id="4" name="Table 3"/>
          <p:cNvGraphicFramePr>
            <a:graphicFrameLocks noGrp="1"/>
          </p:cNvGraphicFramePr>
          <p:nvPr/>
        </p:nvGraphicFramePr>
        <p:xfrm>
          <a:off x="533401" y="1752600"/>
          <a:ext cx="8077199" cy="4267200"/>
        </p:xfrm>
        <a:graphic>
          <a:graphicData uri="http://schemas.openxmlformats.org/drawingml/2006/table">
            <a:tbl>
              <a:tblPr>
                <a:effectLst>
                  <a:outerShdw blurRad="50800" dist="38100" dir="2700000" algn="tl" rotWithShape="0">
                    <a:prstClr val="black">
                      <a:alpha val="40000"/>
                    </a:prstClr>
                  </a:outerShdw>
                </a:effectLst>
              </a:tblPr>
              <a:tblGrid>
                <a:gridCol w="1986436"/>
                <a:gridCol w="1489827"/>
                <a:gridCol w="1643191"/>
                <a:gridCol w="1314554"/>
                <a:gridCol w="1643191"/>
              </a:tblGrid>
              <a:tr h="1280160">
                <a:tc>
                  <a:txBody>
                    <a:bodyPr/>
                    <a:lstStyle/>
                    <a:p>
                      <a:pPr algn="ctr" fontAlgn="ctr"/>
                      <a:r>
                        <a:rPr lang="en-US" sz="2000" b="1" i="0" u="none" strike="noStrike" dirty="0">
                          <a:solidFill>
                            <a:schemeClr val="bg1"/>
                          </a:solidFill>
                          <a:latin typeface="+mn-lt"/>
                        </a:rPr>
                        <a:t>Country</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ctr"/>
                      <a:r>
                        <a:rPr lang="en-US" sz="2000" b="1" i="0" u="none" strike="noStrike" dirty="0">
                          <a:solidFill>
                            <a:schemeClr val="bg1"/>
                          </a:solidFill>
                          <a:latin typeface="+mn-lt"/>
                        </a:rPr>
                        <a:t>GDP</a:t>
                      </a:r>
                      <a:br>
                        <a:rPr lang="en-US" sz="2000" b="1" i="0" u="none" strike="noStrike" dirty="0">
                          <a:solidFill>
                            <a:schemeClr val="bg1"/>
                          </a:solidFill>
                          <a:latin typeface="+mn-lt"/>
                        </a:rPr>
                      </a:br>
                      <a:r>
                        <a:rPr lang="en-US" sz="2000" b="1" i="0" u="none" strike="noStrike" dirty="0">
                          <a:solidFill>
                            <a:schemeClr val="bg1"/>
                          </a:solidFill>
                          <a:latin typeface="+mn-lt"/>
                        </a:rPr>
                        <a:t>per capita</a:t>
                      </a:r>
                      <a:br>
                        <a:rPr lang="en-US" sz="2000" b="1" i="0" u="none" strike="noStrike" dirty="0">
                          <a:solidFill>
                            <a:schemeClr val="bg1"/>
                          </a:solidFill>
                          <a:latin typeface="+mn-lt"/>
                        </a:rPr>
                      </a:br>
                      <a:r>
                        <a:rPr lang="en-US" sz="2000" b="1" i="0" u="none" strike="noStrike" dirty="0" smtClean="0">
                          <a:solidFill>
                            <a:schemeClr val="bg1"/>
                          </a:solidFill>
                          <a:latin typeface="+mn-lt"/>
                        </a:rPr>
                        <a:t>USD ($)</a:t>
                      </a:r>
                      <a:endParaRPr lang="en-US" sz="2000" b="1" i="0" u="none" strike="noStrike" dirty="0">
                        <a:solidFill>
                          <a:schemeClr val="bg1"/>
                        </a:solidFill>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ctr"/>
                      <a:r>
                        <a:rPr lang="en-US" sz="2000" b="1" i="0" u="none" strike="noStrike" dirty="0">
                          <a:solidFill>
                            <a:schemeClr val="bg1"/>
                          </a:solidFill>
                          <a:latin typeface="+mn-lt"/>
                        </a:rPr>
                        <a:t>Population </a:t>
                      </a:r>
                      <a:br>
                        <a:rPr lang="en-US" sz="2000" b="1" i="0" u="none" strike="noStrike" dirty="0">
                          <a:solidFill>
                            <a:schemeClr val="bg1"/>
                          </a:solidFill>
                          <a:latin typeface="+mn-lt"/>
                        </a:rPr>
                      </a:br>
                      <a:r>
                        <a:rPr lang="en-US" sz="2000" b="1" i="0" u="none" strike="noStrike" dirty="0">
                          <a:solidFill>
                            <a:schemeClr val="bg1"/>
                          </a:solidFill>
                          <a:latin typeface="+mn-lt"/>
                        </a:rPr>
                        <a:t>(million)</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ctr"/>
                      <a:r>
                        <a:rPr lang="en-US" sz="2000" b="1" i="0" u="none" strike="noStrike" dirty="0">
                          <a:solidFill>
                            <a:schemeClr val="bg1"/>
                          </a:solidFill>
                          <a:latin typeface="+mn-lt"/>
                        </a:rPr>
                        <a:t>GP's</a:t>
                      </a:r>
                      <a:br>
                        <a:rPr lang="en-US" sz="2000" b="1" i="0" u="none" strike="noStrike" dirty="0">
                          <a:solidFill>
                            <a:schemeClr val="bg1"/>
                          </a:solidFill>
                          <a:latin typeface="+mn-lt"/>
                        </a:rPr>
                      </a:br>
                      <a:r>
                        <a:rPr lang="en-US" sz="2000" b="1" i="0" u="none" strike="noStrike" dirty="0">
                          <a:solidFill>
                            <a:schemeClr val="bg1"/>
                          </a:solidFill>
                          <a:latin typeface="+mn-lt"/>
                        </a:rPr>
                        <a:t>Monthly </a:t>
                      </a:r>
                      <a:r>
                        <a:rPr lang="en-US" sz="2000" b="1" i="0" u="none" strike="noStrike" dirty="0" smtClean="0">
                          <a:solidFill>
                            <a:schemeClr val="bg1"/>
                          </a:solidFill>
                          <a:latin typeface="+mn-lt"/>
                        </a:rPr>
                        <a:t>Salary (USD $)</a:t>
                      </a:r>
                      <a:endParaRPr lang="en-US" sz="2000" b="1" i="0" u="none" strike="noStrike" dirty="0">
                        <a:solidFill>
                          <a:schemeClr val="bg1"/>
                        </a:solidFill>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ctr"/>
                      <a:r>
                        <a:rPr lang="en-US" sz="2000" b="1" i="0" u="none" strike="noStrike" dirty="0">
                          <a:solidFill>
                            <a:schemeClr val="bg1"/>
                          </a:solidFill>
                          <a:latin typeface="+mn-lt"/>
                        </a:rPr>
                        <a:t>Specialist's</a:t>
                      </a:r>
                      <a:br>
                        <a:rPr lang="en-US" sz="2000" b="1" i="0" u="none" strike="noStrike" dirty="0">
                          <a:solidFill>
                            <a:schemeClr val="bg1"/>
                          </a:solidFill>
                          <a:latin typeface="+mn-lt"/>
                        </a:rPr>
                      </a:br>
                      <a:r>
                        <a:rPr lang="en-US" sz="2000" b="1" i="0" u="none" strike="noStrike" dirty="0">
                          <a:solidFill>
                            <a:schemeClr val="bg1"/>
                          </a:solidFill>
                          <a:latin typeface="+mn-lt"/>
                        </a:rPr>
                        <a:t>Monthly </a:t>
                      </a:r>
                      <a:r>
                        <a:rPr lang="en-US" sz="2000" b="1" i="0" u="none" strike="noStrike" dirty="0" smtClean="0">
                          <a:solidFill>
                            <a:schemeClr val="bg1"/>
                          </a:solidFill>
                          <a:latin typeface="+mn-lt"/>
                        </a:rPr>
                        <a:t>Salary</a:t>
                      </a:r>
                    </a:p>
                    <a:p>
                      <a:pPr algn="ctr" fontAlgn="ctr"/>
                      <a:r>
                        <a:rPr lang="en-US" sz="2000" b="1" i="0" u="none" strike="noStrike" dirty="0" smtClean="0">
                          <a:solidFill>
                            <a:schemeClr val="bg1"/>
                          </a:solidFill>
                          <a:latin typeface="+mn-lt"/>
                        </a:rPr>
                        <a:t>(USD $)</a:t>
                      </a:r>
                      <a:endParaRPr lang="en-US" sz="2000" b="1" i="0" u="none" strike="noStrike" dirty="0">
                        <a:solidFill>
                          <a:schemeClr val="bg1"/>
                        </a:solidFill>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r>
              <a:tr h="426720">
                <a:tc>
                  <a:txBody>
                    <a:bodyPr/>
                    <a:lstStyle/>
                    <a:p>
                      <a:pPr algn="l" fontAlgn="t"/>
                      <a:r>
                        <a:rPr lang="en-US" sz="2000" b="1" i="0" u="none" strike="noStrike" dirty="0">
                          <a:solidFill>
                            <a:schemeClr val="bg1"/>
                          </a:solidFill>
                          <a:latin typeface="+mn-lt"/>
                        </a:rPr>
                        <a:t>Tajikistan</a:t>
                      </a: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b"/>
                      <a:r>
                        <a:rPr lang="en-US" sz="2000" b="1" i="0" u="none" strike="noStrike" dirty="0">
                          <a:solidFill>
                            <a:schemeClr val="bg1"/>
                          </a:solidFill>
                          <a:latin typeface="+mn-lt"/>
                        </a:rPr>
                        <a:t>1300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7.1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35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50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26720">
                <a:tc>
                  <a:txBody>
                    <a:bodyPr/>
                    <a:lstStyle/>
                    <a:p>
                      <a:pPr algn="l" fontAlgn="t"/>
                      <a:r>
                        <a:rPr lang="en-US" sz="2000" b="1" i="0" u="none" strike="noStrike">
                          <a:solidFill>
                            <a:schemeClr val="bg1"/>
                          </a:solidFill>
                          <a:latin typeface="+mn-lt"/>
                        </a:rPr>
                        <a:t>India</a:t>
                      </a: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b"/>
                      <a:r>
                        <a:rPr lang="en-US" sz="2000" b="1" i="0" u="none" strike="noStrike" dirty="0">
                          <a:solidFill>
                            <a:schemeClr val="bg1"/>
                          </a:solidFill>
                          <a:latin typeface="+mn-lt"/>
                        </a:rPr>
                        <a:t>3800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1128.2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637</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1274</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26720">
                <a:tc>
                  <a:txBody>
                    <a:bodyPr/>
                    <a:lstStyle/>
                    <a:p>
                      <a:pPr algn="l" fontAlgn="t"/>
                      <a:r>
                        <a:rPr lang="en-US" sz="2000" b="1" i="0" u="none" strike="noStrike">
                          <a:solidFill>
                            <a:schemeClr val="bg1"/>
                          </a:solidFill>
                          <a:latin typeface="+mn-lt"/>
                        </a:rPr>
                        <a:t>Azerbaijan</a:t>
                      </a: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b"/>
                      <a:r>
                        <a:rPr lang="en-US" sz="2000" b="1" i="0" u="none" strike="noStrike" dirty="0">
                          <a:solidFill>
                            <a:schemeClr val="bg1"/>
                          </a:solidFill>
                          <a:latin typeface="+mn-lt"/>
                        </a:rPr>
                        <a:t>7500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8.5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130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155</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26720">
                <a:tc>
                  <a:txBody>
                    <a:bodyPr/>
                    <a:lstStyle/>
                    <a:p>
                      <a:pPr algn="l" fontAlgn="t"/>
                      <a:r>
                        <a:rPr lang="en-US" sz="2000" b="1" i="0" u="none" strike="noStrike">
                          <a:solidFill>
                            <a:schemeClr val="bg1"/>
                          </a:solidFill>
                          <a:latin typeface="+mn-lt"/>
                        </a:rPr>
                        <a:t>China</a:t>
                      </a: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b"/>
                      <a:r>
                        <a:rPr lang="en-US" sz="2000" b="1" i="0" u="none" strike="noStrike" dirty="0">
                          <a:solidFill>
                            <a:schemeClr val="bg1"/>
                          </a:solidFill>
                          <a:latin typeface="+mn-lt"/>
                        </a:rPr>
                        <a:t>7800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1323.6</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133 - 160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170 - 230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26720">
                <a:tc>
                  <a:txBody>
                    <a:bodyPr/>
                    <a:lstStyle/>
                    <a:p>
                      <a:pPr algn="l" fontAlgn="t"/>
                      <a:r>
                        <a:rPr lang="en-US" sz="2000" b="1" i="0" u="none" strike="noStrike">
                          <a:solidFill>
                            <a:schemeClr val="bg1"/>
                          </a:solidFill>
                          <a:latin typeface="+mn-lt"/>
                        </a:rPr>
                        <a:t>Russia</a:t>
                      </a: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b"/>
                      <a:r>
                        <a:rPr lang="en-US" sz="2000" b="1" i="0" u="none" strike="noStrike" dirty="0">
                          <a:solidFill>
                            <a:schemeClr val="bg1"/>
                          </a:solidFill>
                          <a:latin typeface="+mn-lt"/>
                        </a:rPr>
                        <a:t>12200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142.3</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210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a:solidFill>
                            <a:schemeClr val="bg1"/>
                          </a:solidFill>
                          <a:latin typeface="+mn-lt"/>
                        </a:rPr>
                        <a:t>290 - 320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26720">
                <a:tc>
                  <a:txBody>
                    <a:bodyPr/>
                    <a:lstStyle/>
                    <a:p>
                      <a:pPr algn="l" fontAlgn="t"/>
                      <a:r>
                        <a:rPr lang="en-US" sz="2000" b="1" i="0" u="none" strike="noStrike">
                          <a:solidFill>
                            <a:schemeClr val="bg1"/>
                          </a:solidFill>
                          <a:latin typeface="+mn-lt"/>
                        </a:rPr>
                        <a:t>Poland</a:t>
                      </a: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b"/>
                      <a:r>
                        <a:rPr lang="en-US" sz="2000" b="1" i="0" u="none" strike="noStrike" dirty="0">
                          <a:solidFill>
                            <a:schemeClr val="bg1"/>
                          </a:solidFill>
                          <a:latin typeface="+mn-lt"/>
                        </a:rPr>
                        <a:t>14400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38.2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580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750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26720">
                <a:tc>
                  <a:txBody>
                    <a:bodyPr/>
                    <a:lstStyle/>
                    <a:p>
                      <a:pPr algn="l" fontAlgn="t"/>
                      <a:r>
                        <a:rPr lang="en-US" sz="2000" b="1" i="0" u="none" strike="noStrike">
                          <a:solidFill>
                            <a:schemeClr val="bg1"/>
                          </a:solidFill>
                          <a:latin typeface="+mn-lt"/>
                        </a:rPr>
                        <a:t>United States</a:t>
                      </a: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fontAlgn="b"/>
                      <a:r>
                        <a:rPr lang="en-US" sz="2000" b="1" i="0" u="none" strike="noStrike" dirty="0">
                          <a:solidFill>
                            <a:schemeClr val="bg1"/>
                          </a:solidFill>
                          <a:latin typeface="+mn-lt"/>
                        </a:rPr>
                        <a:t>43800</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r>
                        <a:rPr lang="en-US" sz="2000" b="1" i="0" u="none" strike="noStrike" dirty="0">
                          <a:solidFill>
                            <a:schemeClr val="bg1"/>
                          </a:solidFill>
                          <a:latin typeface="+mn-lt"/>
                        </a:rPr>
                        <a:t>301.1</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endParaRPr lang="en-US" sz="2000" b="1" i="0" u="none" strike="noStrike">
                        <a:solidFill>
                          <a:schemeClr val="bg1"/>
                        </a:solidFill>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fontAlgn="b"/>
                      <a:endParaRPr lang="en-US" sz="2000" b="1" i="0" u="none" strike="noStrike" dirty="0">
                        <a:solidFill>
                          <a:schemeClr val="bg1"/>
                        </a:solidFill>
                        <a:latin typeface="+mn-lt"/>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bl>
          </a:graphicData>
        </a:graphic>
      </p:graphicFrame>
      <p:sp>
        <p:nvSpPr>
          <p:cNvPr id="5" name="TextBox 4"/>
          <p:cNvSpPr txBox="1"/>
          <p:nvPr/>
        </p:nvSpPr>
        <p:spPr>
          <a:xfrm>
            <a:off x="6673850" y="6275388"/>
            <a:ext cx="2241550" cy="430212"/>
          </a:xfrm>
          <a:prstGeom prst="rect">
            <a:avLst/>
          </a:prstGeom>
          <a:noFill/>
        </p:spPr>
        <p:txBody>
          <a:bodyPr wrap="none">
            <a:spAutoFit/>
          </a:bodyPr>
          <a:lstStyle/>
          <a:p>
            <a:pPr>
              <a:defRPr/>
            </a:pPr>
            <a:r>
              <a:rPr lang="en-US" dirty="0">
                <a:solidFill>
                  <a:schemeClr val="bg1"/>
                </a:solidFill>
                <a:latin typeface="+mn-lt"/>
                <a:cs typeface="+mn-cs"/>
              </a:rPr>
              <a:t>Fact Book 2008 </a:t>
            </a:r>
          </a:p>
        </p:txBody>
      </p:sp>
      <p:grpSp>
        <p:nvGrpSpPr>
          <p:cNvPr id="21511" name="Group 5"/>
          <p:cNvGrpSpPr>
            <a:grpSpLocks/>
          </p:cNvGrpSpPr>
          <p:nvPr/>
        </p:nvGrpSpPr>
        <p:grpSpPr bwMode="auto">
          <a:xfrm>
            <a:off x="76200" y="6324600"/>
            <a:ext cx="2736850" cy="369888"/>
            <a:chOff x="76200" y="6461774"/>
            <a:chExt cx="2736405" cy="369332"/>
          </a:xfrm>
        </p:grpSpPr>
        <p:pic>
          <p:nvPicPr>
            <p:cNvPr id="21512" name="Picture 6"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What is Copyleft?</a:t>
            </a:r>
            <a:endParaRPr lang="en-US" dirty="0"/>
          </a:p>
        </p:txBody>
      </p:sp>
      <p:sp>
        <p:nvSpPr>
          <p:cNvPr id="3" name="Content Placeholder 2"/>
          <p:cNvSpPr>
            <a:spLocks noGrp="1"/>
          </p:cNvSpPr>
          <p:nvPr>
            <p:ph idx="1"/>
          </p:nvPr>
        </p:nvSpPr>
        <p:spPr/>
        <p:txBody>
          <a:bodyPr/>
          <a:lstStyle/>
          <a:p>
            <a:pPr>
              <a:defRPr/>
            </a:pPr>
            <a:r>
              <a:rPr lang="en-US" sz="2400" dirty="0" smtClean="0"/>
              <a:t>Copyleft is a legal principle which safeguards against information being controlled by any one person, and ensures that it remains freely accessible forever. </a:t>
            </a:r>
          </a:p>
          <a:p>
            <a:pPr>
              <a:defRPr/>
            </a:pPr>
            <a:endParaRPr lang="en-US" sz="2400" dirty="0" smtClean="0"/>
          </a:p>
          <a:p>
            <a:pPr>
              <a:defRPr/>
            </a:pPr>
            <a:r>
              <a:rPr lang="en-US" sz="2400" dirty="0" smtClean="0"/>
              <a:t>All of the information in a copyleft document is free for anyone to copy, modify for their own purposes, and redistribute or use as they see fit, as long as the new version grants the same freedoms to others and acknowledges the authors of the original article (a credit or </a:t>
            </a:r>
            <a:r>
              <a:rPr lang="en-US" sz="2400" dirty="0" err="1" smtClean="0"/>
              <a:t>backlink</a:t>
            </a:r>
            <a:r>
              <a:rPr lang="en-US" sz="2400" dirty="0" smtClean="0"/>
              <a:t> to the original article is sufficient for this).</a:t>
            </a:r>
            <a:endParaRPr lang="en-US" sz="2400" dirty="0"/>
          </a:p>
        </p:txBody>
      </p:sp>
      <p:grpSp>
        <p:nvGrpSpPr>
          <p:cNvPr id="22534" name="Group 3"/>
          <p:cNvGrpSpPr>
            <a:grpSpLocks/>
          </p:cNvGrpSpPr>
          <p:nvPr/>
        </p:nvGrpSpPr>
        <p:grpSpPr bwMode="auto">
          <a:xfrm>
            <a:off x="76200" y="6461125"/>
            <a:ext cx="2736850" cy="369888"/>
            <a:chOff x="76200" y="6461774"/>
            <a:chExt cx="2736405" cy="369332"/>
          </a:xfrm>
        </p:grpSpPr>
        <p:pic>
          <p:nvPicPr>
            <p:cNvPr id="22535"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What is a Wiki?</a:t>
            </a:r>
            <a:endParaRPr lang="en-US" dirty="0"/>
          </a:p>
        </p:txBody>
      </p:sp>
      <p:sp>
        <p:nvSpPr>
          <p:cNvPr id="3" name="Content Placeholder 2"/>
          <p:cNvSpPr>
            <a:spLocks noGrp="1"/>
          </p:cNvSpPr>
          <p:nvPr>
            <p:ph idx="1"/>
          </p:nvPr>
        </p:nvSpPr>
        <p:spPr/>
        <p:txBody>
          <a:bodyPr/>
          <a:lstStyle/>
          <a:p>
            <a:pPr>
              <a:defRPr/>
            </a:pPr>
            <a:r>
              <a:rPr lang="en-US" dirty="0" smtClean="0"/>
              <a:t>A Wiki is an open source program that allows multiple authors to co-create a webpage.</a:t>
            </a:r>
          </a:p>
          <a:p>
            <a:pPr>
              <a:defRPr/>
            </a:pPr>
            <a:endParaRPr lang="en-US" dirty="0" smtClean="0"/>
          </a:p>
          <a:p>
            <a:pPr>
              <a:defRPr/>
            </a:pPr>
            <a:r>
              <a:rPr lang="en-US" dirty="0" smtClean="0"/>
              <a:t>The authors do not need to know how to program in HTML.</a:t>
            </a:r>
            <a:endParaRPr lang="en-US" dirty="0"/>
          </a:p>
        </p:txBody>
      </p:sp>
      <p:grpSp>
        <p:nvGrpSpPr>
          <p:cNvPr id="23558" name="Group 3"/>
          <p:cNvGrpSpPr>
            <a:grpSpLocks/>
          </p:cNvGrpSpPr>
          <p:nvPr/>
        </p:nvGrpSpPr>
        <p:grpSpPr bwMode="auto">
          <a:xfrm>
            <a:off x="76200" y="6461125"/>
            <a:ext cx="2736850" cy="369888"/>
            <a:chOff x="76200" y="6461774"/>
            <a:chExt cx="2736405" cy="369332"/>
          </a:xfrm>
        </p:grpSpPr>
        <p:pic>
          <p:nvPicPr>
            <p:cNvPr id="23559"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          MediaWiki: The Wiki Software</a:t>
            </a:r>
            <a:endParaRPr lang="en-US" dirty="0"/>
          </a:p>
        </p:txBody>
      </p:sp>
      <p:sp>
        <p:nvSpPr>
          <p:cNvPr id="3" name="Content Placeholder 2"/>
          <p:cNvSpPr>
            <a:spLocks noGrp="1"/>
          </p:cNvSpPr>
          <p:nvPr>
            <p:ph idx="1"/>
          </p:nvPr>
        </p:nvSpPr>
        <p:spPr>
          <a:xfrm>
            <a:off x="762000" y="1676400"/>
            <a:ext cx="7772400" cy="4648200"/>
          </a:xfrm>
          <a:solidFill>
            <a:schemeClr val="tx1">
              <a:lumMod val="85000"/>
              <a:lumOff val="15000"/>
            </a:schemeClr>
          </a:solidFill>
        </p:spPr>
        <p:txBody>
          <a:bodyPr/>
          <a:lstStyle/>
          <a:p>
            <a:pPr>
              <a:defRPr/>
            </a:pPr>
            <a:r>
              <a:rPr lang="en-US" sz="2400" dirty="0" smtClean="0"/>
              <a:t>What if someone makes a mistake or vandalizes the site?</a:t>
            </a:r>
          </a:p>
          <a:p>
            <a:pPr lvl="1">
              <a:defRPr/>
            </a:pPr>
            <a:r>
              <a:rPr lang="en-US" sz="2400" dirty="0" smtClean="0"/>
              <a:t>A Wiki is a database, and any page can be restored to an older version.</a:t>
            </a:r>
          </a:p>
          <a:p>
            <a:pPr>
              <a:defRPr/>
            </a:pPr>
            <a:r>
              <a:rPr lang="en-US" sz="2400" dirty="0" smtClean="0"/>
              <a:t>Can there be a discussion about the content?</a:t>
            </a:r>
          </a:p>
          <a:p>
            <a:pPr lvl="1">
              <a:defRPr/>
            </a:pPr>
            <a:r>
              <a:rPr lang="en-US" sz="2400" dirty="0" smtClean="0"/>
              <a:t>Yes. Click on the Discussion tab and there is a forum.</a:t>
            </a:r>
          </a:p>
          <a:p>
            <a:pPr>
              <a:defRPr/>
            </a:pPr>
            <a:r>
              <a:rPr lang="en-US" sz="2400" dirty="0" smtClean="0"/>
              <a:t>How do you know when a change has been made to a page?</a:t>
            </a:r>
          </a:p>
          <a:p>
            <a:pPr lvl="1">
              <a:defRPr/>
            </a:pPr>
            <a:r>
              <a:rPr lang="en-US" sz="2400" dirty="0" smtClean="0"/>
              <a:t>You can receive an email notifying you a change was made.</a:t>
            </a:r>
            <a:endParaRPr lang="en-US" sz="2400" dirty="0"/>
          </a:p>
        </p:txBody>
      </p:sp>
      <p:grpSp>
        <p:nvGrpSpPr>
          <p:cNvPr id="24582" name="Group 3"/>
          <p:cNvGrpSpPr>
            <a:grpSpLocks/>
          </p:cNvGrpSpPr>
          <p:nvPr/>
        </p:nvGrpSpPr>
        <p:grpSpPr bwMode="auto">
          <a:xfrm>
            <a:off x="76200" y="6461125"/>
            <a:ext cx="2736850" cy="369888"/>
            <a:chOff x="76200" y="6461774"/>
            <a:chExt cx="2736405" cy="369332"/>
          </a:xfrm>
        </p:grpSpPr>
        <p:pic>
          <p:nvPicPr>
            <p:cNvPr id="24584"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pic>
        <p:nvPicPr>
          <p:cNvPr id="2458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0"/>
            <a:ext cx="165417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Wiki’s May Be Less Biased</a:t>
            </a:r>
            <a:endParaRPr lang="en-US" dirty="0"/>
          </a:p>
        </p:txBody>
      </p:sp>
      <p:sp>
        <p:nvSpPr>
          <p:cNvPr id="3" name="Content Placeholder 2"/>
          <p:cNvSpPr>
            <a:spLocks noGrp="1"/>
          </p:cNvSpPr>
          <p:nvPr>
            <p:ph idx="1"/>
          </p:nvPr>
        </p:nvSpPr>
        <p:spPr/>
        <p:txBody>
          <a:bodyPr/>
          <a:lstStyle/>
          <a:p>
            <a:pPr>
              <a:defRPr/>
            </a:pPr>
            <a:r>
              <a:rPr lang="en-US" dirty="0" smtClean="0"/>
              <a:t>Because articles are written based upon consensus, a Wiki is less susceptible to retaining bias, a Wiki is very hard for any group to censor, and a Wiki may be more rapidly responsive to new information.</a:t>
            </a:r>
            <a:endParaRPr lang="en-US" dirty="0"/>
          </a:p>
        </p:txBody>
      </p:sp>
      <p:sp>
        <p:nvSpPr>
          <p:cNvPr id="4" name="TextBox 3"/>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pic>
        <p:nvPicPr>
          <p:cNvPr id="25607"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GB" b="1" dirty="0" smtClean="0"/>
              <a:t>Internet encyclopaedias go head to head</a:t>
            </a:r>
            <a:endParaRPr lang="en-US" dirty="0"/>
          </a:p>
        </p:txBody>
      </p:sp>
      <p:sp>
        <p:nvSpPr>
          <p:cNvPr id="3" name="Content Placeholder 2"/>
          <p:cNvSpPr>
            <a:spLocks noGrp="1"/>
          </p:cNvSpPr>
          <p:nvPr>
            <p:ph idx="1"/>
          </p:nvPr>
        </p:nvSpPr>
        <p:spPr>
          <a:xfrm>
            <a:off x="685800" y="2590800"/>
            <a:ext cx="7772400" cy="3657600"/>
          </a:xfrm>
        </p:spPr>
        <p:txBody>
          <a:bodyPr/>
          <a:lstStyle/>
          <a:p>
            <a:pPr>
              <a:defRPr/>
            </a:pPr>
            <a:r>
              <a:rPr lang="en-US" sz="2000" dirty="0" smtClean="0"/>
              <a:t>In order to test its reliability, Nature conducted a peer review of scientific entries on Wikipedia and the well-established Encyclopedia Britannica. </a:t>
            </a:r>
          </a:p>
          <a:p>
            <a:pPr>
              <a:defRPr/>
            </a:pPr>
            <a:r>
              <a:rPr lang="en-US" sz="2000" dirty="0" smtClean="0"/>
              <a:t>Reviewers were blinded to the source of information and were asked to check for errors in 50 articles matched for length. </a:t>
            </a:r>
          </a:p>
          <a:p>
            <a:pPr>
              <a:defRPr/>
            </a:pPr>
            <a:r>
              <a:rPr lang="en-US" sz="2000" dirty="0" smtClean="0"/>
              <a:t>R</a:t>
            </a:r>
            <a:r>
              <a:rPr lang="en-GB" sz="2000" dirty="0" err="1" smtClean="0"/>
              <a:t>eviewers</a:t>
            </a:r>
            <a:r>
              <a:rPr lang="en-GB" sz="2000" dirty="0" smtClean="0"/>
              <a:t> were asked to look for three types of inaccuracy: factual errors, critical omissions and misleading statements</a:t>
            </a:r>
            <a:endParaRPr lang="en-US" sz="2000" dirty="0" smtClean="0"/>
          </a:p>
          <a:p>
            <a:pPr>
              <a:defRPr/>
            </a:pPr>
            <a:r>
              <a:rPr lang="en-US" sz="2000" dirty="0" smtClean="0"/>
              <a:t>"Only eight serious errors, such as misinterpretations of important concepts, were detected in the pairs of articles reviewed, four from each encyclopedia," reported Nature. </a:t>
            </a:r>
          </a:p>
          <a:p>
            <a:pPr>
              <a:defRPr/>
            </a:pPr>
            <a:endParaRPr lang="en-US" sz="2000" dirty="0"/>
          </a:p>
        </p:txBody>
      </p:sp>
      <p:sp>
        <p:nvSpPr>
          <p:cNvPr id="4" name="Rectangle 3"/>
          <p:cNvSpPr/>
          <p:nvPr/>
        </p:nvSpPr>
        <p:spPr>
          <a:xfrm>
            <a:off x="5999163" y="6335713"/>
            <a:ext cx="2992437" cy="369887"/>
          </a:xfrm>
          <a:prstGeom prst="rect">
            <a:avLst/>
          </a:prstGeom>
        </p:spPr>
        <p:txBody>
          <a:bodyPr wrap="none">
            <a:spAutoFit/>
          </a:bodyPr>
          <a:lstStyle/>
          <a:p>
            <a:pPr>
              <a:defRPr/>
            </a:pPr>
            <a:r>
              <a:rPr lang="en-GB" sz="1800" b="1" i="1" dirty="0">
                <a:solidFill>
                  <a:schemeClr val="bg1"/>
                </a:solidFill>
                <a:latin typeface="+mj-lt"/>
                <a:cs typeface="+mn-cs"/>
              </a:rPr>
              <a:t>Nature</a:t>
            </a:r>
            <a:r>
              <a:rPr lang="en-GB" sz="1800" b="1" dirty="0">
                <a:solidFill>
                  <a:schemeClr val="bg1"/>
                </a:solidFill>
                <a:latin typeface="+mj-lt"/>
                <a:cs typeface="+mn-cs"/>
              </a:rPr>
              <a:t> 438, 900-901; 2005</a:t>
            </a:r>
            <a:endParaRPr lang="en-US" sz="1800" dirty="0">
              <a:solidFill>
                <a:schemeClr val="bg1"/>
              </a:solidFill>
              <a:latin typeface="+mj-lt"/>
              <a:cs typeface="+mn-cs"/>
            </a:endParaRPr>
          </a:p>
        </p:txBody>
      </p:sp>
      <p:pic>
        <p:nvPicPr>
          <p:cNvPr id="266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693261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32" name="Group 5"/>
          <p:cNvGrpSpPr>
            <a:grpSpLocks/>
          </p:cNvGrpSpPr>
          <p:nvPr/>
        </p:nvGrpSpPr>
        <p:grpSpPr bwMode="auto">
          <a:xfrm>
            <a:off x="76200" y="6400800"/>
            <a:ext cx="2736850" cy="369888"/>
            <a:chOff x="76200" y="6461774"/>
            <a:chExt cx="2736405" cy="369332"/>
          </a:xfrm>
        </p:grpSpPr>
        <p:pic>
          <p:nvPicPr>
            <p:cNvPr id="26633" name="Picture 6"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endParaRPr lang="en-US" dirty="0"/>
          </a:p>
        </p:txBody>
      </p:sp>
      <p:pic>
        <p:nvPicPr>
          <p:cNvPr id="2765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28600"/>
            <a:ext cx="5181600" cy="61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54" name="Group 5"/>
          <p:cNvGrpSpPr>
            <a:grpSpLocks/>
          </p:cNvGrpSpPr>
          <p:nvPr/>
        </p:nvGrpSpPr>
        <p:grpSpPr bwMode="auto">
          <a:xfrm>
            <a:off x="76200" y="6400800"/>
            <a:ext cx="2736850" cy="369888"/>
            <a:chOff x="76200" y="6461774"/>
            <a:chExt cx="2736405" cy="369332"/>
          </a:xfrm>
        </p:grpSpPr>
        <p:pic>
          <p:nvPicPr>
            <p:cNvPr id="27655" name="Picture 6"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The World's First Medical Wiki: WikiDoc</a:t>
            </a:r>
            <a:endParaRPr lang="en-US" dirty="0"/>
          </a:p>
        </p:txBody>
      </p:sp>
      <p:sp>
        <p:nvSpPr>
          <p:cNvPr id="4" name="Text Box 5"/>
          <p:cNvSpPr txBox="1">
            <a:spLocks noChangeArrowheads="1"/>
          </p:cNvSpPr>
          <p:nvPr/>
        </p:nvSpPr>
        <p:spPr bwMode="auto">
          <a:xfrm>
            <a:off x="304800" y="1676400"/>
            <a:ext cx="8547100" cy="4340225"/>
          </a:xfrm>
          <a:prstGeom prst="rect">
            <a:avLst/>
          </a:prstGeom>
          <a:noFill/>
          <a:ln w="9525">
            <a:noFill/>
            <a:miter lim="800000"/>
            <a:headEnd/>
            <a:tailEnd/>
          </a:ln>
          <a:effectLst/>
        </p:spPr>
        <p:txBody>
          <a:bodyPr>
            <a:spAutoFit/>
          </a:bodyPr>
          <a:lstStyle/>
          <a:p>
            <a:pPr eaLnBrk="0" hangingPunct="0">
              <a:spcBef>
                <a:spcPct val="50000"/>
              </a:spcBef>
              <a:defRPr/>
            </a:pPr>
            <a:r>
              <a:rPr lang="en-US" sz="2400" dirty="0">
                <a:solidFill>
                  <a:schemeClr val="bg1"/>
                </a:solidFill>
                <a:effectLst>
                  <a:outerShdw blurRad="38100" dist="38100" dir="2700000" algn="tl">
                    <a:srgbClr val="000000">
                      <a:alpha val="43137"/>
                    </a:srgbClr>
                  </a:outerShdw>
                </a:effectLst>
                <a:latin typeface="Arial" charset="0"/>
                <a:cs typeface="+mn-cs"/>
              </a:rPr>
              <a:t>Created  by C. Michael Gibson, M.S., M.D. in 2005</a:t>
            </a:r>
          </a:p>
          <a:p>
            <a:pPr eaLnBrk="0" hangingPunct="0">
              <a:spcBef>
                <a:spcPct val="50000"/>
              </a:spcBef>
              <a:defRPr/>
            </a:pPr>
            <a:r>
              <a:rPr lang="en-US" sz="2400" dirty="0">
                <a:solidFill>
                  <a:schemeClr val="bg1"/>
                </a:solidFill>
                <a:effectLst>
                  <a:outerShdw blurRad="38100" dist="38100" dir="2700000" algn="tl">
                    <a:srgbClr val="000000">
                      <a:alpha val="43137"/>
                    </a:srgbClr>
                  </a:outerShdw>
                </a:effectLst>
                <a:latin typeface="Arial" charset="0"/>
                <a:cs typeface="+mn-cs"/>
              </a:rPr>
              <a:t>WikiDoc is the world's first medical wiki which is a living textbook of medicine that everyone can edit and contribute to.  </a:t>
            </a:r>
          </a:p>
          <a:p>
            <a:pPr eaLnBrk="0" hangingPunct="0">
              <a:spcBef>
                <a:spcPct val="50000"/>
              </a:spcBef>
              <a:defRPr/>
            </a:pPr>
            <a:r>
              <a:rPr lang="en-US" sz="2400" dirty="0">
                <a:solidFill>
                  <a:schemeClr val="bg1"/>
                </a:solidFill>
                <a:effectLst>
                  <a:outerShdw blurRad="38100" dist="38100" dir="2700000" algn="tl">
                    <a:srgbClr val="000000">
                      <a:alpha val="43137"/>
                    </a:srgbClr>
                  </a:outerShdw>
                </a:effectLst>
                <a:latin typeface="Arial" charset="0"/>
                <a:cs typeface="+mn-cs"/>
              </a:rPr>
              <a:t>Uses same software as Wikipedia, but is confined to medical topics. </a:t>
            </a:r>
          </a:p>
          <a:p>
            <a:pPr eaLnBrk="0" hangingPunct="0">
              <a:spcBef>
                <a:spcPct val="50000"/>
              </a:spcBef>
              <a:defRPr/>
            </a:pPr>
            <a:r>
              <a:rPr lang="en-US" sz="2400" dirty="0">
                <a:solidFill>
                  <a:schemeClr val="bg1"/>
                </a:solidFill>
                <a:effectLst>
                  <a:outerShdw blurRad="38100" dist="38100" dir="2700000" algn="tl">
                    <a:srgbClr val="000000">
                      <a:alpha val="43137"/>
                    </a:srgbClr>
                  </a:outerShdw>
                </a:effectLst>
                <a:latin typeface="Arial" charset="0"/>
                <a:cs typeface="+mn-cs"/>
              </a:rPr>
              <a:t>&gt; 6900 registered  authors are contributing at present.</a:t>
            </a:r>
          </a:p>
          <a:p>
            <a:pPr eaLnBrk="0" hangingPunct="0">
              <a:spcBef>
                <a:spcPct val="50000"/>
              </a:spcBef>
              <a:defRPr/>
            </a:pPr>
            <a:r>
              <a:rPr lang="en-US" sz="2400" dirty="0">
                <a:solidFill>
                  <a:schemeClr val="bg1"/>
                </a:solidFill>
                <a:effectLst>
                  <a:outerShdw blurRad="38100" dist="38100" dir="2700000" algn="tl">
                    <a:srgbClr val="000000">
                      <a:alpha val="43137"/>
                    </a:srgbClr>
                  </a:outerShdw>
                </a:effectLst>
                <a:latin typeface="Arial" charset="0"/>
                <a:cs typeface="+mn-cs"/>
              </a:rPr>
              <a:t>501C3 Foundation</a:t>
            </a:r>
          </a:p>
          <a:p>
            <a:pPr eaLnBrk="0" hangingPunct="0">
              <a:spcBef>
                <a:spcPct val="50000"/>
              </a:spcBef>
              <a:defRPr/>
            </a:pPr>
            <a:r>
              <a:rPr lang="en-US" sz="2400" dirty="0">
                <a:solidFill>
                  <a:schemeClr val="bg1"/>
                </a:solidFill>
                <a:latin typeface="+mn-lt"/>
              </a:rPr>
              <a:t>Mission statement: “Healthcare is enriched when medical knowledge flows freely.”</a:t>
            </a:r>
            <a:endParaRPr lang="en-US" sz="2400" dirty="0">
              <a:solidFill>
                <a:schemeClr val="bg1"/>
              </a:solidFill>
              <a:effectLst>
                <a:outerShdw blurRad="38100" dist="38100" dir="2700000" algn="tl">
                  <a:srgbClr val="000000">
                    <a:alpha val="43137"/>
                  </a:srgbClr>
                </a:outerShdw>
              </a:effectLst>
              <a:latin typeface="+mn-lt"/>
              <a:cs typeface="+mn-cs"/>
            </a:endParaRPr>
          </a:p>
        </p:txBody>
      </p:sp>
      <p:grpSp>
        <p:nvGrpSpPr>
          <p:cNvPr id="28678" name="Group 4"/>
          <p:cNvGrpSpPr>
            <a:grpSpLocks/>
          </p:cNvGrpSpPr>
          <p:nvPr/>
        </p:nvGrpSpPr>
        <p:grpSpPr bwMode="auto">
          <a:xfrm>
            <a:off x="76200" y="6461125"/>
            <a:ext cx="2736850" cy="369888"/>
            <a:chOff x="76200" y="6461774"/>
            <a:chExt cx="2736405" cy="369332"/>
          </a:xfrm>
        </p:grpSpPr>
        <p:pic>
          <p:nvPicPr>
            <p:cNvPr id="28679"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WikiDoc: Overview</a:t>
            </a:r>
            <a:endParaRPr lang="en-US" dirty="0"/>
          </a:p>
        </p:txBody>
      </p:sp>
      <p:sp>
        <p:nvSpPr>
          <p:cNvPr id="4" name="Content Placeholder 3"/>
          <p:cNvSpPr>
            <a:spLocks noGrp="1"/>
          </p:cNvSpPr>
          <p:nvPr>
            <p:ph idx="1"/>
          </p:nvPr>
        </p:nvSpPr>
        <p:spPr>
          <a:xfrm>
            <a:off x="152400" y="1752600"/>
            <a:ext cx="8763000" cy="4186238"/>
          </a:xfrm>
        </p:spPr>
        <p:txBody>
          <a:bodyPr>
            <a:spAutoFit/>
          </a:bodyPr>
          <a:lstStyle/>
          <a:p>
            <a:pPr>
              <a:spcBef>
                <a:spcPct val="50000"/>
              </a:spcBef>
              <a:buClr>
                <a:srgbClr val="FF6600"/>
              </a:buClr>
              <a:buFont typeface="Arial" pitchFamily="34" charset="0"/>
              <a:buChar char="•"/>
              <a:defRPr/>
            </a:pPr>
            <a:r>
              <a:rPr lang="en-US" sz="2800" dirty="0" smtClean="0">
                <a:effectLst>
                  <a:outerShdw blurRad="38100" dist="38100" dir="2700000" algn="tl">
                    <a:srgbClr val="000000">
                      <a:alpha val="43137"/>
                    </a:srgbClr>
                  </a:outerShdw>
                </a:effectLst>
              </a:rPr>
              <a:t>Free</a:t>
            </a:r>
            <a:r>
              <a:rPr lang="en-US" sz="2800" dirty="0">
                <a:effectLst>
                  <a:outerShdw blurRad="38100" dist="38100" dir="2700000" algn="tl">
                    <a:srgbClr val="000000">
                      <a:alpha val="43137"/>
                    </a:srgbClr>
                  </a:outerShdw>
                </a:effectLst>
              </a:rPr>
              <a:t>, no required registration to view </a:t>
            </a:r>
            <a:r>
              <a:rPr lang="en-US" sz="2800" dirty="0" smtClean="0">
                <a:effectLst>
                  <a:outerShdw blurRad="38100" dist="38100" dir="2700000" algn="tl">
                    <a:srgbClr val="000000">
                      <a:alpha val="43137"/>
                    </a:srgbClr>
                  </a:outerShdw>
                </a:effectLst>
              </a:rPr>
              <a:t>site</a:t>
            </a:r>
          </a:p>
          <a:p>
            <a:pPr>
              <a:spcBef>
                <a:spcPct val="50000"/>
              </a:spcBef>
              <a:buClr>
                <a:srgbClr val="FF6600"/>
              </a:buClr>
              <a:buFont typeface="Arial" pitchFamily="34" charset="0"/>
              <a:buChar char="•"/>
              <a:defRPr/>
            </a:pPr>
            <a:r>
              <a:rPr lang="en-US" sz="2800" dirty="0" smtClean="0">
                <a:effectLst>
                  <a:outerShdw blurRad="38100" dist="38100" dir="2700000" algn="tl">
                    <a:srgbClr val="000000">
                      <a:alpha val="43137"/>
                    </a:srgbClr>
                  </a:outerShdw>
                </a:effectLst>
              </a:rPr>
              <a:t>No pharmaceutical or device company support</a:t>
            </a:r>
            <a:endParaRPr lang="en-US" sz="2800" dirty="0">
              <a:effectLst>
                <a:outerShdw blurRad="38100" dist="38100" dir="2700000" algn="tl">
                  <a:srgbClr val="000000">
                    <a:alpha val="43137"/>
                  </a:srgbClr>
                </a:outerShdw>
              </a:effectLst>
            </a:endParaRPr>
          </a:p>
          <a:p>
            <a:pPr>
              <a:spcBef>
                <a:spcPct val="50000"/>
              </a:spcBef>
              <a:buClr>
                <a:srgbClr val="FF6600"/>
              </a:buClr>
              <a:buFont typeface="Arial" pitchFamily="34" charset="0"/>
              <a:buChar char="•"/>
              <a:defRPr/>
            </a:pPr>
            <a:r>
              <a:rPr lang="en-US" sz="2800" dirty="0">
                <a:effectLst>
                  <a:outerShdw blurRad="38100" dist="38100" dir="2700000" algn="tl">
                    <a:srgbClr val="000000">
                      <a:alpha val="43137"/>
                    </a:srgbClr>
                  </a:outerShdw>
                </a:effectLst>
              </a:rPr>
              <a:t> World’s largest medical textbook</a:t>
            </a:r>
          </a:p>
          <a:p>
            <a:pPr>
              <a:spcBef>
                <a:spcPct val="50000"/>
              </a:spcBef>
              <a:buClr>
                <a:srgbClr val="FF6600"/>
              </a:buClr>
              <a:buFont typeface="Arial" pitchFamily="34" charset="0"/>
              <a:buChar char="•"/>
              <a:defRPr/>
            </a:pPr>
            <a:r>
              <a:rPr lang="en-US" sz="2800" dirty="0">
                <a:effectLst>
                  <a:outerShdw blurRad="38100" dist="38100" dir="2700000" algn="tl">
                    <a:srgbClr val="000000">
                      <a:alpha val="43137"/>
                    </a:srgbClr>
                  </a:outerShdw>
                </a:effectLst>
              </a:rPr>
              <a:t> </a:t>
            </a:r>
            <a:r>
              <a:rPr lang="en-US" sz="2800" dirty="0" smtClean="0">
                <a:effectLst>
                  <a:outerShdw blurRad="38100" dist="38100" dir="2700000" algn="tl">
                    <a:srgbClr val="000000">
                      <a:alpha val="43137"/>
                    </a:srgbClr>
                  </a:outerShdw>
                </a:effectLst>
              </a:rPr>
              <a:t>Video, audio </a:t>
            </a:r>
            <a:r>
              <a:rPr lang="en-US" sz="2800" dirty="0">
                <a:effectLst>
                  <a:outerShdw blurRad="38100" dist="38100" dir="2700000" algn="tl">
                    <a:srgbClr val="000000">
                      <a:alpha val="43137"/>
                    </a:srgbClr>
                  </a:outerShdw>
                </a:effectLst>
              </a:rPr>
              <a:t>can be inserted into medical textbook</a:t>
            </a:r>
          </a:p>
          <a:p>
            <a:pPr>
              <a:spcBef>
                <a:spcPct val="50000"/>
              </a:spcBef>
              <a:buClr>
                <a:srgbClr val="FF6600"/>
              </a:buClr>
              <a:buFont typeface="Arial" pitchFamily="34" charset="0"/>
              <a:buChar char="•"/>
              <a:defRPr/>
            </a:pPr>
            <a:r>
              <a:rPr lang="en-US" sz="2800" dirty="0" smtClean="0">
                <a:effectLst>
                  <a:outerShdw blurRad="38100" dist="38100" dir="2700000" algn="tl">
                    <a:srgbClr val="000000">
                      <a:alpha val="43137"/>
                    </a:srgbClr>
                  </a:outerShdw>
                </a:effectLst>
              </a:rPr>
              <a:t>Living guidelines (polling and suggested edits to guidelines)</a:t>
            </a:r>
            <a:endParaRPr lang="en-US" sz="2800" dirty="0">
              <a:effectLst>
                <a:outerShdw blurRad="38100" dist="38100" dir="2700000" algn="tl">
                  <a:srgbClr val="000000">
                    <a:alpha val="43137"/>
                  </a:srgbClr>
                </a:outerShdw>
              </a:effectLst>
            </a:endParaRPr>
          </a:p>
          <a:p>
            <a:pPr>
              <a:spcBef>
                <a:spcPct val="50000"/>
              </a:spcBef>
              <a:buClr>
                <a:srgbClr val="FF6600"/>
              </a:buClr>
              <a:buFont typeface="Arial" pitchFamily="34" charset="0"/>
              <a:buChar char="•"/>
              <a:defRPr/>
            </a:pPr>
            <a:r>
              <a:rPr lang="en-US" sz="2800" dirty="0" smtClean="0">
                <a:effectLst>
                  <a:outerShdw blurRad="38100" dist="38100" dir="2700000" algn="tl">
                    <a:srgbClr val="000000">
                      <a:alpha val="43137"/>
                    </a:srgbClr>
                  </a:outerShdw>
                </a:effectLst>
              </a:rPr>
              <a:t>Thousands </a:t>
            </a:r>
            <a:r>
              <a:rPr lang="en-US" sz="2800" dirty="0">
                <a:effectLst>
                  <a:outerShdw blurRad="38100" dist="38100" dir="2700000" algn="tl">
                    <a:srgbClr val="000000">
                      <a:alpha val="43137"/>
                    </a:srgbClr>
                  </a:outerShdw>
                </a:effectLst>
              </a:rPr>
              <a:t>of free downloadable “copyleft” </a:t>
            </a:r>
            <a:r>
              <a:rPr lang="en-US" sz="2800" dirty="0" smtClean="0">
                <a:effectLst>
                  <a:outerShdw blurRad="38100" dist="38100" dir="2700000" algn="tl">
                    <a:srgbClr val="000000">
                      <a:alpha val="43137"/>
                    </a:srgbClr>
                  </a:outerShdw>
                </a:effectLst>
              </a:rPr>
              <a:t>images</a:t>
            </a:r>
            <a:endParaRPr lang="en-US" sz="2800" dirty="0">
              <a:effectLst>
                <a:outerShdw blurRad="38100" dist="38100" dir="2700000" algn="tl">
                  <a:srgbClr val="000000">
                    <a:alpha val="43137"/>
                  </a:srgbClr>
                </a:outerShdw>
              </a:effectLst>
            </a:endParaRPr>
          </a:p>
        </p:txBody>
      </p:sp>
      <p:grpSp>
        <p:nvGrpSpPr>
          <p:cNvPr id="29702" name="Group 4"/>
          <p:cNvGrpSpPr>
            <a:grpSpLocks/>
          </p:cNvGrpSpPr>
          <p:nvPr/>
        </p:nvGrpSpPr>
        <p:grpSpPr bwMode="auto">
          <a:xfrm>
            <a:off x="76200" y="6461125"/>
            <a:ext cx="2736850" cy="369888"/>
            <a:chOff x="76200" y="6461774"/>
            <a:chExt cx="2736405" cy="369332"/>
          </a:xfrm>
        </p:grpSpPr>
        <p:pic>
          <p:nvPicPr>
            <p:cNvPr id="29703"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WikiDoc’s</a:t>
            </a:r>
            <a:r>
              <a:rPr lang="en-US" dirty="0" smtClean="0"/>
              <a:t> Business Model</a:t>
            </a:r>
            <a:endParaRPr lang="en-US" dirty="0"/>
          </a:p>
        </p:txBody>
      </p:sp>
      <p:sp>
        <p:nvSpPr>
          <p:cNvPr id="3" name="Content Placeholder 2"/>
          <p:cNvSpPr>
            <a:spLocks noGrp="1"/>
          </p:cNvSpPr>
          <p:nvPr>
            <p:ph idx="1"/>
          </p:nvPr>
        </p:nvSpPr>
        <p:spPr>
          <a:xfrm>
            <a:off x="533400" y="1219200"/>
            <a:ext cx="8305800" cy="5105400"/>
          </a:xfrm>
        </p:spPr>
        <p:txBody>
          <a:bodyPr/>
          <a:lstStyle/>
          <a:p>
            <a:pPr>
              <a:buClr>
                <a:srgbClr val="FF9933"/>
              </a:buClr>
              <a:buSzPct val="125000"/>
              <a:defRPr/>
            </a:pPr>
            <a:r>
              <a:rPr lang="en-US" dirty="0" smtClean="0"/>
              <a:t>There is no business model</a:t>
            </a:r>
          </a:p>
          <a:p>
            <a:pPr>
              <a:buClr>
                <a:srgbClr val="FF9933"/>
              </a:buClr>
              <a:buSzPct val="125000"/>
              <a:defRPr/>
            </a:pPr>
            <a:r>
              <a:rPr lang="en-US" dirty="0" smtClean="0"/>
              <a:t>WikiDoc accepts no financial support from the pharmaceutical or device industry</a:t>
            </a:r>
          </a:p>
          <a:p>
            <a:pPr>
              <a:buClr>
                <a:srgbClr val="FF9933"/>
              </a:buClr>
              <a:buSzPct val="125000"/>
              <a:defRPr/>
            </a:pPr>
            <a:r>
              <a:rPr lang="en-US" dirty="0" smtClean="0"/>
              <a:t>There are no advertisements</a:t>
            </a:r>
          </a:p>
          <a:p>
            <a:pPr>
              <a:buClr>
                <a:srgbClr val="FF9933"/>
              </a:buClr>
              <a:buSzPct val="125000"/>
              <a:defRPr/>
            </a:pPr>
            <a:r>
              <a:rPr lang="en-US" dirty="0" smtClean="0"/>
              <a:t>A 501C3 non profit foundation has been created</a:t>
            </a:r>
          </a:p>
          <a:p>
            <a:pPr>
              <a:buClr>
                <a:srgbClr val="FF9933"/>
              </a:buClr>
              <a:buSzPct val="125000"/>
              <a:defRPr/>
            </a:pPr>
            <a:r>
              <a:rPr lang="en-US" dirty="0" smtClean="0"/>
              <a:t>NPR model: Viewer supported, philanthropy, volunteer efforts</a:t>
            </a:r>
          </a:p>
          <a:p>
            <a:pPr>
              <a:buClr>
                <a:srgbClr val="FF9933"/>
              </a:buClr>
              <a:buSzPct val="125000"/>
              <a:defRPr/>
            </a:pPr>
            <a:r>
              <a:rPr lang="en-US" dirty="0" smtClean="0"/>
              <a:t>Current bandwidth costs: $24,000 per year</a:t>
            </a:r>
            <a:endParaRPr lang="en-US" dirty="0"/>
          </a:p>
        </p:txBody>
      </p:sp>
      <p:grpSp>
        <p:nvGrpSpPr>
          <p:cNvPr id="30726" name="Group 3"/>
          <p:cNvGrpSpPr>
            <a:grpSpLocks/>
          </p:cNvGrpSpPr>
          <p:nvPr/>
        </p:nvGrpSpPr>
        <p:grpSpPr bwMode="auto">
          <a:xfrm>
            <a:off x="76200" y="6461125"/>
            <a:ext cx="2736850" cy="369888"/>
            <a:chOff x="76200" y="6461774"/>
            <a:chExt cx="2736405" cy="369332"/>
          </a:xfrm>
        </p:grpSpPr>
        <p:pic>
          <p:nvPicPr>
            <p:cNvPr id="30727"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WikiPatient</a:t>
            </a:r>
            <a:r>
              <a:rPr lang="en-US" dirty="0" smtClean="0"/>
              <a:t>, </a:t>
            </a:r>
            <a:r>
              <a:rPr lang="en-US" dirty="0" err="1" smtClean="0"/>
              <a:t>WikiPedia</a:t>
            </a:r>
            <a:r>
              <a:rPr lang="en-US" dirty="0" smtClean="0"/>
              <a:t>, </a:t>
            </a:r>
            <a:r>
              <a:rPr lang="en-US" dirty="0" err="1" smtClean="0"/>
              <a:t>WikiDoc</a:t>
            </a:r>
            <a:endParaRPr lang="en-US" dirty="0"/>
          </a:p>
        </p:txBody>
      </p:sp>
      <p:graphicFrame>
        <p:nvGraphicFramePr>
          <p:cNvPr id="5" name="Table 4"/>
          <p:cNvGraphicFramePr>
            <a:graphicFrameLocks noGrp="1"/>
          </p:cNvGraphicFramePr>
          <p:nvPr/>
        </p:nvGraphicFramePr>
        <p:xfrm>
          <a:off x="609600" y="1600200"/>
          <a:ext cx="8077200" cy="4491038"/>
        </p:xfrm>
        <a:graphic>
          <a:graphicData uri="http://schemas.openxmlformats.org/drawingml/2006/table">
            <a:tbl>
              <a:tblPr firstRow="1" bandRow="1">
                <a:tableStyleId>{5C22544A-7EE6-4342-B048-85BDC9FD1C3A}</a:tableStyleId>
              </a:tblPr>
              <a:tblGrid>
                <a:gridCol w="2692400"/>
                <a:gridCol w="2692400"/>
                <a:gridCol w="2692400"/>
              </a:tblGrid>
              <a:tr h="370758">
                <a:tc>
                  <a:txBody>
                    <a:bodyPr/>
                    <a:lstStyle/>
                    <a:p>
                      <a:r>
                        <a:rPr lang="en-US" sz="1800" dirty="0" err="1" smtClean="0">
                          <a:solidFill>
                            <a:schemeClr val="bg1"/>
                          </a:solidFill>
                          <a:effectLst>
                            <a:outerShdw blurRad="38100" dist="38100" dir="2700000" algn="tl">
                              <a:srgbClr val="000000">
                                <a:alpha val="43137"/>
                              </a:srgbClr>
                            </a:outerShdw>
                          </a:effectLst>
                        </a:rPr>
                        <a:t>WikiPatient</a:t>
                      </a:r>
                      <a:endParaRPr lang="en-US" sz="1800" dirty="0">
                        <a:solidFill>
                          <a:schemeClr val="bg1"/>
                        </a:solidFill>
                        <a:effectLst>
                          <a:outerShdw blurRad="38100" dist="38100" dir="2700000" algn="tl">
                            <a:srgbClr val="000000">
                              <a:alpha val="43137"/>
                            </a:srgbClr>
                          </a:outerShdw>
                        </a:effectLst>
                      </a:endParaRPr>
                    </a:p>
                  </a:txBody>
                  <a:tcPr marT="45710" marB="45710">
                    <a:solidFill>
                      <a:schemeClr val="accent1">
                        <a:lumMod val="50000"/>
                      </a:schemeClr>
                    </a:solidFill>
                  </a:tcPr>
                </a:tc>
                <a:tc>
                  <a:txBody>
                    <a:bodyPr/>
                    <a:lstStyle/>
                    <a:p>
                      <a:r>
                        <a:rPr lang="en-US" sz="1800" dirty="0" err="1" smtClean="0">
                          <a:solidFill>
                            <a:schemeClr val="bg1"/>
                          </a:solidFill>
                          <a:effectLst>
                            <a:outerShdw blurRad="38100" dist="38100" dir="2700000" algn="tl">
                              <a:srgbClr val="000000">
                                <a:alpha val="43137"/>
                              </a:srgbClr>
                            </a:outerShdw>
                          </a:effectLst>
                        </a:rPr>
                        <a:t>WikiPedia</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FF9933"/>
                    </a:solidFill>
                  </a:tcPr>
                </a:tc>
                <a:tc>
                  <a:txBody>
                    <a:bodyPr/>
                    <a:lstStyle/>
                    <a:p>
                      <a:r>
                        <a:rPr lang="en-US" sz="1800" dirty="0" err="1" smtClean="0">
                          <a:solidFill>
                            <a:schemeClr val="bg1"/>
                          </a:solidFill>
                          <a:effectLst>
                            <a:outerShdw blurRad="38100" dist="38100" dir="2700000" algn="tl">
                              <a:srgbClr val="000000">
                                <a:alpha val="43137"/>
                              </a:srgbClr>
                            </a:outerShdw>
                          </a:effectLst>
                        </a:rPr>
                        <a:t>WikiDoc</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C00000"/>
                    </a:solidFill>
                  </a:tcPr>
                </a:tc>
              </a:tr>
              <a:tr h="1188894">
                <a:tc>
                  <a:txBody>
                    <a:bodyPr/>
                    <a:lstStyle/>
                    <a:p>
                      <a:r>
                        <a:rPr lang="en-US" sz="1800" dirty="0" smtClean="0">
                          <a:solidFill>
                            <a:schemeClr val="bg1"/>
                          </a:solidFill>
                          <a:effectLst>
                            <a:outerShdw blurRad="38100" dist="38100" dir="2700000" algn="tl">
                              <a:srgbClr val="000000">
                                <a:alpha val="43137"/>
                              </a:srgbClr>
                            </a:outerShdw>
                          </a:effectLst>
                        </a:rPr>
                        <a:t>Targeted at 8</a:t>
                      </a:r>
                      <a:r>
                        <a:rPr lang="en-US" sz="1800" baseline="30000" dirty="0" smtClean="0">
                          <a:solidFill>
                            <a:schemeClr val="bg1"/>
                          </a:solidFill>
                          <a:effectLst>
                            <a:outerShdw blurRad="38100" dist="38100" dir="2700000" algn="tl">
                              <a:srgbClr val="000000">
                                <a:alpha val="43137"/>
                              </a:srgbClr>
                            </a:outerShdw>
                          </a:effectLst>
                        </a:rPr>
                        <a:t>th</a:t>
                      </a:r>
                      <a:r>
                        <a:rPr lang="en-US" sz="1800" dirty="0" smtClean="0">
                          <a:solidFill>
                            <a:schemeClr val="bg1"/>
                          </a:solidFill>
                          <a:effectLst>
                            <a:outerShdw blurRad="38100" dist="38100" dir="2700000" algn="tl">
                              <a:srgbClr val="000000">
                                <a:alpha val="43137"/>
                              </a:srgbClr>
                            </a:outerShdw>
                          </a:effectLst>
                        </a:rPr>
                        <a:t> grade level of comprehension</a:t>
                      </a:r>
                      <a:endParaRPr lang="en-US" sz="1800" dirty="0">
                        <a:solidFill>
                          <a:schemeClr val="bg1"/>
                        </a:solidFill>
                        <a:effectLst>
                          <a:outerShdw blurRad="38100" dist="38100" dir="2700000" algn="tl">
                            <a:srgbClr val="000000">
                              <a:alpha val="43137"/>
                            </a:srgbClr>
                          </a:outerShdw>
                        </a:effectLst>
                      </a:endParaRPr>
                    </a:p>
                  </a:txBody>
                  <a:tcPr marT="45710" marB="45710">
                    <a:solidFill>
                      <a:schemeClr val="accent1">
                        <a:lumMod val="50000"/>
                      </a:schemeClr>
                    </a:solidFill>
                  </a:tcPr>
                </a:tc>
                <a:tc>
                  <a:txBody>
                    <a:bodyPr/>
                    <a:lstStyle/>
                    <a:p>
                      <a:r>
                        <a:rPr lang="en-US" sz="1800" dirty="0" smtClean="0">
                          <a:solidFill>
                            <a:schemeClr val="bg1"/>
                          </a:solidFill>
                          <a:effectLst>
                            <a:outerShdw blurRad="38100" dist="38100" dir="2700000" algn="tl">
                              <a:srgbClr val="000000">
                                <a:alpha val="43137"/>
                              </a:srgbClr>
                            </a:outerShdw>
                          </a:effectLst>
                        </a:rPr>
                        <a:t>Too sophisticated for patients, often not sophisticated enough for a specialist in a field</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FF9933"/>
                    </a:solidFill>
                  </a:tcPr>
                </a:tc>
                <a:tc>
                  <a:txBody>
                    <a:bodyPr/>
                    <a:lstStyle/>
                    <a:p>
                      <a:r>
                        <a:rPr lang="en-US" sz="1800" dirty="0" smtClean="0">
                          <a:solidFill>
                            <a:schemeClr val="bg1"/>
                          </a:solidFill>
                          <a:effectLst>
                            <a:outerShdw blurRad="38100" dist="38100" dir="2700000" algn="tl">
                              <a:srgbClr val="000000">
                                <a:alpha val="43137"/>
                              </a:srgbClr>
                            </a:outerShdw>
                          </a:effectLst>
                        </a:rPr>
                        <a:t>Targeted at</a:t>
                      </a:r>
                      <a:r>
                        <a:rPr lang="en-US" sz="1800" baseline="0" dirty="0" smtClean="0">
                          <a:solidFill>
                            <a:schemeClr val="bg1"/>
                          </a:solidFill>
                          <a:effectLst>
                            <a:outerShdw blurRad="38100" dist="38100" dir="2700000" algn="tl">
                              <a:srgbClr val="000000">
                                <a:alpha val="43137"/>
                              </a:srgbClr>
                            </a:outerShdw>
                          </a:effectLst>
                        </a:rPr>
                        <a:t> Healthcare Professionals</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C00000"/>
                    </a:solidFill>
                  </a:tcPr>
                </a:tc>
              </a:tr>
              <a:tr h="370758">
                <a:tc>
                  <a:txBody>
                    <a:bodyPr/>
                    <a:lstStyle/>
                    <a:p>
                      <a:r>
                        <a:rPr lang="en-US" sz="1800" dirty="0" smtClean="0">
                          <a:solidFill>
                            <a:schemeClr val="bg1"/>
                          </a:solidFill>
                          <a:effectLst>
                            <a:outerShdw blurRad="38100" dist="38100" dir="2700000" algn="tl">
                              <a:srgbClr val="000000">
                                <a:alpha val="43137"/>
                              </a:srgbClr>
                            </a:outerShdw>
                          </a:effectLst>
                        </a:rPr>
                        <a:t>Editors</a:t>
                      </a:r>
                      <a:endParaRPr lang="en-US" sz="1800" dirty="0">
                        <a:solidFill>
                          <a:schemeClr val="bg1"/>
                        </a:solidFill>
                        <a:effectLst>
                          <a:outerShdw blurRad="38100" dist="38100" dir="2700000" algn="tl">
                            <a:srgbClr val="000000">
                              <a:alpha val="43137"/>
                            </a:srgbClr>
                          </a:outerShdw>
                        </a:effectLst>
                      </a:endParaRPr>
                    </a:p>
                  </a:txBody>
                  <a:tcPr marT="45710" marB="45710">
                    <a:solidFill>
                      <a:schemeClr val="accent1">
                        <a:lumMod val="50000"/>
                      </a:schemeClr>
                    </a:solidFill>
                  </a:tcPr>
                </a:tc>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rgbClr val="FF9933"/>
                    </a:solidFill>
                  </a:tcPr>
                </a:tc>
                <a:tc>
                  <a:txBody>
                    <a:bodyPr/>
                    <a:lstStyle/>
                    <a:p>
                      <a:r>
                        <a:rPr lang="en-US" sz="1800" dirty="0" smtClean="0">
                          <a:solidFill>
                            <a:schemeClr val="bg1"/>
                          </a:solidFill>
                          <a:effectLst>
                            <a:outerShdw blurRad="38100" dist="38100" dir="2700000" algn="tl">
                              <a:srgbClr val="000000">
                                <a:alpha val="43137"/>
                              </a:srgbClr>
                            </a:outerShdw>
                          </a:effectLst>
                        </a:rPr>
                        <a:t>Editors</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C00000"/>
                    </a:solidFill>
                  </a:tcPr>
                </a:tc>
              </a:tr>
              <a:tr h="640157">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chemeClr val="accent1">
                        <a:lumMod val="50000"/>
                      </a:schemeClr>
                    </a:solidFill>
                  </a:tcPr>
                </a:tc>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rgbClr val="FF9933"/>
                    </a:solidFill>
                  </a:tcPr>
                </a:tc>
                <a:tc>
                  <a:txBody>
                    <a:bodyPr/>
                    <a:lstStyle/>
                    <a:p>
                      <a:r>
                        <a:rPr lang="en-US" sz="1800" dirty="0" smtClean="0">
                          <a:solidFill>
                            <a:schemeClr val="bg1"/>
                          </a:solidFill>
                          <a:effectLst>
                            <a:outerShdw blurRad="38100" dist="38100" dir="2700000" algn="tl">
                              <a:srgbClr val="000000">
                                <a:alpha val="43137"/>
                              </a:srgbClr>
                            </a:outerShdw>
                          </a:effectLst>
                        </a:rPr>
                        <a:t>Expanded images (pathology, videos)</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C00000"/>
                    </a:solidFill>
                  </a:tcPr>
                </a:tc>
              </a:tr>
              <a:tr h="640157">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chemeClr val="accent1">
                        <a:lumMod val="50000"/>
                      </a:schemeClr>
                    </a:solidFill>
                  </a:tcPr>
                </a:tc>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rgbClr val="FF9933"/>
                    </a:solidFill>
                  </a:tcPr>
                </a:tc>
                <a:tc>
                  <a:txBody>
                    <a:bodyPr/>
                    <a:lstStyle/>
                    <a:p>
                      <a:r>
                        <a:rPr lang="en-US" sz="1800" dirty="0" smtClean="0">
                          <a:solidFill>
                            <a:schemeClr val="bg1"/>
                          </a:solidFill>
                          <a:effectLst>
                            <a:outerShdw blurRad="38100" dist="38100" dir="2700000" algn="tl">
                              <a:srgbClr val="000000">
                                <a:alpha val="43137"/>
                              </a:srgbClr>
                            </a:outerShdw>
                          </a:effectLst>
                        </a:rPr>
                        <a:t>Expanded</a:t>
                      </a:r>
                      <a:r>
                        <a:rPr lang="en-US" sz="1800" baseline="0" dirty="0" smtClean="0">
                          <a:solidFill>
                            <a:schemeClr val="bg1"/>
                          </a:solidFill>
                          <a:effectLst>
                            <a:outerShdw blurRad="38100" dist="38100" dir="2700000" algn="tl">
                              <a:srgbClr val="000000">
                                <a:alpha val="43137"/>
                              </a:srgbClr>
                            </a:outerShdw>
                          </a:effectLst>
                        </a:rPr>
                        <a:t> differential diagnosis</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C00000"/>
                    </a:solidFill>
                  </a:tcPr>
                </a:tc>
              </a:tr>
              <a:tr h="640157">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chemeClr val="accent1">
                        <a:lumMod val="50000"/>
                      </a:schemeClr>
                    </a:solidFill>
                  </a:tcPr>
                </a:tc>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rgbClr val="FF9933"/>
                    </a:solidFill>
                  </a:tcPr>
                </a:tc>
                <a:tc>
                  <a:txBody>
                    <a:bodyPr/>
                    <a:lstStyle/>
                    <a:p>
                      <a:r>
                        <a:rPr lang="en-US" sz="1800" dirty="0" smtClean="0">
                          <a:solidFill>
                            <a:schemeClr val="bg1"/>
                          </a:solidFill>
                          <a:effectLst>
                            <a:outerShdw blurRad="38100" dist="38100" dir="2700000" algn="tl">
                              <a:srgbClr val="000000">
                                <a:alpha val="43137"/>
                              </a:srgbClr>
                            </a:outerShdw>
                          </a:effectLst>
                        </a:rPr>
                        <a:t>Board Review Questions</a:t>
                      </a:r>
                      <a:endParaRPr lang="en-US" sz="1800" dirty="0">
                        <a:solidFill>
                          <a:schemeClr val="bg1"/>
                        </a:solidFill>
                        <a:effectLst>
                          <a:outerShdw blurRad="38100" dist="38100" dir="2700000" algn="tl">
                            <a:srgbClr val="000000">
                              <a:alpha val="43137"/>
                            </a:srgbClr>
                          </a:outerShdw>
                        </a:effectLst>
                      </a:endParaRPr>
                    </a:p>
                  </a:txBody>
                  <a:tcPr marT="45710" marB="45710">
                    <a:solidFill>
                      <a:srgbClr val="C00000"/>
                    </a:solidFill>
                  </a:tcPr>
                </a:tc>
              </a:tr>
              <a:tr h="640157">
                <a:tc>
                  <a:txBody>
                    <a:bodyPr/>
                    <a:lstStyle/>
                    <a:p>
                      <a:r>
                        <a:rPr lang="en-US" sz="1800" dirty="0" smtClean="0">
                          <a:solidFill>
                            <a:schemeClr val="bg1"/>
                          </a:solidFill>
                          <a:effectLst>
                            <a:outerShdw blurRad="38100" dist="38100" dir="2700000" algn="tl">
                              <a:srgbClr val="000000">
                                <a:alpha val="43137"/>
                              </a:srgbClr>
                            </a:outerShdw>
                          </a:effectLst>
                        </a:rPr>
                        <a:t>Toolbar</a:t>
                      </a:r>
                      <a:r>
                        <a:rPr lang="en-US" sz="1800" baseline="0" dirty="0" smtClean="0">
                          <a:solidFill>
                            <a:schemeClr val="bg1"/>
                          </a:solidFill>
                          <a:effectLst>
                            <a:outerShdw blurRad="38100" dist="38100" dir="2700000" algn="tl">
                              <a:srgbClr val="000000">
                                <a:alpha val="43137"/>
                              </a:srgbClr>
                            </a:outerShdw>
                          </a:effectLst>
                        </a:rPr>
                        <a:t> shows related searches</a:t>
                      </a:r>
                      <a:endParaRPr lang="en-US" sz="1800" dirty="0">
                        <a:solidFill>
                          <a:schemeClr val="bg1"/>
                        </a:solidFill>
                        <a:effectLst>
                          <a:outerShdw blurRad="38100" dist="38100" dir="2700000" algn="tl">
                            <a:srgbClr val="000000">
                              <a:alpha val="43137"/>
                            </a:srgbClr>
                          </a:outerShdw>
                        </a:effectLst>
                      </a:endParaRPr>
                    </a:p>
                  </a:txBody>
                  <a:tcPr marT="45710" marB="45710">
                    <a:solidFill>
                      <a:schemeClr val="accent1">
                        <a:lumMod val="50000"/>
                      </a:schemeClr>
                    </a:solidFill>
                  </a:tcPr>
                </a:tc>
                <a:tc>
                  <a:txBody>
                    <a:bodyPr/>
                    <a:lstStyle/>
                    <a:p>
                      <a:endParaRPr lang="en-US" sz="1800" dirty="0">
                        <a:solidFill>
                          <a:schemeClr val="bg1"/>
                        </a:solidFill>
                        <a:effectLst>
                          <a:outerShdw blurRad="38100" dist="38100" dir="2700000" algn="tl">
                            <a:srgbClr val="000000">
                              <a:alpha val="43137"/>
                            </a:srgbClr>
                          </a:outerShdw>
                        </a:effectLst>
                      </a:endParaRPr>
                    </a:p>
                  </a:txBody>
                  <a:tcPr marT="45710" marB="45710">
                    <a:solidFill>
                      <a:srgbClr val="FF993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bg1"/>
                          </a:solidFill>
                          <a:effectLst>
                            <a:outerShdw blurRad="38100" dist="38100" dir="2700000" algn="tl">
                              <a:srgbClr val="000000">
                                <a:alpha val="43137"/>
                              </a:srgbClr>
                            </a:outerShdw>
                          </a:effectLst>
                        </a:rPr>
                        <a:t>Toolbar</a:t>
                      </a:r>
                      <a:r>
                        <a:rPr lang="en-US" sz="1800" baseline="0" dirty="0" smtClean="0">
                          <a:solidFill>
                            <a:schemeClr val="bg1"/>
                          </a:solidFill>
                          <a:effectLst>
                            <a:outerShdw blurRad="38100" dist="38100" dir="2700000" algn="tl">
                              <a:srgbClr val="000000">
                                <a:alpha val="43137"/>
                              </a:srgbClr>
                            </a:outerShdw>
                          </a:effectLst>
                        </a:rPr>
                        <a:t> shows related searches</a:t>
                      </a:r>
                      <a:endParaRPr lang="en-US" sz="1800" dirty="0" smtClean="0">
                        <a:solidFill>
                          <a:schemeClr val="bg1"/>
                        </a:solidFill>
                        <a:effectLst>
                          <a:outerShdw blurRad="38100" dist="38100" dir="2700000" algn="tl">
                            <a:srgbClr val="000000">
                              <a:alpha val="43137"/>
                            </a:srgbClr>
                          </a:outerShdw>
                        </a:effectLst>
                      </a:endParaRPr>
                    </a:p>
                  </a:txBody>
                  <a:tcPr marT="45710" marB="45710">
                    <a:solidFill>
                      <a:srgbClr val="C00000"/>
                    </a:solidFill>
                  </a:tcPr>
                </a:tc>
              </a:tr>
            </a:tbl>
          </a:graphicData>
        </a:graphic>
      </p:graphicFrame>
      <p:sp>
        <p:nvSpPr>
          <p:cNvPr id="6" name="TextBox 5"/>
          <p:cNvSpPr txBox="1"/>
          <p:nvPr/>
        </p:nvSpPr>
        <p:spPr>
          <a:xfrm>
            <a:off x="1447800" y="1143000"/>
            <a:ext cx="6086475" cy="430213"/>
          </a:xfrm>
          <a:prstGeom prst="rect">
            <a:avLst/>
          </a:prstGeom>
          <a:noFill/>
        </p:spPr>
        <p:txBody>
          <a:bodyPr wrap="none">
            <a:spAutoFit/>
          </a:bodyPr>
          <a:lstStyle/>
          <a:p>
            <a:pPr>
              <a:defRPr/>
            </a:pPr>
            <a:r>
              <a:rPr lang="en-US" dirty="0">
                <a:solidFill>
                  <a:schemeClr val="bg1"/>
                </a:solidFill>
                <a:latin typeface="+mn-lt"/>
              </a:rPr>
              <a:t>Bidirectional flow of information, complimentary</a:t>
            </a:r>
          </a:p>
        </p:txBody>
      </p:sp>
      <p:grpSp>
        <p:nvGrpSpPr>
          <p:cNvPr id="31784" name="Group 4"/>
          <p:cNvGrpSpPr>
            <a:grpSpLocks/>
          </p:cNvGrpSpPr>
          <p:nvPr/>
        </p:nvGrpSpPr>
        <p:grpSpPr bwMode="auto">
          <a:xfrm>
            <a:off x="76200" y="6461125"/>
            <a:ext cx="2736850" cy="369888"/>
            <a:chOff x="76200" y="6461774"/>
            <a:chExt cx="2736405" cy="369332"/>
          </a:xfrm>
        </p:grpSpPr>
        <p:pic>
          <p:nvPicPr>
            <p:cNvPr id="31785"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WikiDoc</a:t>
            </a:r>
            <a:r>
              <a:rPr lang="en-US" dirty="0" smtClean="0"/>
              <a:t> Content</a:t>
            </a:r>
            <a:endParaRPr lang="en-US" dirty="0"/>
          </a:p>
        </p:txBody>
      </p:sp>
      <p:sp>
        <p:nvSpPr>
          <p:cNvPr id="4" name="Content Placeholder 3"/>
          <p:cNvSpPr txBox="1">
            <a:spLocks noGrp="1"/>
          </p:cNvSpPr>
          <p:nvPr>
            <p:ph idx="1"/>
          </p:nvPr>
        </p:nvSpPr>
        <p:spPr>
          <a:xfrm>
            <a:off x="331788" y="2133600"/>
            <a:ext cx="8458200" cy="3662363"/>
          </a:xfrm>
        </p:spPr>
        <p:txBody>
          <a:bodyPr rtlCol="0">
            <a:spAutoFit/>
          </a:bodyPr>
          <a:lstStyle/>
          <a:p>
            <a:pPr>
              <a:defRPr/>
            </a:pPr>
            <a:r>
              <a:rPr lang="en-US" sz="4000" dirty="0" smtClean="0"/>
              <a:t>Over 188,000 chapters of content</a:t>
            </a:r>
          </a:p>
          <a:p>
            <a:pPr>
              <a:defRPr/>
            </a:pPr>
            <a:r>
              <a:rPr lang="en-US" sz="4000" dirty="0" smtClean="0"/>
              <a:t>&gt;660,000 edits to the pages</a:t>
            </a:r>
          </a:p>
          <a:p>
            <a:pPr>
              <a:defRPr/>
            </a:pPr>
            <a:r>
              <a:rPr lang="en-US" sz="4000" dirty="0" smtClean="0"/>
              <a:t>Over 6,900 registered authors</a:t>
            </a:r>
          </a:p>
          <a:p>
            <a:pPr>
              <a:defRPr/>
            </a:pPr>
            <a:r>
              <a:rPr lang="en-US" sz="4000" dirty="0" smtClean="0"/>
              <a:t>Over 23,000 copyleft images</a:t>
            </a:r>
          </a:p>
          <a:p>
            <a:pPr>
              <a:defRPr/>
            </a:pPr>
            <a:r>
              <a:rPr lang="en-US" sz="4000" dirty="0" smtClean="0"/>
              <a:t>150 million views each year</a:t>
            </a:r>
          </a:p>
        </p:txBody>
      </p:sp>
      <p:grpSp>
        <p:nvGrpSpPr>
          <p:cNvPr id="32774" name="Group 4"/>
          <p:cNvGrpSpPr>
            <a:grpSpLocks/>
          </p:cNvGrpSpPr>
          <p:nvPr/>
        </p:nvGrpSpPr>
        <p:grpSpPr bwMode="auto">
          <a:xfrm>
            <a:off x="76200" y="6461125"/>
            <a:ext cx="2736850" cy="369888"/>
            <a:chOff x="76200" y="6461774"/>
            <a:chExt cx="2736405" cy="369332"/>
          </a:xfrm>
        </p:grpSpPr>
        <p:pic>
          <p:nvPicPr>
            <p:cNvPr id="32775"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WikiDoc</a:t>
            </a:r>
            <a:r>
              <a:rPr lang="en-US" dirty="0" smtClean="0"/>
              <a:t>: The Team</a:t>
            </a:r>
            <a:endParaRPr lang="en-US" dirty="0"/>
          </a:p>
        </p:txBody>
      </p:sp>
      <p:sp>
        <p:nvSpPr>
          <p:cNvPr id="3" name="Content Placeholder 2"/>
          <p:cNvSpPr>
            <a:spLocks noGrp="1"/>
          </p:cNvSpPr>
          <p:nvPr>
            <p:ph idx="1"/>
          </p:nvPr>
        </p:nvSpPr>
        <p:spPr>
          <a:xfrm>
            <a:off x="228600" y="1371600"/>
            <a:ext cx="8610600" cy="5181600"/>
          </a:xfrm>
        </p:spPr>
        <p:txBody>
          <a:bodyPr/>
          <a:lstStyle/>
          <a:p>
            <a:pPr>
              <a:defRPr/>
            </a:pPr>
            <a:r>
              <a:rPr lang="en-US" dirty="0" smtClean="0"/>
              <a:t>Role of </a:t>
            </a:r>
            <a:r>
              <a:rPr lang="en-US" dirty="0" err="1" smtClean="0"/>
              <a:t>WikiDoc</a:t>
            </a:r>
            <a:r>
              <a:rPr lang="en-US" dirty="0" smtClean="0"/>
              <a:t> Team</a:t>
            </a:r>
          </a:p>
          <a:p>
            <a:pPr lvl="1">
              <a:defRPr/>
            </a:pPr>
            <a:r>
              <a:rPr lang="en-US" sz="2400" dirty="0" smtClean="0"/>
              <a:t>20+ dedicated full time volunteers</a:t>
            </a:r>
          </a:p>
          <a:p>
            <a:pPr lvl="1">
              <a:defRPr/>
            </a:pPr>
            <a:r>
              <a:rPr lang="en-US" sz="2400" dirty="0" smtClean="0"/>
              <a:t>Hotline / Help Desk</a:t>
            </a:r>
          </a:p>
          <a:p>
            <a:pPr lvl="1">
              <a:defRPr/>
            </a:pPr>
            <a:r>
              <a:rPr lang="en-US" sz="2400" dirty="0" smtClean="0"/>
              <a:t>Train physicians</a:t>
            </a:r>
            <a:r>
              <a:rPr lang="en-US" sz="2400" dirty="0"/>
              <a:t> </a:t>
            </a:r>
            <a:r>
              <a:rPr lang="en-US" sz="2400" dirty="0" smtClean="0"/>
              <a:t>other volunteers</a:t>
            </a:r>
          </a:p>
          <a:p>
            <a:pPr lvl="1">
              <a:defRPr/>
            </a:pPr>
            <a:r>
              <a:rPr lang="en-US" sz="2400" dirty="0" smtClean="0"/>
              <a:t>Upload content to the site for those who need help</a:t>
            </a:r>
          </a:p>
          <a:p>
            <a:pPr lvl="1">
              <a:defRPr/>
            </a:pPr>
            <a:r>
              <a:rPr lang="en-US" sz="2400" dirty="0" smtClean="0"/>
              <a:t>Convert </a:t>
            </a:r>
            <a:r>
              <a:rPr lang="en-US" sz="2400" dirty="0" err="1" smtClean="0"/>
              <a:t>Echos</a:t>
            </a:r>
            <a:r>
              <a:rPr lang="en-US" sz="2400" dirty="0" smtClean="0"/>
              <a:t> and other media for use on the site</a:t>
            </a:r>
          </a:p>
          <a:p>
            <a:pPr lvl="1">
              <a:defRPr/>
            </a:pPr>
            <a:r>
              <a:rPr lang="en-US" sz="2400" dirty="0" smtClean="0"/>
              <a:t>Supervise volunteer efforts</a:t>
            </a:r>
          </a:p>
          <a:p>
            <a:pPr lvl="1">
              <a:defRPr/>
            </a:pPr>
            <a:r>
              <a:rPr lang="en-US" sz="2400" dirty="0" smtClean="0"/>
              <a:t>Police the site for vandalism</a:t>
            </a:r>
          </a:p>
          <a:p>
            <a:pPr lvl="1">
              <a:defRPr/>
            </a:pPr>
            <a:r>
              <a:rPr lang="en-US" sz="2400" dirty="0" smtClean="0"/>
              <a:t>Create a consistent structure on the site</a:t>
            </a:r>
            <a:endParaRPr lang="en-US" sz="2400" dirty="0"/>
          </a:p>
        </p:txBody>
      </p:sp>
      <p:pic>
        <p:nvPicPr>
          <p:cNvPr id="33798"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WikiDoc</a:t>
            </a:r>
            <a:r>
              <a:rPr lang="en-US" dirty="0" smtClean="0"/>
              <a:t> Home Page</a:t>
            </a:r>
            <a:endParaRPr lang="en-US" dirty="0"/>
          </a:p>
        </p:txBody>
      </p:sp>
      <p:sp>
        <p:nvSpPr>
          <p:cNvPr id="4" name="Content Placeholder 3"/>
          <p:cNvSpPr txBox="1">
            <a:spLocks noGrp="1"/>
          </p:cNvSpPr>
          <p:nvPr>
            <p:ph idx="1"/>
          </p:nvPr>
        </p:nvSpPr>
        <p:spPr>
          <a:xfrm>
            <a:off x="331788" y="2133600"/>
            <a:ext cx="8458200" cy="3662363"/>
          </a:xfrm>
        </p:spPr>
        <p:txBody>
          <a:bodyPr rtlCol="0">
            <a:spAutoFit/>
          </a:bodyPr>
          <a:lstStyle/>
          <a:p>
            <a:pPr>
              <a:defRPr/>
            </a:pPr>
            <a:r>
              <a:rPr lang="en-US" sz="4000" dirty="0" smtClean="0"/>
              <a:t>Over 188,000 chapters of content</a:t>
            </a:r>
          </a:p>
          <a:p>
            <a:pPr>
              <a:defRPr/>
            </a:pPr>
            <a:r>
              <a:rPr lang="en-US" sz="4000" dirty="0" smtClean="0"/>
              <a:t>&gt;660,000 edits to the pages</a:t>
            </a:r>
          </a:p>
          <a:p>
            <a:pPr>
              <a:defRPr/>
            </a:pPr>
            <a:r>
              <a:rPr lang="en-US" sz="4000" dirty="0" smtClean="0"/>
              <a:t>Over 6,900 registered authors</a:t>
            </a:r>
          </a:p>
          <a:p>
            <a:pPr>
              <a:defRPr/>
            </a:pPr>
            <a:r>
              <a:rPr lang="en-US" sz="4000" dirty="0" smtClean="0"/>
              <a:t>Over 23,000 copyleft images</a:t>
            </a:r>
          </a:p>
          <a:p>
            <a:pPr>
              <a:defRPr/>
            </a:pPr>
            <a:r>
              <a:rPr lang="en-US" sz="4000" dirty="0" smtClean="0"/>
              <a:t>150 million views each year</a:t>
            </a:r>
          </a:p>
        </p:txBody>
      </p:sp>
      <p:grpSp>
        <p:nvGrpSpPr>
          <p:cNvPr id="34822" name="Group 4"/>
          <p:cNvGrpSpPr>
            <a:grpSpLocks/>
          </p:cNvGrpSpPr>
          <p:nvPr/>
        </p:nvGrpSpPr>
        <p:grpSpPr bwMode="auto">
          <a:xfrm>
            <a:off x="76200" y="6461125"/>
            <a:ext cx="2736850" cy="369888"/>
            <a:chOff x="76200" y="6461774"/>
            <a:chExt cx="2736405" cy="369332"/>
          </a:xfrm>
        </p:grpSpPr>
        <p:pic>
          <p:nvPicPr>
            <p:cNvPr id="34824"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pic>
        <p:nvPicPr>
          <p:cNvPr id="3482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38213"/>
            <a:ext cx="9144000" cy="589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WikiPatient</a:t>
            </a:r>
            <a:r>
              <a:rPr lang="en-US" dirty="0" smtClean="0"/>
              <a:t>: Thousands of Chapters Now</a:t>
            </a:r>
            <a:endParaRPr lang="en-US" dirty="0"/>
          </a:p>
        </p:txBody>
      </p:sp>
      <p:grpSp>
        <p:nvGrpSpPr>
          <p:cNvPr id="35845" name="Group 4"/>
          <p:cNvGrpSpPr>
            <a:grpSpLocks/>
          </p:cNvGrpSpPr>
          <p:nvPr/>
        </p:nvGrpSpPr>
        <p:grpSpPr bwMode="auto">
          <a:xfrm>
            <a:off x="76200" y="6461125"/>
            <a:ext cx="2736850" cy="369888"/>
            <a:chOff x="76200" y="6461774"/>
            <a:chExt cx="2736405" cy="369332"/>
          </a:xfrm>
        </p:grpSpPr>
        <p:pic>
          <p:nvPicPr>
            <p:cNvPr id="35847" name="Picture 5"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pic>
        <p:nvPicPr>
          <p:cNvPr id="3584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19200"/>
            <a:ext cx="6926263"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WikiDoc: The Living Guidelines</a:t>
            </a:r>
            <a:endParaRPr lang="en-US" dirty="0"/>
          </a:p>
        </p:txBody>
      </p:sp>
      <p:pic>
        <p:nvPicPr>
          <p:cNvPr id="3686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143000"/>
            <a:ext cx="8788400" cy="516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WikiDoc: Expert Algorithms</a:t>
            </a:r>
            <a:endParaRPr lang="en-US" dirty="0"/>
          </a:p>
        </p:txBody>
      </p:sp>
      <p:pic>
        <p:nvPicPr>
          <p:cNvPr id="3789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19200"/>
            <a:ext cx="88471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894" name="Group 4"/>
          <p:cNvGrpSpPr>
            <a:grpSpLocks/>
          </p:cNvGrpSpPr>
          <p:nvPr/>
        </p:nvGrpSpPr>
        <p:grpSpPr bwMode="auto">
          <a:xfrm>
            <a:off x="76200" y="6461125"/>
            <a:ext cx="2736850" cy="369888"/>
            <a:chOff x="76200" y="6461774"/>
            <a:chExt cx="2736405" cy="369332"/>
          </a:xfrm>
        </p:grpSpPr>
        <p:pic>
          <p:nvPicPr>
            <p:cNvPr id="37895" name="Picture 5"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8" name="TextBox 7"/>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WikiDoc as a Research Tool: </a:t>
            </a:r>
            <a:endParaRPr lang="en-US" dirty="0"/>
          </a:p>
        </p:txBody>
      </p:sp>
      <p:sp>
        <p:nvSpPr>
          <p:cNvPr id="3" name="Content Placeholder 2"/>
          <p:cNvSpPr>
            <a:spLocks noGrp="1"/>
          </p:cNvSpPr>
          <p:nvPr>
            <p:ph idx="1"/>
          </p:nvPr>
        </p:nvSpPr>
        <p:spPr/>
        <p:txBody>
          <a:bodyPr/>
          <a:lstStyle/>
          <a:p>
            <a:pPr>
              <a:defRPr/>
            </a:pPr>
            <a:r>
              <a:rPr lang="en-US" dirty="0" smtClean="0"/>
              <a:t>WikiDoc now searches itself to find associations between symptoms, physical exam findings and disease states. </a:t>
            </a:r>
            <a:endParaRPr lang="en-US" dirty="0"/>
          </a:p>
        </p:txBody>
      </p:sp>
      <p:pic>
        <p:nvPicPr>
          <p:cNvPr id="38918"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Box 4"/>
          <p:cNvSpPr txBox="1">
            <a:spLocks noChangeArrowheads="1"/>
          </p:cNvSpPr>
          <p:nvPr/>
        </p:nvSpPr>
        <p:spPr bwMode="auto">
          <a:xfrm>
            <a:off x="255588" y="6461125"/>
            <a:ext cx="25574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imes New Roman" pitchFamily="18" charset="0"/>
                <a:cs typeface="Arial" charset="0"/>
              </a:defRPr>
            </a:lvl1pPr>
            <a:lvl2pPr marL="742950" indent="-285750" eaLnBrk="0" hangingPunct="0">
              <a:defRPr sz="2200">
                <a:solidFill>
                  <a:schemeClr val="tx1"/>
                </a:solidFill>
                <a:latin typeface="Times New Roman" pitchFamily="18" charset="0"/>
                <a:cs typeface="Arial" charset="0"/>
              </a:defRPr>
            </a:lvl2pPr>
            <a:lvl3pPr marL="1143000" indent="-228600" eaLnBrk="0" hangingPunct="0">
              <a:defRPr sz="2200">
                <a:solidFill>
                  <a:schemeClr val="tx1"/>
                </a:solidFill>
                <a:latin typeface="Times New Roman" pitchFamily="18" charset="0"/>
                <a:cs typeface="Arial" charset="0"/>
              </a:defRPr>
            </a:lvl3pPr>
            <a:lvl4pPr marL="1600200" indent="-228600" eaLnBrk="0" hangingPunct="0">
              <a:defRPr sz="2200">
                <a:solidFill>
                  <a:schemeClr val="tx1"/>
                </a:solidFill>
                <a:latin typeface="Times New Roman" pitchFamily="18" charset="0"/>
                <a:cs typeface="Arial" charset="0"/>
              </a:defRPr>
            </a:lvl4pPr>
            <a:lvl5pPr marL="2057400" indent="-228600" eaLnBrk="0" hangingPunct="0">
              <a:defRPr sz="22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2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2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2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200">
                <a:solidFill>
                  <a:schemeClr val="tx1"/>
                </a:solidFill>
                <a:latin typeface="Times New Roman" pitchFamily="18" charset="0"/>
                <a:cs typeface="Arial" charset="0"/>
              </a:defRPr>
            </a:lvl9pPr>
          </a:lstStyle>
          <a:p>
            <a:pPr eaLnBrk="1" hangingPunct="1"/>
            <a:r>
              <a:rPr lang="en-US" sz="1800">
                <a:solidFill>
                  <a:srgbClr val="FFFFFF"/>
                </a:solidFill>
                <a:latin typeface="Arial" charset="0"/>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sz="2400" dirty="0" smtClean="0"/>
              <a:t>Example of WikiDoc Searching Itself to Create a Full Differential Diagnosis of the Causes of Headache</a:t>
            </a:r>
            <a:endParaRPr lang="en-US" sz="2400" dirty="0"/>
          </a:p>
        </p:txBody>
      </p:sp>
      <p:sp>
        <p:nvSpPr>
          <p:cNvPr id="3" name="Content Placeholder 2"/>
          <p:cNvSpPr>
            <a:spLocks noGrp="1"/>
          </p:cNvSpPr>
          <p:nvPr>
            <p:ph idx="1"/>
          </p:nvPr>
        </p:nvSpPr>
        <p:spPr>
          <a:xfrm>
            <a:off x="685800" y="1295400"/>
            <a:ext cx="7772400" cy="685800"/>
          </a:xfrm>
          <a:solidFill>
            <a:schemeClr val="tx1">
              <a:lumMod val="75000"/>
              <a:lumOff val="25000"/>
            </a:schemeClr>
          </a:solidFill>
        </p:spPr>
        <p:txBody>
          <a:bodyPr/>
          <a:lstStyle/>
          <a:p>
            <a:pPr algn="ctr">
              <a:buFontTx/>
              <a:buNone/>
              <a:defRPr/>
            </a:pPr>
            <a:r>
              <a:rPr lang="en-US" sz="1800" dirty="0" smtClean="0"/>
              <a:t>WikiDoc searches 190,000 chapters to find all pages with the word Headache in them</a:t>
            </a:r>
          </a:p>
        </p:txBody>
      </p:sp>
      <p:sp>
        <p:nvSpPr>
          <p:cNvPr id="4" name="TextBox 3"/>
          <p:cNvSpPr txBox="1"/>
          <p:nvPr/>
        </p:nvSpPr>
        <p:spPr>
          <a:xfrm>
            <a:off x="663575" y="2401888"/>
            <a:ext cx="7848600" cy="646112"/>
          </a:xfrm>
          <a:prstGeom prst="rect">
            <a:avLst/>
          </a:prstGeom>
          <a:solidFill>
            <a:schemeClr val="tx1">
              <a:lumMod val="75000"/>
              <a:lumOff val="25000"/>
            </a:schemeClr>
          </a:solidFill>
        </p:spPr>
        <p:txBody>
          <a:bodyPr>
            <a:spAutoFit/>
          </a:bodyPr>
          <a:lstStyle/>
          <a:p>
            <a:pPr algn="ctr">
              <a:defRPr/>
            </a:pPr>
            <a:r>
              <a:rPr lang="en-US" sz="1800" dirty="0">
                <a:solidFill>
                  <a:schemeClr val="bg1"/>
                </a:solidFill>
                <a:latin typeface="+mj-lt"/>
              </a:rPr>
              <a:t>WikiDoc identifies &gt;2,000 chapters associated with Headache</a:t>
            </a:r>
          </a:p>
          <a:p>
            <a:pPr algn="ctr">
              <a:defRPr/>
            </a:pPr>
            <a:endParaRPr lang="en-US" sz="1800" dirty="0">
              <a:solidFill>
                <a:schemeClr val="bg1"/>
              </a:solidFill>
              <a:latin typeface="+mj-lt"/>
            </a:endParaRPr>
          </a:p>
        </p:txBody>
      </p:sp>
      <p:sp>
        <p:nvSpPr>
          <p:cNvPr id="6" name="TextBox 5"/>
          <p:cNvSpPr txBox="1"/>
          <p:nvPr/>
        </p:nvSpPr>
        <p:spPr>
          <a:xfrm>
            <a:off x="620713" y="3429000"/>
            <a:ext cx="7924800" cy="1200150"/>
          </a:xfrm>
          <a:prstGeom prst="rect">
            <a:avLst/>
          </a:prstGeom>
          <a:solidFill>
            <a:schemeClr val="tx1">
              <a:lumMod val="75000"/>
              <a:lumOff val="25000"/>
            </a:schemeClr>
          </a:solidFill>
        </p:spPr>
        <p:txBody>
          <a:bodyPr>
            <a:spAutoFit/>
          </a:bodyPr>
          <a:lstStyle/>
          <a:p>
            <a:pPr algn="ctr">
              <a:defRPr/>
            </a:pPr>
            <a:r>
              <a:rPr lang="en-US" sz="1800" dirty="0">
                <a:solidFill>
                  <a:schemeClr val="bg1"/>
                </a:solidFill>
                <a:latin typeface="+mj-lt"/>
              </a:rPr>
              <a:t>Physician reviews 2,000 chapters to ensure that only those Diseases truly associated with Headache are included in database</a:t>
            </a:r>
          </a:p>
          <a:p>
            <a:pPr algn="ctr">
              <a:defRPr/>
            </a:pPr>
            <a:r>
              <a:rPr lang="en-US" sz="1800" dirty="0">
                <a:solidFill>
                  <a:schemeClr val="bg1"/>
                </a:solidFill>
                <a:latin typeface="+mj-lt"/>
              </a:rPr>
              <a:t>(Excludes treatments of Headache, other symptoms associated with Headache etc.)</a:t>
            </a:r>
          </a:p>
        </p:txBody>
      </p:sp>
      <p:sp>
        <p:nvSpPr>
          <p:cNvPr id="7" name="Content Placeholder 2"/>
          <p:cNvSpPr txBox="1">
            <a:spLocks/>
          </p:cNvSpPr>
          <p:nvPr/>
        </p:nvSpPr>
        <p:spPr bwMode="auto">
          <a:xfrm>
            <a:off x="685800" y="5029200"/>
            <a:ext cx="7772400" cy="685800"/>
          </a:xfrm>
          <a:prstGeom prst="rect">
            <a:avLst/>
          </a:prstGeom>
          <a:solidFill>
            <a:schemeClr val="tx1">
              <a:lumMod val="75000"/>
              <a:lumOff val="25000"/>
            </a:schemeClr>
          </a:solidFill>
          <a:ln w="9525">
            <a:noFill/>
            <a:miter lim="800000"/>
            <a:headEnd/>
            <a:tailEnd/>
          </a:ln>
          <a:effectLst/>
        </p:spPr>
        <p:txBody>
          <a:bodyPr/>
          <a:lstStyle/>
          <a:p>
            <a:pPr marL="342900" indent="-342900" algn="ctr" eaLnBrk="0" hangingPunct="0">
              <a:spcBef>
                <a:spcPct val="20000"/>
              </a:spcBef>
              <a:defRPr/>
            </a:pPr>
            <a:r>
              <a:rPr lang="en-US" sz="1800" kern="0" dirty="0">
                <a:solidFill>
                  <a:schemeClr val="bg1"/>
                </a:solidFill>
                <a:effectLst>
                  <a:outerShdw blurRad="38100" dist="38100" dir="2700000" algn="tl">
                    <a:srgbClr val="000000"/>
                  </a:outerShdw>
                </a:effectLst>
                <a:latin typeface="+mn-lt"/>
                <a:cs typeface="+mn-cs"/>
              </a:rPr>
              <a:t>Hundreds of diseases associated with Headache classified by organ system, and published in a table in WikiDoc</a:t>
            </a:r>
          </a:p>
        </p:txBody>
      </p:sp>
      <p:sp>
        <p:nvSpPr>
          <p:cNvPr id="8" name="Down Arrow 7"/>
          <p:cNvSpPr/>
          <p:nvPr/>
        </p:nvSpPr>
        <p:spPr>
          <a:xfrm>
            <a:off x="4419600" y="1981200"/>
            <a:ext cx="304800" cy="3810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Down Arrow 8"/>
          <p:cNvSpPr/>
          <p:nvPr/>
        </p:nvSpPr>
        <p:spPr>
          <a:xfrm>
            <a:off x="4419600" y="3048000"/>
            <a:ext cx="304800" cy="3810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Down Arrow 9"/>
          <p:cNvSpPr/>
          <p:nvPr/>
        </p:nvSpPr>
        <p:spPr>
          <a:xfrm>
            <a:off x="4419600" y="4629150"/>
            <a:ext cx="304800" cy="3810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Down Arrow 10"/>
          <p:cNvSpPr/>
          <p:nvPr/>
        </p:nvSpPr>
        <p:spPr>
          <a:xfrm>
            <a:off x="4419600" y="5715000"/>
            <a:ext cx="304800" cy="3810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Content Placeholder 2"/>
          <p:cNvSpPr txBox="1">
            <a:spLocks/>
          </p:cNvSpPr>
          <p:nvPr/>
        </p:nvSpPr>
        <p:spPr bwMode="auto">
          <a:xfrm>
            <a:off x="685800" y="6126163"/>
            <a:ext cx="7772400" cy="685800"/>
          </a:xfrm>
          <a:prstGeom prst="rect">
            <a:avLst/>
          </a:prstGeom>
          <a:solidFill>
            <a:schemeClr val="tx1">
              <a:lumMod val="75000"/>
              <a:lumOff val="25000"/>
            </a:schemeClr>
          </a:solidFill>
          <a:ln w="9525">
            <a:noFill/>
            <a:miter lim="800000"/>
            <a:headEnd/>
            <a:tailEnd/>
          </a:ln>
          <a:effectLst/>
        </p:spPr>
        <p:txBody>
          <a:bodyPr/>
          <a:lstStyle/>
          <a:p>
            <a:pPr marL="342900" indent="-342900" algn="ctr" eaLnBrk="0" hangingPunct="0">
              <a:spcBef>
                <a:spcPct val="20000"/>
              </a:spcBef>
              <a:defRPr/>
            </a:pPr>
            <a:r>
              <a:rPr lang="en-US" sz="1800" kern="0" dirty="0">
                <a:solidFill>
                  <a:schemeClr val="bg1"/>
                </a:solidFill>
                <a:effectLst>
                  <a:outerShdw blurRad="38100" dist="38100" dir="2700000" algn="tl">
                    <a:srgbClr val="000000"/>
                  </a:outerShdw>
                </a:effectLst>
                <a:latin typeface="+mn-lt"/>
                <a:cs typeface="+mn-cs"/>
              </a:rPr>
              <a:t>WikiDoc continues to search for any new reference to Headache and adds this to the database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Differential Diagnosis of Headache</a:t>
            </a:r>
            <a:endParaRPr lang="en-US" dirty="0"/>
          </a:p>
        </p:txBody>
      </p:sp>
      <p:pic>
        <p:nvPicPr>
          <p:cNvPr id="4096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43000"/>
            <a:ext cx="7419975" cy="530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Differential Diagnosis of Headache (cont.)</a:t>
            </a:r>
            <a:endParaRPr lang="en-US" dirty="0"/>
          </a:p>
        </p:txBody>
      </p:sp>
      <p:pic>
        <p:nvPicPr>
          <p:cNvPr id="4198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925" y="1219200"/>
            <a:ext cx="729615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Differential Diagnosis of Headache (cont.)</a:t>
            </a:r>
            <a:endParaRPr lang="en-US" dirty="0"/>
          </a:p>
        </p:txBody>
      </p:sp>
      <p:pic>
        <p:nvPicPr>
          <p:cNvPr id="430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143000"/>
            <a:ext cx="7239000" cy="531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smtClean="0"/>
              <a:t>Differential Diagnosis of Headache (cont.)</a:t>
            </a:r>
            <a:endParaRPr lang="en-US" dirty="0"/>
          </a:p>
        </p:txBody>
      </p:sp>
      <p:pic>
        <p:nvPicPr>
          <p:cNvPr id="4403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524000"/>
            <a:ext cx="720090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err="1" smtClean="0"/>
              <a:t>WikiDoc</a:t>
            </a:r>
            <a:r>
              <a:rPr lang="en-US" dirty="0" smtClean="0"/>
              <a:t>: Successes</a:t>
            </a:r>
            <a:endParaRPr lang="en-US" dirty="0"/>
          </a:p>
        </p:txBody>
      </p:sp>
      <p:sp>
        <p:nvSpPr>
          <p:cNvPr id="3" name="Content Placeholder 2"/>
          <p:cNvSpPr>
            <a:spLocks noGrp="1"/>
          </p:cNvSpPr>
          <p:nvPr>
            <p:ph idx="1"/>
          </p:nvPr>
        </p:nvSpPr>
        <p:spPr>
          <a:xfrm>
            <a:off x="228600" y="1676400"/>
            <a:ext cx="8610600" cy="4114800"/>
          </a:xfrm>
        </p:spPr>
        <p:txBody>
          <a:bodyPr/>
          <a:lstStyle/>
          <a:p>
            <a:pPr>
              <a:defRPr/>
            </a:pPr>
            <a:r>
              <a:rPr lang="en-US" dirty="0" smtClean="0"/>
              <a:t>Large and growing viewership</a:t>
            </a:r>
          </a:p>
          <a:p>
            <a:pPr>
              <a:defRPr/>
            </a:pPr>
            <a:r>
              <a:rPr lang="en-US" dirty="0" smtClean="0"/>
              <a:t>Growing full time volunteer force of 20 – 28 dedicated individuals</a:t>
            </a:r>
          </a:p>
          <a:p>
            <a:pPr>
              <a:defRPr/>
            </a:pPr>
            <a:r>
              <a:rPr lang="en-US" dirty="0" smtClean="0"/>
              <a:t>Growing collaborations with internship and residency programs</a:t>
            </a:r>
            <a:endParaRPr lang="en-US" dirty="0"/>
          </a:p>
        </p:txBody>
      </p:sp>
      <p:pic>
        <p:nvPicPr>
          <p:cNvPr id="4"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err="1" smtClean="0"/>
              <a:t>WikiDoc</a:t>
            </a:r>
            <a:r>
              <a:rPr lang="en-US" dirty="0" smtClean="0"/>
              <a:t> Ongoing Challenges</a:t>
            </a:r>
            <a:endParaRPr lang="en-US" dirty="0"/>
          </a:p>
        </p:txBody>
      </p:sp>
      <p:sp>
        <p:nvSpPr>
          <p:cNvPr id="3" name="Content Placeholder 2"/>
          <p:cNvSpPr>
            <a:spLocks noGrp="1"/>
          </p:cNvSpPr>
          <p:nvPr>
            <p:ph idx="1"/>
          </p:nvPr>
        </p:nvSpPr>
        <p:spPr>
          <a:xfrm>
            <a:off x="533400" y="1676400"/>
            <a:ext cx="8229600" cy="4114800"/>
          </a:xfrm>
        </p:spPr>
        <p:txBody>
          <a:bodyPr/>
          <a:lstStyle/>
          <a:p>
            <a:pPr>
              <a:defRPr/>
            </a:pPr>
            <a:r>
              <a:rPr lang="en-US" dirty="0" err="1" smtClean="0"/>
              <a:t>WikiDoc</a:t>
            </a:r>
            <a:r>
              <a:rPr lang="en-US" dirty="0" smtClean="0"/>
              <a:t> content does not appear very high on search results</a:t>
            </a:r>
          </a:p>
          <a:p>
            <a:pPr>
              <a:defRPr/>
            </a:pPr>
            <a:r>
              <a:rPr lang="en-US" dirty="0" smtClean="0"/>
              <a:t>Vastly greater number of viewers than contributors</a:t>
            </a:r>
          </a:p>
          <a:p>
            <a:pPr>
              <a:defRPr/>
            </a:pPr>
            <a:r>
              <a:rPr lang="en-US" dirty="0" smtClean="0"/>
              <a:t>Initial implementation of a semantic coding system met with pushback from contributors due to its complexity</a:t>
            </a:r>
            <a:endParaRPr lang="en-US" dirty="0"/>
          </a:p>
        </p:txBody>
      </p:sp>
      <p:pic>
        <p:nvPicPr>
          <p:cNvPr id="4"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endParaRPr lang="en-US" dirty="0"/>
          </a:p>
        </p:txBody>
      </p:sp>
      <p:pic>
        <p:nvPicPr>
          <p:cNvPr id="47111" name="Picture 7" descr="http://www.spacepub.com/wp-content/uploads/2011/06/The-Truth-Is-Out-The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525" y="838200"/>
            <a:ext cx="5629275" cy="431482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602800" y="5715000"/>
            <a:ext cx="3493200" cy="523220"/>
          </a:xfrm>
          <a:prstGeom prst="rect">
            <a:avLst/>
          </a:prstGeom>
        </p:spPr>
        <p:txBody>
          <a:bodyPr wrap="none">
            <a:spAutoFit/>
          </a:bodyPr>
          <a:lstStyle/>
          <a:p>
            <a:r>
              <a:rPr lang="en-US" sz="2800" dirty="0" smtClean="0">
                <a:solidFill>
                  <a:srgbClr val="FFC000"/>
                </a:solidFill>
                <a:latin typeface="+mj-lt"/>
              </a:rPr>
              <a:t>We Just Can’t Find it</a:t>
            </a:r>
            <a:endParaRPr lang="en-US" sz="2800" dirty="0">
              <a:solidFill>
                <a:srgbClr val="FFC000"/>
              </a:solidFill>
              <a:latin typeface="+mj-lt"/>
            </a:endParaRPr>
          </a:p>
        </p:txBody>
      </p:sp>
      <p:pic>
        <p:nvPicPr>
          <p:cNvPr id="5" name="Picture 4"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a:t>Limitations of Search Algorithms</a:t>
            </a:r>
          </a:p>
        </p:txBody>
      </p:sp>
      <p:sp>
        <p:nvSpPr>
          <p:cNvPr id="3" name="Content Placeholder 2"/>
          <p:cNvSpPr>
            <a:spLocks noGrp="1"/>
          </p:cNvSpPr>
          <p:nvPr>
            <p:ph idx="1"/>
          </p:nvPr>
        </p:nvSpPr>
        <p:spPr>
          <a:xfrm>
            <a:off x="381000" y="1676400"/>
            <a:ext cx="8382000" cy="4114800"/>
          </a:xfrm>
        </p:spPr>
        <p:txBody>
          <a:bodyPr/>
          <a:lstStyle/>
          <a:p>
            <a:pPr>
              <a:defRPr/>
            </a:pPr>
            <a:r>
              <a:rPr lang="en-US" dirty="0" smtClean="0"/>
              <a:t>A societal goal is to discover new knowledge, particularly in a field such as medicine</a:t>
            </a:r>
          </a:p>
          <a:p>
            <a:pPr>
              <a:defRPr/>
            </a:pPr>
            <a:r>
              <a:rPr lang="en-US" dirty="0" smtClean="0"/>
              <a:t>An optimal search algorithm would identify not only well vetted static knowledge but would also identify new knowledge that would replace older </a:t>
            </a:r>
            <a:r>
              <a:rPr lang="en-US" dirty="0" smtClean="0"/>
              <a:t>inaccurate </a:t>
            </a:r>
            <a:r>
              <a:rPr lang="en-US" dirty="0" smtClean="0"/>
              <a:t>static knowledge</a:t>
            </a:r>
          </a:p>
          <a:p>
            <a:pPr>
              <a:defRPr/>
            </a:pPr>
            <a:endParaRPr lang="en-US" dirty="0"/>
          </a:p>
        </p:txBody>
      </p:sp>
      <p:pic>
        <p:nvPicPr>
          <p:cNvPr id="4"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smtClean="0"/>
              <a:t>Limitations of Search Algorithms</a:t>
            </a:r>
            <a:endParaRPr lang="en-US" dirty="0"/>
          </a:p>
        </p:txBody>
      </p:sp>
      <p:sp>
        <p:nvSpPr>
          <p:cNvPr id="3" name="Content Placeholder 2"/>
          <p:cNvSpPr>
            <a:spLocks noGrp="1"/>
          </p:cNvSpPr>
          <p:nvPr>
            <p:ph idx="1"/>
          </p:nvPr>
        </p:nvSpPr>
        <p:spPr>
          <a:xfrm>
            <a:off x="152400" y="1295400"/>
            <a:ext cx="8839200" cy="1905000"/>
          </a:xfrm>
        </p:spPr>
        <p:txBody>
          <a:bodyPr/>
          <a:lstStyle/>
          <a:p>
            <a:pPr>
              <a:defRPr/>
            </a:pPr>
            <a:r>
              <a:rPr lang="en-US" dirty="0" smtClean="0"/>
              <a:t>Do current search algorithms provide effective “evolutionary pressure” to promote the “survival of the fittest” knowledge?</a:t>
            </a:r>
            <a:endParaRPr lang="en-US" dirty="0"/>
          </a:p>
        </p:txBody>
      </p:sp>
      <p:pic>
        <p:nvPicPr>
          <p:cNvPr id="49159" name="Picture 7" descr="http://picturrs.com/files/funzug/imgs/wildlife/survival_of_fittest_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1"/>
            <a:ext cx="3153567" cy="2362200"/>
          </a:xfrm>
          <a:prstGeom prst="rect">
            <a:avLst/>
          </a:prstGeom>
          <a:noFill/>
          <a:extLst>
            <a:ext uri="{909E8E84-426E-40DD-AFC4-6F175D3DCCD1}">
              <a14:hiddenFill xmlns:a14="http://schemas.microsoft.com/office/drawing/2010/main">
                <a:solidFill>
                  <a:srgbClr val="FFFFFF"/>
                </a:solidFill>
              </a14:hiddenFill>
            </a:ext>
          </a:extLst>
        </p:spPr>
      </p:pic>
      <p:pic>
        <p:nvPicPr>
          <p:cNvPr id="49161" name="Picture 9" descr="http://interactyx.com/wp-content/uploads/2012/10/evolu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988558"/>
            <a:ext cx="6153150" cy="27551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opyleft.svg.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a:t>Limitations of Search </a:t>
            </a:r>
            <a:r>
              <a:rPr lang="en-US" dirty="0" smtClean="0"/>
              <a:t>Algorithms</a:t>
            </a:r>
            <a:endParaRPr lang="en-US" dirty="0"/>
          </a:p>
        </p:txBody>
      </p:sp>
      <p:sp>
        <p:nvSpPr>
          <p:cNvPr id="3" name="Content Placeholder 2"/>
          <p:cNvSpPr>
            <a:spLocks noGrp="1"/>
          </p:cNvSpPr>
          <p:nvPr>
            <p:ph idx="1"/>
          </p:nvPr>
        </p:nvSpPr>
        <p:spPr/>
        <p:txBody>
          <a:bodyPr/>
          <a:lstStyle/>
          <a:p>
            <a:pPr>
              <a:defRPr/>
            </a:pPr>
            <a:r>
              <a:rPr lang="en-US" dirty="0" smtClean="0"/>
              <a:t>Older, highly linked to static knowledge rises to the top of search results</a:t>
            </a:r>
          </a:p>
          <a:p>
            <a:pPr>
              <a:defRPr/>
            </a:pPr>
            <a:r>
              <a:rPr lang="en-US" dirty="0" smtClean="0"/>
              <a:t>There is a positive feedback loop that promotes the survival of popular static knowledge and does not display and thereby promote rapidly evolving more credible knowledge from content experts</a:t>
            </a:r>
          </a:p>
          <a:p>
            <a:pPr>
              <a:defRPr/>
            </a:pPr>
            <a:endParaRPr lang="en-US" dirty="0"/>
          </a:p>
        </p:txBody>
      </p:sp>
      <p:pic>
        <p:nvPicPr>
          <p:cNvPr id="4"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smtClean="0"/>
              <a:t>Limitations of </a:t>
            </a:r>
            <a:r>
              <a:rPr lang="en-US" dirty="0"/>
              <a:t>S</a:t>
            </a:r>
            <a:r>
              <a:rPr lang="en-US" dirty="0" smtClean="0"/>
              <a:t>earch Algorithms</a:t>
            </a:r>
            <a:endParaRPr lang="en-US" dirty="0"/>
          </a:p>
        </p:txBody>
      </p:sp>
      <p:sp>
        <p:nvSpPr>
          <p:cNvPr id="3" name="Content Placeholder 2"/>
          <p:cNvSpPr>
            <a:spLocks noGrp="1"/>
          </p:cNvSpPr>
          <p:nvPr>
            <p:ph idx="1"/>
          </p:nvPr>
        </p:nvSpPr>
        <p:spPr>
          <a:xfrm>
            <a:off x="190500" y="1828800"/>
            <a:ext cx="8839200" cy="2514600"/>
          </a:xfrm>
        </p:spPr>
        <p:txBody>
          <a:bodyPr/>
          <a:lstStyle/>
          <a:p>
            <a:pPr>
              <a:defRPr/>
            </a:pPr>
            <a:r>
              <a:rPr lang="en-US" dirty="0" smtClean="0"/>
              <a:t>The number of links is viewed as a surrogate for quality, “truth” or the fitness of </a:t>
            </a:r>
            <a:r>
              <a:rPr lang="en-US" dirty="0" smtClean="0"/>
              <a:t>knowledge</a:t>
            </a:r>
          </a:p>
          <a:p>
            <a:pPr>
              <a:defRPr/>
            </a:pPr>
            <a:endParaRPr lang="en-US" dirty="0" smtClean="0"/>
          </a:p>
          <a:p>
            <a:pPr>
              <a:defRPr/>
            </a:pPr>
            <a:r>
              <a:rPr lang="en-US" dirty="0" smtClean="0"/>
              <a:t>“Popularity” prevails over “credibility” in characterizing the “fitness” of knowledge</a:t>
            </a:r>
          </a:p>
          <a:p>
            <a:pPr>
              <a:defRPr/>
            </a:pPr>
            <a:endParaRPr lang="en-US" dirty="0"/>
          </a:p>
        </p:txBody>
      </p:sp>
      <p:pic>
        <p:nvPicPr>
          <p:cNvPr id="8"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10" name="TextBox 9"/>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4" descr="http://admin.fridayfunfacts.com/wp-content/uploads/2012/07/BillGat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114914"/>
            <a:ext cx="4343400" cy="31706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175814" y="6324600"/>
            <a:ext cx="3764172" cy="430887"/>
          </a:xfrm>
          <a:prstGeom prst="rect">
            <a:avLst/>
          </a:prstGeom>
          <a:noFill/>
        </p:spPr>
        <p:txBody>
          <a:bodyPr wrap="none" rtlCol="0">
            <a:spAutoFit/>
          </a:bodyPr>
          <a:lstStyle/>
          <a:p>
            <a:r>
              <a:rPr lang="en-US" dirty="0" smtClean="0">
                <a:solidFill>
                  <a:schemeClr val="bg1"/>
                </a:solidFill>
                <a:latin typeface="+mn-lt"/>
              </a:rPr>
              <a:t>He may have a good idea …</a:t>
            </a:r>
            <a:endParaRPr lang="en-US" dirty="0">
              <a:solidFill>
                <a:schemeClr val="bg1"/>
              </a:solidFill>
              <a:latin typeface="+mn-l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81642"/>
            <a:ext cx="1981200"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descr="http://mariaaaaxoxo.files.wordpress.com/2012/05/justin-bieber-2012-photoshoot-believe-justin-bieber-30909033-1800-240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 y="76199"/>
            <a:ext cx="1981200" cy="26416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438400" y="2286913"/>
            <a:ext cx="2932213" cy="430887"/>
          </a:xfrm>
          <a:prstGeom prst="rect">
            <a:avLst/>
          </a:prstGeom>
          <a:noFill/>
        </p:spPr>
        <p:txBody>
          <a:bodyPr wrap="none" rtlCol="0">
            <a:spAutoFit/>
          </a:bodyPr>
          <a:lstStyle/>
          <a:p>
            <a:r>
              <a:rPr lang="en-US" dirty="0" smtClean="0">
                <a:solidFill>
                  <a:schemeClr val="bg1"/>
                </a:solidFill>
                <a:latin typeface="+mn-lt"/>
              </a:rPr>
              <a:t>He may be popular …</a:t>
            </a:r>
            <a:endParaRPr lang="en-US" dirty="0">
              <a:solidFill>
                <a:schemeClr val="bg1"/>
              </a:solidFill>
              <a:latin typeface="+mn-lt"/>
            </a:endParaRPr>
          </a:p>
        </p:txBody>
      </p:sp>
      <p:sp>
        <p:nvSpPr>
          <p:cNvPr id="6" name="TextBox 5"/>
          <p:cNvSpPr txBox="1"/>
          <p:nvPr/>
        </p:nvSpPr>
        <p:spPr>
          <a:xfrm>
            <a:off x="2895600" y="3683913"/>
            <a:ext cx="800219" cy="584775"/>
          </a:xfrm>
          <a:prstGeom prst="rect">
            <a:avLst/>
          </a:prstGeom>
          <a:noFill/>
        </p:spPr>
        <p:txBody>
          <a:bodyPr wrap="none" rtlCol="0">
            <a:spAutoFit/>
          </a:bodyPr>
          <a:lstStyle/>
          <a:p>
            <a:r>
              <a:rPr lang="en-US" sz="3200" i="1" dirty="0" smtClean="0">
                <a:solidFill>
                  <a:schemeClr val="bg1"/>
                </a:solidFill>
                <a:latin typeface="+mn-lt"/>
              </a:rPr>
              <a:t>But</a:t>
            </a:r>
            <a:endParaRPr lang="en-US" sz="3200" i="1" dirty="0">
              <a:solidFill>
                <a:schemeClr val="bg1"/>
              </a:solidFill>
              <a:latin typeface="+mn-lt"/>
            </a:endParaRPr>
          </a:p>
        </p:txBody>
      </p:sp>
      <p:pic>
        <p:nvPicPr>
          <p:cNvPr id="9" name="Picture 4" descr="Copyleft.svg.gif"/>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extLst>
      <p:ext uri="{BB962C8B-B14F-4D97-AF65-F5344CB8AC3E}">
        <p14:creationId xmlns:p14="http://schemas.microsoft.com/office/powerpoint/2010/main" val="31590687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Search Algorithms</a:t>
            </a:r>
          </a:p>
        </p:txBody>
      </p:sp>
      <p:sp>
        <p:nvSpPr>
          <p:cNvPr id="3" name="Content Placeholder 2"/>
          <p:cNvSpPr>
            <a:spLocks noGrp="1"/>
          </p:cNvSpPr>
          <p:nvPr>
            <p:ph idx="1"/>
          </p:nvPr>
        </p:nvSpPr>
        <p:spPr/>
        <p:txBody>
          <a:bodyPr/>
          <a:lstStyle/>
          <a:p>
            <a:r>
              <a:rPr lang="en-US" dirty="0" smtClean="0"/>
              <a:t>Forums, membership-only and subscription-only sites (lime many medical information sites) are not indexed</a:t>
            </a:r>
          </a:p>
          <a:p>
            <a:r>
              <a:rPr lang="en-US" dirty="0" smtClean="0"/>
              <a:t>Sites that are slow to load may not be highly ranked</a:t>
            </a:r>
            <a:endParaRPr lang="en-US" dirty="0"/>
          </a:p>
        </p:txBody>
      </p:sp>
      <p:pic>
        <p:nvPicPr>
          <p:cNvPr id="4"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extLst>
      <p:ext uri="{BB962C8B-B14F-4D97-AF65-F5344CB8AC3E}">
        <p14:creationId xmlns:p14="http://schemas.microsoft.com/office/powerpoint/2010/main" val="18841229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5081" y="1828800"/>
            <a:ext cx="8610600" cy="4114800"/>
          </a:xfrm>
        </p:spPr>
        <p:txBody>
          <a:bodyPr/>
          <a:lstStyle/>
          <a:p>
            <a:pPr>
              <a:defRPr/>
            </a:pPr>
            <a:r>
              <a:rPr lang="en-US" sz="2800" dirty="0" smtClean="0"/>
              <a:t>Search algorithms currently do not adequately account for new knowledge that may be more accurate and has not yet been highly linked to by other sites</a:t>
            </a:r>
          </a:p>
          <a:p>
            <a:pPr>
              <a:defRPr/>
            </a:pPr>
            <a:r>
              <a:rPr lang="en-US" sz="2800" dirty="0" smtClean="0"/>
              <a:t>While collaborative authoring tools like a Wiki allow for the creation of new knowledge and </a:t>
            </a:r>
            <a:r>
              <a:rPr lang="en-US" sz="2800" dirty="0" smtClean="0"/>
              <a:t>the potential for rapid </a:t>
            </a:r>
            <a:r>
              <a:rPr lang="en-US" sz="2800" dirty="0" smtClean="0"/>
              <a:t>paradigm shifts, current search algorithms do not adequately identify paradigm shifts</a:t>
            </a:r>
            <a:r>
              <a:rPr lang="en-US" sz="2800" dirty="0"/>
              <a:t> </a:t>
            </a:r>
            <a:r>
              <a:rPr lang="en-US" sz="2800" dirty="0" smtClean="0"/>
              <a:t>in so far as they elevate older static knowledge</a:t>
            </a:r>
          </a:p>
        </p:txBody>
      </p:sp>
      <p:sp>
        <p:nvSpPr>
          <p:cNvPr id="4" name="Title 1"/>
          <p:cNvSpPr txBox="1">
            <a:spLocks/>
          </p:cNvSpPr>
          <p:nvPr/>
        </p:nvSpPr>
        <p:spPr bwMode="auto">
          <a:xfrm>
            <a:off x="0" y="0"/>
            <a:ext cx="9144000" cy="1143000"/>
          </a:xfrm>
          <a:prstGeom prst="rect">
            <a:avLst/>
          </a:prstGeo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a:solidFill>
                  <a:srgbClr val="FF9933"/>
                </a:solidFill>
                <a:effectLst>
                  <a:outerShdw blurRad="38100" dist="38100" dir="2700000" algn="tl">
                    <a:srgbClr val="000000">
                      <a:alpha val="43137"/>
                    </a:srgbClr>
                  </a:outerShdw>
                </a:effectLst>
                <a:latin typeface="+mj-lt"/>
                <a:ea typeface="+mj-ea"/>
                <a:cs typeface="+mj-cs"/>
              </a:defRPr>
            </a:lvl1pPr>
            <a:lvl2pPr algn="ctr" rtl="0" eaLnBrk="0" fontAlgn="base" hangingPunct="0">
              <a:spcBef>
                <a:spcPct val="0"/>
              </a:spcBef>
              <a:spcAft>
                <a:spcPct val="0"/>
              </a:spcAft>
              <a:defRPr sz="3200">
                <a:solidFill>
                  <a:srgbClr val="FF9933"/>
                </a:solidFill>
                <a:latin typeface="Arial" charset="0"/>
              </a:defRPr>
            </a:lvl2pPr>
            <a:lvl3pPr algn="ctr" rtl="0" eaLnBrk="0" fontAlgn="base" hangingPunct="0">
              <a:spcBef>
                <a:spcPct val="0"/>
              </a:spcBef>
              <a:spcAft>
                <a:spcPct val="0"/>
              </a:spcAft>
              <a:defRPr sz="3200">
                <a:solidFill>
                  <a:srgbClr val="FF9933"/>
                </a:solidFill>
                <a:latin typeface="Arial" charset="0"/>
              </a:defRPr>
            </a:lvl3pPr>
            <a:lvl4pPr algn="ctr" rtl="0" eaLnBrk="0" fontAlgn="base" hangingPunct="0">
              <a:spcBef>
                <a:spcPct val="0"/>
              </a:spcBef>
              <a:spcAft>
                <a:spcPct val="0"/>
              </a:spcAft>
              <a:defRPr sz="3200">
                <a:solidFill>
                  <a:srgbClr val="FF9933"/>
                </a:solidFill>
                <a:latin typeface="Arial" charset="0"/>
              </a:defRPr>
            </a:lvl4pPr>
            <a:lvl5pPr algn="ctr" rtl="0" eaLnBrk="0" fontAlgn="base" hangingPunct="0">
              <a:spcBef>
                <a:spcPct val="0"/>
              </a:spcBef>
              <a:spcAft>
                <a:spcPct val="0"/>
              </a:spcAft>
              <a:defRPr sz="3200">
                <a:solidFill>
                  <a:srgbClr val="FF9933"/>
                </a:solidFill>
                <a:latin typeface="Arial" charset="0"/>
              </a:defRPr>
            </a:lvl5pPr>
            <a:lvl6pPr marL="457200" algn="ctr" rtl="0" fontAlgn="base">
              <a:spcBef>
                <a:spcPct val="0"/>
              </a:spcBef>
              <a:spcAft>
                <a:spcPct val="0"/>
              </a:spcAft>
              <a:defRPr sz="3200">
                <a:solidFill>
                  <a:srgbClr val="FF9933"/>
                </a:solidFill>
                <a:latin typeface="Arial" charset="0"/>
              </a:defRPr>
            </a:lvl6pPr>
            <a:lvl7pPr marL="914400" algn="ctr" rtl="0" fontAlgn="base">
              <a:spcBef>
                <a:spcPct val="0"/>
              </a:spcBef>
              <a:spcAft>
                <a:spcPct val="0"/>
              </a:spcAft>
              <a:defRPr sz="3200">
                <a:solidFill>
                  <a:srgbClr val="FF9933"/>
                </a:solidFill>
                <a:latin typeface="Arial" charset="0"/>
              </a:defRPr>
            </a:lvl7pPr>
            <a:lvl8pPr marL="1371600" algn="ctr" rtl="0" fontAlgn="base">
              <a:spcBef>
                <a:spcPct val="0"/>
              </a:spcBef>
              <a:spcAft>
                <a:spcPct val="0"/>
              </a:spcAft>
              <a:defRPr sz="3200">
                <a:solidFill>
                  <a:srgbClr val="FF9933"/>
                </a:solidFill>
                <a:latin typeface="Arial" charset="0"/>
              </a:defRPr>
            </a:lvl8pPr>
            <a:lvl9pPr marL="1828800" algn="ctr" rtl="0" fontAlgn="base">
              <a:spcBef>
                <a:spcPct val="0"/>
              </a:spcBef>
              <a:spcAft>
                <a:spcPct val="0"/>
              </a:spcAft>
              <a:defRPr sz="3200">
                <a:solidFill>
                  <a:srgbClr val="FF9933"/>
                </a:solidFill>
                <a:latin typeface="Arial" charset="0"/>
              </a:defRPr>
            </a:lvl9pPr>
          </a:lstStyle>
          <a:p>
            <a:pPr>
              <a:defRPr/>
            </a:pPr>
            <a:r>
              <a:rPr lang="en-US" dirty="0" smtClean="0"/>
              <a:t>Limitations of Search Algorithms</a:t>
            </a:r>
            <a:endParaRPr lang="en-US" dirty="0"/>
          </a:p>
        </p:txBody>
      </p:sp>
      <p:pic>
        <p:nvPicPr>
          <p:cNvPr id="5" name="Picture 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smtClean="0"/>
              <a:t>Limitations of Search Algorithms</a:t>
            </a:r>
            <a:endParaRPr lang="en-US" dirty="0"/>
          </a:p>
        </p:txBody>
      </p:sp>
      <p:sp>
        <p:nvSpPr>
          <p:cNvPr id="3" name="Content Placeholder 2"/>
          <p:cNvSpPr>
            <a:spLocks noGrp="1"/>
          </p:cNvSpPr>
          <p:nvPr>
            <p:ph idx="1"/>
          </p:nvPr>
        </p:nvSpPr>
        <p:spPr>
          <a:xfrm>
            <a:off x="381000" y="1752600"/>
            <a:ext cx="8382000" cy="4114800"/>
          </a:xfrm>
        </p:spPr>
        <p:txBody>
          <a:bodyPr/>
          <a:lstStyle/>
          <a:p>
            <a:pPr>
              <a:defRPr/>
            </a:pPr>
            <a:r>
              <a:rPr lang="en-US" dirty="0" smtClean="0"/>
              <a:t>Search algorithms characterize the “quality” of the entire site and attribute that “quality” to a single page</a:t>
            </a:r>
          </a:p>
          <a:p>
            <a:pPr>
              <a:defRPr/>
            </a:pPr>
            <a:r>
              <a:rPr lang="en-US" dirty="0" smtClean="0"/>
              <a:t>The “quality” of content relating to older static knowledge may be excellent on a site, but the “quality” of rapidly changing knowledge on a single page may not be as good</a:t>
            </a:r>
            <a:endParaRPr lang="en-US" dirty="0"/>
          </a:p>
        </p:txBody>
      </p:sp>
      <p:sp>
        <p:nvSpPr>
          <p:cNvPr id="4" name="TextBox 3"/>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pic>
        <p:nvPicPr>
          <p:cNvPr id="5"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371600"/>
            <a:ext cx="4724400" cy="4876800"/>
          </a:xfrm>
        </p:spPr>
        <p:txBody>
          <a:bodyPr/>
          <a:lstStyle/>
          <a:p>
            <a:pPr>
              <a:defRPr/>
            </a:pPr>
            <a:r>
              <a:rPr lang="en-US" sz="2000" dirty="0" smtClean="0"/>
              <a:t>Sites with “original content” may rise to the top of search results as well</a:t>
            </a:r>
          </a:p>
          <a:p>
            <a:pPr>
              <a:defRPr/>
            </a:pPr>
            <a:r>
              <a:rPr lang="en-US" sz="2000" dirty="0" smtClean="0"/>
              <a:t>However, in a </a:t>
            </a:r>
            <a:r>
              <a:rPr lang="en-US" sz="2000" dirty="0" err="1" smtClean="0"/>
              <a:t>copyleft</a:t>
            </a:r>
            <a:r>
              <a:rPr lang="en-US" sz="2000" dirty="0" smtClean="0"/>
              <a:t> world, new content created on one site (e.g. </a:t>
            </a:r>
            <a:r>
              <a:rPr lang="en-US" sz="2000" dirty="0" err="1" smtClean="0"/>
              <a:t>WikiDoc</a:t>
            </a:r>
            <a:r>
              <a:rPr lang="en-US" sz="2000" dirty="0" smtClean="0"/>
              <a:t>) that is assimilated into an already highly linked to site (Wikipedia) does not get viewed on </a:t>
            </a:r>
            <a:r>
              <a:rPr lang="en-US" sz="2000" dirty="0" err="1" smtClean="0"/>
              <a:t>WikiDoc</a:t>
            </a:r>
            <a:r>
              <a:rPr lang="en-US" sz="2000" dirty="0" smtClean="0"/>
              <a:t> but rather on Wikipedia</a:t>
            </a:r>
          </a:p>
          <a:p>
            <a:pPr>
              <a:defRPr/>
            </a:pPr>
            <a:r>
              <a:rPr lang="en-US" sz="2000" dirty="0" smtClean="0"/>
              <a:t>It is assumed that a highly linked to site such as Wikipedia is the creator of “original content” which may not be the case if there is bidirectional flow of content between two sites</a:t>
            </a:r>
          </a:p>
          <a:p>
            <a:pPr>
              <a:defRPr/>
            </a:pPr>
            <a:r>
              <a:rPr lang="en-US" sz="2000" dirty="0" smtClean="0"/>
              <a:t>The older, more highly linked to site prevails over the younger site</a:t>
            </a:r>
          </a:p>
        </p:txBody>
      </p:sp>
      <p:sp>
        <p:nvSpPr>
          <p:cNvPr id="4" name="Title 1"/>
          <p:cNvSpPr txBox="1">
            <a:spLocks/>
          </p:cNvSpPr>
          <p:nvPr/>
        </p:nvSpPr>
        <p:spPr bwMode="auto">
          <a:xfrm>
            <a:off x="0" y="0"/>
            <a:ext cx="9144000" cy="1143000"/>
          </a:xfrm>
          <a:prstGeom prst="rect">
            <a:avLst/>
          </a:prstGeo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a:solidFill>
                  <a:srgbClr val="FF9933"/>
                </a:solidFill>
                <a:effectLst>
                  <a:outerShdw blurRad="38100" dist="38100" dir="2700000" algn="tl">
                    <a:srgbClr val="000000">
                      <a:alpha val="43137"/>
                    </a:srgbClr>
                  </a:outerShdw>
                </a:effectLst>
                <a:latin typeface="+mj-lt"/>
                <a:ea typeface="+mj-ea"/>
                <a:cs typeface="+mj-cs"/>
              </a:defRPr>
            </a:lvl1pPr>
            <a:lvl2pPr algn="ctr" rtl="0" eaLnBrk="0" fontAlgn="base" hangingPunct="0">
              <a:spcBef>
                <a:spcPct val="0"/>
              </a:spcBef>
              <a:spcAft>
                <a:spcPct val="0"/>
              </a:spcAft>
              <a:defRPr sz="3200">
                <a:solidFill>
                  <a:srgbClr val="FF9933"/>
                </a:solidFill>
                <a:latin typeface="Arial" charset="0"/>
              </a:defRPr>
            </a:lvl2pPr>
            <a:lvl3pPr algn="ctr" rtl="0" eaLnBrk="0" fontAlgn="base" hangingPunct="0">
              <a:spcBef>
                <a:spcPct val="0"/>
              </a:spcBef>
              <a:spcAft>
                <a:spcPct val="0"/>
              </a:spcAft>
              <a:defRPr sz="3200">
                <a:solidFill>
                  <a:srgbClr val="FF9933"/>
                </a:solidFill>
                <a:latin typeface="Arial" charset="0"/>
              </a:defRPr>
            </a:lvl3pPr>
            <a:lvl4pPr algn="ctr" rtl="0" eaLnBrk="0" fontAlgn="base" hangingPunct="0">
              <a:spcBef>
                <a:spcPct val="0"/>
              </a:spcBef>
              <a:spcAft>
                <a:spcPct val="0"/>
              </a:spcAft>
              <a:defRPr sz="3200">
                <a:solidFill>
                  <a:srgbClr val="FF9933"/>
                </a:solidFill>
                <a:latin typeface="Arial" charset="0"/>
              </a:defRPr>
            </a:lvl4pPr>
            <a:lvl5pPr algn="ctr" rtl="0" eaLnBrk="0" fontAlgn="base" hangingPunct="0">
              <a:spcBef>
                <a:spcPct val="0"/>
              </a:spcBef>
              <a:spcAft>
                <a:spcPct val="0"/>
              </a:spcAft>
              <a:defRPr sz="3200">
                <a:solidFill>
                  <a:srgbClr val="FF9933"/>
                </a:solidFill>
                <a:latin typeface="Arial" charset="0"/>
              </a:defRPr>
            </a:lvl5pPr>
            <a:lvl6pPr marL="457200" algn="ctr" rtl="0" fontAlgn="base">
              <a:spcBef>
                <a:spcPct val="0"/>
              </a:spcBef>
              <a:spcAft>
                <a:spcPct val="0"/>
              </a:spcAft>
              <a:defRPr sz="3200">
                <a:solidFill>
                  <a:srgbClr val="FF9933"/>
                </a:solidFill>
                <a:latin typeface="Arial" charset="0"/>
              </a:defRPr>
            </a:lvl6pPr>
            <a:lvl7pPr marL="914400" algn="ctr" rtl="0" fontAlgn="base">
              <a:spcBef>
                <a:spcPct val="0"/>
              </a:spcBef>
              <a:spcAft>
                <a:spcPct val="0"/>
              </a:spcAft>
              <a:defRPr sz="3200">
                <a:solidFill>
                  <a:srgbClr val="FF9933"/>
                </a:solidFill>
                <a:latin typeface="Arial" charset="0"/>
              </a:defRPr>
            </a:lvl7pPr>
            <a:lvl8pPr marL="1371600" algn="ctr" rtl="0" fontAlgn="base">
              <a:spcBef>
                <a:spcPct val="0"/>
              </a:spcBef>
              <a:spcAft>
                <a:spcPct val="0"/>
              </a:spcAft>
              <a:defRPr sz="3200">
                <a:solidFill>
                  <a:srgbClr val="FF9933"/>
                </a:solidFill>
                <a:latin typeface="Arial" charset="0"/>
              </a:defRPr>
            </a:lvl8pPr>
            <a:lvl9pPr marL="1828800" algn="ctr" rtl="0" fontAlgn="base">
              <a:spcBef>
                <a:spcPct val="0"/>
              </a:spcBef>
              <a:spcAft>
                <a:spcPct val="0"/>
              </a:spcAft>
              <a:defRPr sz="3200">
                <a:solidFill>
                  <a:srgbClr val="FF9933"/>
                </a:solidFill>
                <a:latin typeface="Arial" charset="0"/>
              </a:defRPr>
            </a:lvl9pPr>
          </a:lstStyle>
          <a:p>
            <a:pPr>
              <a:defRPr/>
            </a:pPr>
            <a:r>
              <a:rPr lang="en-US" dirty="0" smtClean="0"/>
              <a:t>Limitations of Search Algorithms</a:t>
            </a:r>
            <a:endParaRPr lang="en-US" dirty="0"/>
          </a:p>
        </p:txBody>
      </p:sp>
      <p:pic>
        <p:nvPicPr>
          <p:cNvPr id="55303" name="Picture 7" descr="http://4.bp.blogspot.com/-h8PrvJHTbNg/T0qoBfCS_9I/AAAAAAAAAV8/yiQaKiZHwi8/s1600/Big+Tre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1066800"/>
            <a:ext cx="3866870" cy="2895600"/>
          </a:xfrm>
          <a:prstGeom prst="rect">
            <a:avLst/>
          </a:prstGeom>
          <a:noFill/>
          <a:extLst>
            <a:ext uri="{909E8E84-426E-40DD-AFC4-6F175D3DCCD1}">
              <a14:hiddenFill xmlns:a14="http://schemas.microsoft.com/office/drawing/2010/main">
                <a:solidFill>
                  <a:srgbClr val="FFFFFF"/>
                </a:solidFill>
              </a14:hiddenFill>
            </a:ext>
          </a:extLst>
        </p:spPr>
      </p:pic>
      <p:pic>
        <p:nvPicPr>
          <p:cNvPr id="55305" name="Picture 9" descr="http://cloud.lib.wfu.edu/blog/summer2012entrepreneurialexperiences/files/2012/07/succession_e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4343400"/>
            <a:ext cx="4013569" cy="22556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descr="Copyleft.svg.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smtClean="0"/>
              <a:t>Limitations of Search Algorithms</a:t>
            </a:r>
            <a:endParaRPr lang="en-US" dirty="0"/>
          </a:p>
        </p:txBody>
      </p:sp>
      <p:sp>
        <p:nvSpPr>
          <p:cNvPr id="3" name="Content Placeholder 2"/>
          <p:cNvSpPr>
            <a:spLocks noGrp="1"/>
          </p:cNvSpPr>
          <p:nvPr>
            <p:ph idx="1"/>
          </p:nvPr>
        </p:nvSpPr>
        <p:spPr>
          <a:xfrm>
            <a:off x="190518" y="1524000"/>
            <a:ext cx="4191000" cy="4267200"/>
          </a:xfrm>
        </p:spPr>
        <p:txBody>
          <a:bodyPr/>
          <a:lstStyle/>
          <a:p>
            <a:pPr>
              <a:defRPr/>
            </a:pPr>
            <a:r>
              <a:rPr lang="en-US" sz="2800" dirty="0" smtClean="0"/>
              <a:t>Small organizations with good content but without the budget for search engine optimization may not be able to effectively compete with highly resourced sites in a field such as medicine</a:t>
            </a:r>
            <a:endParaRPr lang="en-US" sz="2800" dirty="0"/>
          </a:p>
        </p:txBody>
      </p:sp>
      <p:sp>
        <p:nvSpPr>
          <p:cNvPr id="4" name="TextBox 3"/>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pic>
        <p:nvPicPr>
          <p:cNvPr id="5"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pic>
        <p:nvPicPr>
          <p:cNvPr id="1026" name="Picture 2" descr="http://brittonmanasco.typepad.com/.a/6a00d8341cafe453ef014e86e49e45970d-800w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905000"/>
            <a:ext cx="4475290" cy="30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Improving Search Algorithms</a:t>
            </a:r>
            <a:endParaRPr lang="en-US" dirty="0"/>
          </a:p>
        </p:txBody>
      </p:sp>
      <p:sp>
        <p:nvSpPr>
          <p:cNvPr id="3" name="Content Placeholder 2"/>
          <p:cNvSpPr>
            <a:spLocks noGrp="1"/>
          </p:cNvSpPr>
          <p:nvPr>
            <p:ph idx="1"/>
          </p:nvPr>
        </p:nvSpPr>
        <p:spPr>
          <a:xfrm>
            <a:off x="381000" y="1676400"/>
            <a:ext cx="8077200" cy="4114800"/>
          </a:xfrm>
        </p:spPr>
        <p:txBody>
          <a:bodyPr/>
          <a:lstStyle/>
          <a:p>
            <a:r>
              <a:rPr lang="en-US" dirty="0" smtClean="0"/>
              <a:t>Have an option to display</a:t>
            </a:r>
          </a:p>
          <a:p>
            <a:pPr lvl="1"/>
            <a:r>
              <a:rPr lang="en-US" dirty="0" smtClean="0"/>
              <a:t>What is most linked to </a:t>
            </a:r>
          </a:p>
          <a:p>
            <a:pPr lvl="1"/>
            <a:r>
              <a:rPr lang="en-US" dirty="0" smtClean="0"/>
              <a:t>What is new</a:t>
            </a:r>
          </a:p>
          <a:p>
            <a:pPr lvl="1"/>
            <a:r>
              <a:rPr lang="en-US" dirty="0" smtClean="0"/>
              <a:t>What is trending</a:t>
            </a:r>
            <a:endParaRPr lang="en-US" dirty="0"/>
          </a:p>
        </p:txBody>
      </p:sp>
      <p:sp>
        <p:nvSpPr>
          <p:cNvPr id="4" name="TextBox 3"/>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pic>
        <p:nvPicPr>
          <p:cNvPr id="5"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extLst>
      <p:ext uri="{BB962C8B-B14F-4D97-AF65-F5344CB8AC3E}">
        <p14:creationId xmlns:p14="http://schemas.microsoft.com/office/powerpoint/2010/main" val="5704342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Improving Search Algorithms:</a:t>
            </a:r>
            <a:br>
              <a:rPr lang="en-US" dirty="0" smtClean="0"/>
            </a:br>
            <a:r>
              <a:rPr lang="en-US" dirty="0" smtClean="0"/>
              <a:t>Assessing </a:t>
            </a:r>
            <a:r>
              <a:rPr lang="en-US" dirty="0" smtClean="0"/>
              <a:t>Credibility of </a:t>
            </a:r>
            <a:r>
              <a:rPr lang="en-US" dirty="0" smtClean="0"/>
              <a:t>Medical Content</a:t>
            </a:r>
            <a:endParaRPr lang="en-US" dirty="0"/>
          </a:p>
        </p:txBody>
      </p:sp>
      <p:sp>
        <p:nvSpPr>
          <p:cNvPr id="3" name="Content Placeholder 2"/>
          <p:cNvSpPr>
            <a:spLocks noGrp="1"/>
          </p:cNvSpPr>
          <p:nvPr>
            <p:ph idx="1"/>
          </p:nvPr>
        </p:nvSpPr>
        <p:spPr>
          <a:xfrm>
            <a:off x="152400" y="1371600"/>
            <a:ext cx="8763000" cy="5410200"/>
          </a:xfrm>
        </p:spPr>
        <p:txBody>
          <a:bodyPr/>
          <a:lstStyle/>
          <a:p>
            <a:r>
              <a:rPr lang="en-US" sz="2200" dirty="0" smtClean="0"/>
              <a:t>Is there an identifiable author who can be contacted?</a:t>
            </a:r>
          </a:p>
          <a:p>
            <a:r>
              <a:rPr lang="en-US" sz="2200" dirty="0" smtClean="0"/>
              <a:t>What is the </a:t>
            </a:r>
            <a:r>
              <a:rPr lang="en-US" sz="2200" dirty="0" smtClean="0"/>
              <a:t>h </a:t>
            </a:r>
            <a:r>
              <a:rPr lang="en-US" sz="2200" dirty="0" smtClean="0"/>
              <a:t>index of the author</a:t>
            </a:r>
            <a:r>
              <a:rPr lang="en-US" sz="2200" dirty="0" smtClean="0"/>
              <a:t>? (</a:t>
            </a:r>
            <a:r>
              <a:rPr lang="en-US" sz="2200" dirty="0" smtClean="0"/>
              <a:t>a </a:t>
            </a:r>
            <a:r>
              <a:rPr lang="en-US" sz="2200" dirty="0"/>
              <a:t>scholar with an index of </a:t>
            </a:r>
            <a:r>
              <a:rPr lang="en-US" sz="2200" i="1" dirty="0"/>
              <a:t>h</a:t>
            </a:r>
            <a:r>
              <a:rPr lang="en-US" sz="2200" dirty="0"/>
              <a:t> has published </a:t>
            </a:r>
            <a:r>
              <a:rPr lang="en-US" sz="2200" i="1" dirty="0"/>
              <a:t>h</a:t>
            </a:r>
            <a:r>
              <a:rPr lang="en-US" sz="2200" dirty="0"/>
              <a:t> papers each of which has been cited in other papers at least </a:t>
            </a:r>
            <a:r>
              <a:rPr lang="en-US" sz="2200" i="1" dirty="0"/>
              <a:t>h</a:t>
            </a:r>
            <a:r>
              <a:rPr lang="en-US" sz="2200" dirty="0"/>
              <a:t> </a:t>
            </a:r>
            <a:r>
              <a:rPr lang="en-US" sz="2200" dirty="0" smtClean="0"/>
              <a:t>times)</a:t>
            </a:r>
            <a:endParaRPr lang="en-US" sz="2200" dirty="0" smtClean="0"/>
          </a:p>
          <a:p>
            <a:r>
              <a:rPr lang="en-US" sz="2200" dirty="0" smtClean="0"/>
              <a:t>What is the </a:t>
            </a:r>
            <a:r>
              <a:rPr lang="en-US" sz="2200" dirty="0" smtClean="0"/>
              <a:t>h </a:t>
            </a:r>
            <a:r>
              <a:rPr lang="en-US" sz="2200" dirty="0" smtClean="0"/>
              <a:t>index of the affiliated institution?</a:t>
            </a:r>
          </a:p>
          <a:p>
            <a:r>
              <a:rPr lang="en-US" sz="2200" dirty="0" smtClean="0"/>
              <a:t>Are </a:t>
            </a:r>
            <a:r>
              <a:rPr lang="en-US" sz="2200" dirty="0" smtClean="0"/>
              <a:t>there references to primary </a:t>
            </a:r>
            <a:r>
              <a:rPr lang="en-US" sz="2200" i="1" dirty="0" smtClean="0"/>
              <a:t>peer reviewed </a:t>
            </a:r>
            <a:r>
              <a:rPr lang="en-US" sz="2200" dirty="0" smtClean="0"/>
              <a:t>literature?</a:t>
            </a:r>
          </a:p>
          <a:p>
            <a:r>
              <a:rPr lang="en-US" sz="2200" dirty="0" smtClean="0"/>
              <a:t>What is the impact factor of the journals cited</a:t>
            </a:r>
            <a:r>
              <a:rPr lang="en-US" sz="2200" dirty="0" smtClean="0"/>
              <a:t>?</a:t>
            </a:r>
          </a:p>
          <a:p>
            <a:r>
              <a:rPr lang="en-US" sz="2200" dirty="0" smtClean="0"/>
              <a:t>How often has the authors work been cited?</a:t>
            </a:r>
            <a:endParaRPr lang="en-US" sz="2200" dirty="0" smtClean="0"/>
          </a:p>
          <a:p>
            <a:r>
              <a:rPr lang="en-US" sz="2200" dirty="0"/>
              <a:t>On a wiki, how often has the content of the author been revised relative to other authors?</a:t>
            </a:r>
          </a:p>
          <a:p>
            <a:r>
              <a:rPr lang="en-US" sz="2200" dirty="0"/>
              <a:t>What is the </a:t>
            </a:r>
            <a:r>
              <a:rPr lang="en-US" sz="2200" dirty="0" err="1"/>
              <a:t>Klout</a:t>
            </a:r>
            <a:r>
              <a:rPr lang="en-US" sz="2200" dirty="0"/>
              <a:t> score of the author</a:t>
            </a:r>
            <a:r>
              <a:rPr lang="en-US" sz="2200" dirty="0" smtClean="0"/>
              <a:t>?</a:t>
            </a:r>
          </a:p>
          <a:p>
            <a:r>
              <a:rPr lang="en-US" sz="2200" dirty="0" smtClean="0"/>
              <a:t>Are they a Castle Connolly top doctor or other peer recognition?</a:t>
            </a:r>
            <a:endParaRPr lang="en-US" sz="2200" dirty="0"/>
          </a:p>
          <a:p>
            <a:r>
              <a:rPr lang="en-US" sz="2200" dirty="0" smtClean="0"/>
              <a:t>Are </a:t>
            </a:r>
            <a:r>
              <a:rPr lang="en-US" sz="2200" dirty="0" smtClean="0"/>
              <a:t>there numerous grammatical errors, typos</a:t>
            </a:r>
            <a:r>
              <a:rPr lang="en-US" sz="2200" dirty="0" smtClean="0"/>
              <a:t>?</a:t>
            </a:r>
            <a:endParaRPr lang="en-US" sz="2200" dirty="0" smtClean="0"/>
          </a:p>
        </p:txBody>
      </p:sp>
      <p:sp>
        <p:nvSpPr>
          <p:cNvPr id="4" name="TextBox 3"/>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pic>
        <p:nvPicPr>
          <p:cNvPr id="5"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extLst>
      <p:ext uri="{BB962C8B-B14F-4D97-AF65-F5344CB8AC3E}">
        <p14:creationId xmlns:p14="http://schemas.microsoft.com/office/powerpoint/2010/main" val="8522338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839200" cy="5029200"/>
          </a:xfrm>
        </p:spPr>
        <p:txBody>
          <a:bodyPr/>
          <a:lstStyle/>
          <a:p>
            <a:r>
              <a:rPr lang="en-US" sz="2000" dirty="0"/>
              <a:t>Is there evidence of “</a:t>
            </a:r>
            <a:r>
              <a:rPr lang="en-US" sz="2000" dirty="0" err="1"/>
              <a:t>linkrot</a:t>
            </a:r>
            <a:r>
              <a:rPr lang="en-US" sz="2000" dirty="0"/>
              <a:t>”?</a:t>
            </a:r>
          </a:p>
          <a:p>
            <a:r>
              <a:rPr lang="en-US" sz="2000" dirty="0"/>
              <a:t>Is there a webmaster and contact information?</a:t>
            </a:r>
          </a:p>
          <a:p>
            <a:r>
              <a:rPr lang="en-US" sz="2000" dirty="0" smtClean="0"/>
              <a:t>Nature </a:t>
            </a:r>
            <a:r>
              <a:rPr lang="en-US" sz="2000" dirty="0" smtClean="0"/>
              <a:t>of the site</a:t>
            </a:r>
            <a:r>
              <a:rPr lang="en-US" sz="2000" dirty="0" smtClean="0"/>
              <a:t>:</a:t>
            </a:r>
          </a:p>
          <a:p>
            <a:pPr lvl="1"/>
            <a:r>
              <a:rPr lang="en-US" sz="2000" dirty="0" smtClean="0"/>
              <a:t>Credible:</a:t>
            </a:r>
            <a:endParaRPr lang="en-US" sz="2000" dirty="0" smtClean="0"/>
          </a:p>
          <a:p>
            <a:pPr lvl="2"/>
            <a:r>
              <a:rPr lang="en-US" sz="2000" b="1" dirty="0" smtClean="0">
                <a:solidFill>
                  <a:srgbClr val="FFFF00"/>
                </a:solidFill>
              </a:rPr>
              <a:t>Journal site</a:t>
            </a:r>
          </a:p>
          <a:p>
            <a:pPr lvl="2"/>
            <a:r>
              <a:rPr lang="en-US" sz="2000" b="1" dirty="0">
                <a:solidFill>
                  <a:srgbClr val="FFFF00"/>
                </a:solidFill>
              </a:rPr>
              <a:t>Professional </a:t>
            </a:r>
            <a:r>
              <a:rPr lang="en-US" sz="2000" b="1" dirty="0" smtClean="0">
                <a:solidFill>
                  <a:srgbClr val="FFFF00"/>
                </a:solidFill>
              </a:rPr>
              <a:t>society site</a:t>
            </a:r>
            <a:endParaRPr lang="en-US" sz="2000" b="1" dirty="0" smtClean="0">
              <a:solidFill>
                <a:srgbClr val="FFFF00"/>
              </a:solidFill>
            </a:endParaRPr>
          </a:p>
          <a:p>
            <a:pPr lvl="2"/>
            <a:r>
              <a:rPr lang="en-US" sz="2000" b="1" dirty="0" smtClean="0">
                <a:solidFill>
                  <a:srgbClr val="FFFF00"/>
                </a:solidFill>
              </a:rPr>
              <a:t>Personal </a:t>
            </a:r>
            <a:r>
              <a:rPr lang="en-US" sz="2000" b="1" dirty="0">
                <a:solidFill>
                  <a:srgbClr val="FFFF00"/>
                </a:solidFill>
              </a:rPr>
              <a:t>h</a:t>
            </a:r>
            <a:r>
              <a:rPr lang="en-US" sz="2000" b="1" dirty="0" smtClean="0">
                <a:solidFill>
                  <a:srgbClr val="FFFF00"/>
                </a:solidFill>
              </a:rPr>
              <a:t>ome </a:t>
            </a:r>
            <a:r>
              <a:rPr lang="en-US" sz="2000" b="1" dirty="0" smtClean="0">
                <a:solidFill>
                  <a:srgbClr val="FFFF00"/>
                </a:solidFill>
              </a:rPr>
              <a:t>page: </a:t>
            </a:r>
            <a:r>
              <a:rPr lang="en-US" sz="2000" dirty="0" smtClean="0"/>
              <a:t>may or may not be a content expert</a:t>
            </a:r>
          </a:p>
          <a:p>
            <a:pPr lvl="2"/>
            <a:r>
              <a:rPr lang="en-US" sz="2000" b="1" dirty="0" smtClean="0">
                <a:solidFill>
                  <a:srgbClr val="FFFF00"/>
                </a:solidFill>
              </a:rPr>
              <a:t>News and Journalistic site</a:t>
            </a:r>
            <a:r>
              <a:rPr lang="en-US" sz="2000" b="1" dirty="0">
                <a:solidFill>
                  <a:srgbClr val="FFFF00"/>
                </a:solidFill>
              </a:rPr>
              <a:t>: </a:t>
            </a:r>
            <a:r>
              <a:rPr lang="en-US" sz="2000" dirty="0" smtClean="0"/>
              <a:t>if the article </a:t>
            </a:r>
            <a:r>
              <a:rPr lang="en-US" sz="2000" dirty="0"/>
              <a:t>has an ISSN number (International Standard Serial Number), it will probably have more </a:t>
            </a:r>
            <a:r>
              <a:rPr lang="en-US" sz="2000" dirty="0" smtClean="0"/>
              <a:t>credibility</a:t>
            </a:r>
          </a:p>
          <a:p>
            <a:pPr lvl="1"/>
            <a:r>
              <a:rPr lang="en-US" sz="2000" b="1" dirty="0" smtClean="0"/>
              <a:t>Less credible:</a:t>
            </a:r>
          </a:p>
          <a:p>
            <a:pPr lvl="2"/>
            <a:r>
              <a:rPr lang="en-US" sz="2000" b="1" dirty="0" smtClean="0">
                <a:solidFill>
                  <a:srgbClr val="FFFF00"/>
                </a:solidFill>
              </a:rPr>
              <a:t>Special </a:t>
            </a:r>
            <a:r>
              <a:rPr lang="en-US" sz="2000" b="1" dirty="0">
                <a:solidFill>
                  <a:srgbClr val="FFFF00"/>
                </a:solidFill>
              </a:rPr>
              <a:t>interest </a:t>
            </a:r>
            <a:r>
              <a:rPr lang="en-US" sz="2000" b="1" dirty="0" smtClean="0">
                <a:solidFill>
                  <a:srgbClr val="FFFF00"/>
                </a:solidFill>
              </a:rPr>
              <a:t>site:</a:t>
            </a:r>
            <a:r>
              <a:rPr lang="en-US" sz="2000" dirty="0" smtClean="0">
                <a:solidFill>
                  <a:srgbClr val="FFFF00"/>
                </a:solidFill>
              </a:rPr>
              <a:t> </a:t>
            </a:r>
            <a:r>
              <a:rPr lang="en-US" sz="2000" dirty="0" smtClean="0"/>
              <a:t>often </a:t>
            </a:r>
            <a:r>
              <a:rPr lang="en-US" sz="2000" dirty="0" smtClean="0"/>
              <a:t>biased</a:t>
            </a:r>
            <a:endParaRPr lang="en-US" sz="2000" dirty="0" smtClean="0"/>
          </a:p>
          <a:p>
            <a:pPr lvl="2"/>
            <a:r>
              <a:rPr lang="en-US" sz="2000" b="1" dirty="0" smtClean="0">
                <a:solidFill>
                  <a:srgbClr val="FFFF00"/>
                </a:solidFill>
              </a:rPr>
              <a:t>Commercial </a:t>
            </a:r>
            <a:r>
              <a:rPr lang="en-US" sz="2000" b="1" dirty="0">
                <a:solidFill>
                  <a:srgbClr val="FFFF00"/>
                </a:solidFill>
              </a:rPr>
              <a:t>site: </a:t>
            </a:r>
            <a:r>
              <a:rPr lang="en-US" sz="2000" dirty="0"/>
              <a:t>often biased regarding products which are monetized</a:t>
            </a:r>
          </a:p>
          <a:p>
            <a:pPr lvl="1"/>
            <a:endParaRPr lang="en-US" sz="2000" dirty="0" smtClean="0"/>
          </a:p>
          <a:p>
            <a:endParaRPr lang="en-US" sz="2000" dirty="0"/>
          </a:p>
        </p:txBody>
      </p:sp>
      <p:sp>
        <p:nvSpPr>
          <p:cNvPr id="4" name="Title 1"/>
          <p:cNvSpPr txBox="1">
            <a:spLocks/>
          </p:cNvSpPr>
          <p:nvPr/>
        </p:nvSpPr>
        <p:spPr bwMode="auto">
          <a:xfrm>
            <a:off x="0" y="0"/>
            <a:ext cx="9144000" cy="1143000"/>
          </a:xfrm>
          <a:prstGeom prst="rect">
            <a:avLst/>
          </a:prstGeo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rgbClr val="FF9933"/>
                </a:solidFill>
                <a:effectLst>
                  <a:outerShdw blurRad="38100" dist="38100" dir="2700000" algn="tl">
                    <a:srgbClr val="000000">
                      <a:alpha val="43137"/>
                    </a:srgbClr>
                  </a:outerShdw>
                </a:effectLst>
                <a:latin typeface="+mj-lt"/>
                <a:ea typeface="+mj-ea"/>
                <a:cs typeface="+mj-cs"/>
              </a:defRPr>
            </a:lvl1pPr>
            <a:lvl2pPr algn="ctr" rtl="0" eaLnBrk="0" fontAlgn="base" hangingPunct="0">
              <a:spcBef>
                <a:spcPct val="0"/>
              </a:spcBef>
              <a:spcAft>
                <a:spcPct val="0"/>
              </a:spcAft>
              <a:defRPr sz="3200">
                <a:solidFill>
                  <a:srgbClr val="FF9933"/>
                </a:solidFill>
                <a:latin typeface="Arial" charset="0"/>
              </a:defRPr>
            </a:lvl2pPr>
            <a:lvl3pPr algn="ctr" rtl="0" eaLnBrk="0" fontAlgn="base" hangingPunct="0">
              <a:spcBef>
                <a:spcPct val="0"/>
              </a:spcBef>
              <a:spcAft>
                <a:spcPct val="0"/>
              </a:spcAft>
              <a:defRPr sz="3200">
                <a:solidFill>
                  <a:srgbClr val="FF9933"/>
                </a:solidFill>
                <a:latin typeface="Arial" charset="0"/>
              </a:defRPr>
            </a:lvl3pPr>
            <a:lvl4pPr algn="ctr" rtl="0" eaLnBrk="0" fontAlgn="base" hangingPunct="0">
              <a:spcBef>
                <a:spcPct val="0"/>
              </a:spcBef>
              <a:spcAft>
                <a:spcPct val="0"/>
              </a:spcAft>
              <a:defRPr sz="3200">
                <a:solidFill>
                  <a:srgbClr val="FF9933"/>
                </a:solidFill>
                <a:latin typeface="Arial" charset="0"/>
              </a:defRPr>
            </a:lvl4pPr>
            <a:lvl5pPr algn="ctr" rtl="0" eaLnBrk="0" fontAlgn="base" hangingPunct="0">
              <a:spcBef>
                <a:spcPct val="0"/>
              </a:spcBef>
              <a:spcAft>
                <a:spcPct val="0"/>
              </a:spcAft>
              <a:defRPr sz="3200">
                <a:solidFill>
                  <a:srgbClr val="FF9933"/>
                </a:solidFill>
                <a:latin typeface="Arial" charset="0"/>
              </a:defRPr>
            </a:lvl5pPr>
            <a:lvl6pPr marL="457200" algn="ctr" rtl="0" fontAlgn="base">
              <a:spcBef>
                <a:spcPct val="0"/>
              </a:spcBef>
              <a:spcAft>
                <a:spcPct val="0"/>
              </a:spcAft>
              <a:defRPr sz="3200">
                <a:solidFill>
                  <a:srgbClr val="FF9933"/>
                </a:solidFill>
                <a:latin typeface="Arial" charset="0"/>
              </a:defRPr>
            </a:lvl6pPr>
            <a:lvl7pPr marL="914400" algn="ctr" rtl="0" fontAlgn="base">
              <a:spcBef>
                <a:spcPct val="0"/>
              </a:spcBef>
              <a:spcAft>
                <a:spcPct val="0"/>
              </a:spcAft>
              <a:defRPr sz="3200">
                <a:solidFill>
                  <a:srgbClr val="FF9933"/>
                </a:solidFill>
                <a:latin typeface="Arial" charset="0"/>
              </a:defRPr>
            </a:lvl7pPr>
            <a:lvl8pPr marL="1371600" algn="ctr" rtl="0" fontAlgn="base">
              <a:spcBef>
                <a:spcPct val="0"/>
              </a:spcBef>
              <a:spcAft>
                <a:spcPct val="0"/>
              </a:spcAft>
              <a:defRPr sz="3200">
                <a:solidFill>
                  <a:srgbClr val="FF9933"/>
                </a:solidFill>
                <a:latin typeface="Arial" charset="0"/>
              </a:defRPr>
            </a:lvl8pPr>
            <a:lvl9pPr marL="1828800" algn="ctr" rtl="0" fontAlgn="base">
              <a:spcBef>
                <a:spcPct val="0"/>
              </a:spcBef>
              <a:spcAft>
                <a:spcPct val="0"/>
              </a:spcAft>
              <a:defRPr sz="3200">
                <a:solidFill>
                  <a:srgbClr val="FF9933"/>
                </a:solidFill>
                <a:latin typeface="Arial" charset="0"/>
              </a:defRPr>
            </a:lvl9pPr>
          </a:lstStyle>
          <a:p>
            <a:r>
              <a:rPr lang="en-US" smtClean="0"/>
              <a:t>Improving Search Algorithms:</a:t>
            </a:r>
            <a:br>
              <a:rPr lang="en-US" smtClean="0"/>
            </a:br>
            <a:r>
              <a:rPr lang="en-US" smtClean="0"/>
              <a:t>Assessing Credibility of Medical Content</a:t>
            </a:r>
            <a:endParaRPr lang="en-US" dirty="0"/>
          </a:p>
        </p:txBody>
      </p:sp>
      <p:sp>
        <p:nvSpPr>
          <p:cNvPr id="5" name="TextBox 4"/>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pic>
        <p:nvPicPr>
          <p:cNvPr id="6"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extLst>
      <p:ext uri="{BB962C8B-B14F-4D97-AF65-F5344CB8AC3E}">
        <p14:creationId xmlns:p14="http://schemas.microsoft.com/office/powerpoint/2010/main" val="17437083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r>
              <a:rPr lang="en-US" dirty="0" smtClean="0"/>
              <a:t>Improving the Specificity of Search</a:t>
            </a:r>
            <a:endParaRPr lang="en-US" dirty="0"/>
          </a:p>
        </p:txBody>
      </p:sp>
      <p:pic>
        <p:nvPicPr>
          <p:cNvPr id="5837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838200"/>
            <a:ext cx="5014913" cy="554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
          <p:cNvSpPr/>
          <p:nvPr/>
        </p:nvSpPr>
        <p:spPr>
          <a:xfrm>
            <a:off x="1676400" y="5638800"/>
            <a:ext cx="3810000" cy="1066800"/>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TextBox 5"/>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xtLst/>
        </p:spPr>
        <p:txBody>
          <a:bodyPr/>
          <a:lstStyle/>
          <a:p>
            <a:pPr>
              <a:defRPr/>
            </a:pPr>
            <a:endParaRPr lang="en-US"/>
          </a:p>
        </p:txBody>
      </p:sp>
      <p:pic>
        <p:nvPicPr>
          <p:cNvPr id="59397" name="Picture 2" descr="C:\Users\C. Michael Gibson\Downloads\LdoS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413" y="28575"/>
            <a:ext cx="8383587" cy="680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WikiDoc’s</a:t>
            </a:r>
            <a:r>
              <a:rPr lang="en-US" dirty="0" smtClean="0"/>
              <a:t> Role in Improving Search Results</a:t>
            </a:r>
            <a:endParaRPr lang="en-US" dirty="0"/>
          </a:p>
        </p:txBody>
      </p:sp>
      <p:sp>
        <p:nvSpPr>
          <p:cNvPr id="3" name="Content Placeholder 2"/>
          <p:cNvSpPr>
            <a:spLocks noGrp="1"/>
          </p:cNvSpPr>
          <p:nvPr>
            <p:ph idx="1"/>
          </p:nvPr>
        </p:nvSpPr>
        <p:spPr>
          <a:xfrm>
            <a:off x="304800" y="1371600"/>
            <a:ext cx="8534400" cy="5029200"/>
          </a:xfrm>
        </p:spPr>
        <p:txBody>
          <a:bodyPr/>
          <a:lstStyle/>
          <a:p>
            <a:pPr>
              <a:defRPr/>
            </a:pPr>
            <a:r>
              <a:rPr lang="en-US" sz="2800" dirty="0" smtClean="0"/>
              <a:t>Dr. Gibson and </a:t>
            </a:r>
            <a:r>
              <a:rPr lang="en-US" sz="2800" dirty="0" err="1" smtClean="0"/>
              <a:t>WikiDoc</a:t>
            </a:r>
            <a:r>
              <a:rPr lang="en-US" sz="2800" dirty="0" smtClean="0"/>
              <a:t> </a:t>
            </a:r>
            <a:r>
              <a:rPr lang="en-US" sz="2800" dirty="0" err="1" smtClean="0"/>
              <a:t>successfuly</a:t>
            </a:r>
            <a:r>
              <a:rPr lang="en-US" sz="2800" dirty="0" smtClean="0"/>
              <a:t> partnered with Google, Microsoft and Yahoo in a joint effort to create a hierarchical scheme to organize / tag medical content to make search results more content rich using the structure of </a:t>
            </a:r>
            <a:r>
              <a:rPr lang="en-US" sz="2800" dirty="0" smtClean="0">
                <a:hlinkClick r:id="rId2"/>
              </a:rPr>
              <a:t>www.schema.org</a:t>
            </a:r>
            <a:endParaRPr lang="en-US" sz="2800" dirty="0" smtClean="0"/>
          </a:p>
          <a:p>
            <a:pPr>
              <a:defRPr/>
            </a:pPr>
            <a:r>
              <a:rPr lang="en-US" sz="2800" dirty="0" smtClean="0"/>
              <a:t>The new hierarchy was released to the public on June 27, 2012</a:t>
            </a:r>
          </a:p>
          <a:p>
            <a:pPr>
              <a:defRPr/>
            </a:pPr>
            <a:endParaRPr lang="en-US" sz="2800" dirty="0"/>
          </a:p>
        </p:txBody>
      </p:sp>
      <p:grpSp>
        <p:nvGrpSpPr>
          <p:cNvPr id="60422" name="Group 4"/>
          <p:cNvGrpSpPr>
            <a:grpSpLocks/>
          </p:cNvGrpSpPr>
          <p:nvPr/>
        </p:nvGrpSpPr>
        <p:grpSpPr bwMode="auto">
          <a:xfrm>
            <a:off x="76200" y="6461125"/>
            <a:ext cx="2736850" cy="369888"/>
            <a:chOff x="76200" y="6461774"/>
            <a:chExt cx="2736405" cy="369332"/>
          </a:xfrm>
        </p:grpSpPr>
        <p:pic>
          <p:nvPicPr>
            <p:cNvPr id="60423" name="Picture 5" descr="Copyleft.svg.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7" name="TextBox 6"/>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990600"/>
            <a:ext cx="9144000" cy="586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15948" y="0"/>
            <a:ext cx="9112104" cy="990600"/>
          </a:xfrm>
          <a:prstGeom prst="rect">
            <a:avLst/>
          </a:prstGeom>
          <a:solidFill>
            <a:srgbClr val="99CCFF"/>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400800" y="1295400"/>
            <a:ext cx="2514600" cy="5355312"/>
          </a:xfrm>
          <a:prstGeom prst="rect">
            <a:avLst/>
          </a:prstGeom>
          <a:solidFill>
            <a:schemeClr val="bg1"/>
          </a:solidFill>
        </p:spPr>
        <p:txBody>
          <a:bodyPr wrap="square" rtlCol="0">
            <a:spAutoFit/>
          </a:bodyPr>
          <a:lstStyle/>
          <a:p>
            <a:r>
              <a:rPr lang="en-US" sz="1800" u="sng" dirty="0" smtClean="0"/>
              <a:t>Original submission</a:t>
            </a:r>
          </a:p>
          <a:p>
            <a:r>
              <a:rPr lang="en-US" sz="1800" u="sng" dirty="0" smtClean="0"/>
              <a:t>Review #1</a:t>
            </a:r>
          </a:p>
          <a:p>
            <a:r>
              <a:rPr lang="en-US" sz="1800" u="sng" dirty="0" smtClean="0"/>
              <a:t>Review #2</a:t>
            </a:r>
          </a:p>
          <a:p>
            <a:r>
              <a:rPr lang="en-US" sz="1800" u="sng" dirty="0" smtClean="0"/>
              <a:t>Editors correspondence</a:t>
            </a:r>
          </a:p>
          <a:p>
            <a:r>
              <a:rPr lang="en-US" sz="1800" u="sng" dirty="0" smtClean="0"/>
              <a:t>Revised submission</a:t>
            </a:r>
          </a:p>
          <a:p>
            <a:r>
              <a:rPr lang="en-US" sz="1800" u="sng" dirty="0" smtClean="0"/>
              <a:t>Re review #1</a:t>
            </a:r>
          </a:p>
          <a:p>
            <a:r>
              <a:rPr lang="en-US" sz="1800" u="sng" dirty="0" smtClean="0"/>
              <a:t>Re review #2</a:t>
            </a:r>
          </a:p>
          <a:p>
            <a:r>
              <a:rPr lang="en-US" sz="1800" u="sng" dirty="0" smtClean="0"/>
              <a:t>Final article</a:t>
            </a:r>
          </a:p>
          <a:p>
            <a:r>
              <a:rPr lang="en-US" sz="1800" u="sng" dirty="0" smtClean="0"/>
              <a:t>Figures</a:t>
            </a:r>
          </a:p>
          <a:p>
            <a:r>
              <a:rPr lang="en-US" sz="1800" u="sng" dirty="0" smtClean="0"/>
              <a:t>Download data</a:t>
            </a:r>
          </a:p>
          <a:p>
            <a:r>
              <a:rPr lang="en-US" sz="1800" u="sng" dirty="0" smtClean="0"/>
              <a:t>Editorial</a:t>
            </a:r>
          </a:p>
          <a:p>
            <a:r>
              <a:rPr lang="en-US" sz="1800" u="sng" dirty="0" smtClean="0"/>
              <a:t>Forum Comments</a:t>
            </a:r>
          </a:p>
          <a:p>
            <a:r>
              <a:rPr lang="en-US" sz="1800" u="sng" dirty="0" smtClean="0"/>
              <a:t>Slides</a:t>
            </a:r>
          </a:p>
          <a:p>
            <a:r>
              <a:rPr lang="en-US" sz="1800" u="sng" dirty="0" smtClean="0"/>
              <a:t>Video</a:t>
            </a:r>
          </a:p>
          <a:p>
            <a:r>
              <a:rPr lang="en-US" sz="1800" u="sng" dirty="0" smtClean="0"/>
              <a:t>Podcast</a:t>
            </a:r>
          </a:p>
          <a:p>
            <a:r>
              <a:rPr lang="en-US" sz="1800" u="sng" dirty="0" smtClean="0"/>
              <a:t>Twitter</a:t>
            </a:r>
          </a:p>
          <a:p>
            <a:r>
              <a:rPr lang="en-US" sz="1800" u="sng" dirty="0" smtClean="0"/>
              <a:t>Articles citing this article</a:t>
            </a:r>
          </a:p>
          <a:p>
            <a:r>
              <a:rPr lang="en-US" sz="1800" u="sng" dirty="0" smtClean="0"/>
              <a:t>Content from article to insert in textbooks</a:t>
            </a:r>
            <a:endParaRPr lang="en-US" sz="1800" dirty="0"/>
          </a:p>
        </p:txBody>
      </p:sp>
      <p:sp>
        <p:nvSpPr>
          <p:cNvPr id="6" name="TextBox 5"/>
          <p:cNvSpPr txBox="1"/>
          <p:nvPr/>
        </p:nvSpPr>
        <p:spPr>
          <a:xfrm>
            <a:off x="152400" y="177225"/>
            <a:ext cx="6569427" cy="584775"/>
          </a:xfrm>
          <a:prstGeom prst="rect">
            <a:avLst/>
          </a:prstGeom>
          <a:noFill/>
        </p:spPr>
        <p:txBody>
          <a:bodyPr wrap="none" rtlCol="0">
            <a:spAutoFit/>
          </a:bodyPr>
          <a:lstStyle/>
          <a:p>
            <a:r>
              <a:rPr lang="en-US" sz="3200" dirty="0" smtClean="0">
                <a:effectLst>
                  <a:outerShdw blurRad="38100" dist="38100" dir="2700000" algn="tl">
                    <a:srgbClr val="000000">
                      <a:alpha val="43137"/>
                    </a:srgbClr>
                  </a:outerShdw>
                </a:effectLst>
              </a:rPr>
              <a:t>The Open </a:t>
            </a:r>
            <a:r>
              <a:rPr lang="en-US" sz="3200" dirty="0">
                <a:effectLst>
                  <a:outerShdw blurRad="38100" dist="38100" dir="2700000" algn="tl">
                    <a:srgbClr val="000000">
                      <a:alpha val="43137"/>
                    </a:srgbClr>
                  </a:outerShdw>
                </a:effectLst>
              </a:rPr>
              <a:t>Source Journal of </a:t>
            </a:r>
            <a:r>
              <a:rPr lang="en-US" sz="3200" dirty="0" smtClean="0">
                <a:effectLst>
                  <a:outerShdw blurRad="38100" dist="38100" dir="2700000" algn="tl">
                    <a:srgbClr val="000000">
                      <a:alpha val="43137"/>
                    </a:srgbClr>
                  </a:outerShdw>
                </a:effectLst>
              </a:rPr>
              <a:t>Medicine </a:t>
            </a:r>
            <a:endParaRPr lang="en-US" sz="3200" dirty="0">
              <a:effectLst>
                <a:outerShdw blurRad="38100" dist="38100" dir="2700000" algn="tl">
                  <a:srgbClr val="000000">
                    <a:alpha val="43137"/>
                  </a:srgbClr>
                </a:outerShdw>
              </a:effectLst>
            </a:endParaRPr>
          </a:p>
        </p:txBody>
      </p:sp>
      <p:sp>
        <p:nvSpPr>
          <p:cNvPr id="9" name="TextBox 8"/>
          <p:cNvSpPr txBox="1"/>
          <p:nvPr/>
        </p:nvSpPr>
        <p:spPr>
          <a:xfrm>
            <a:off x="1752600" y="1143000"/>
            <a:ext cx="4343400" cy="5509200"/>
          </a:xfrm>
          <a:prstGeom prst="rect">
            <a:avLst/>
          </a:prstGeom>
          <a:solidFill>
            <a:schemeClr val="bg1"/>
          </a:solidFill>
        </p:spPr>
        <p:txBody>
          <a:bodyPr wrap="square" rtlCol="0">
            <a:spAutoFit/>
          </a:bodyPr>
          <a:lstStyle/>
          <a:p>
            <a:r>
              <a:rPr lang="en-US" b="1" dirty="0" smtClean="0"/>
              <a:t>This Week In Medicine:</a:t>
            </a:r>
          </a:p>
          <a:p>
            <a:endParaRPr lang="en-US" dirty="0" smtClean="0"/>
          </a:p>
          <a:p>
            <a:pPr marL="342900" indent="-342900">
              <a:buFont typeface="Arial" pitchFamily="34" charset="0"/>
              <a:buChar char="•"/>
            </a:pPr>
            <a:r>
              <a:rPr lang="en-US" u="sng" dirty="0" smtClean="0"/>
              <a:t>Improving Medical Search.</a:t>
            </a:r>
          </a:p>
          <a:p>
            <a:r>
              <a:rPr lang="en-US" i="1" dirty="0" smtClean="0"/>
              <a:t>	By CM Gibson et al</a:t>
            </a:r>
          </a:p>
          <a:p>
            <a:endParaRPr lang="en-US" dirty="0" smtClean="0"/>
          </a:p>
          <a:p>
            <a:pPr marL="342900" indent="-342900">
              <a:buFont typeface="Arial" pitchFamily="34" charset="0"/>
              <a:buChar char="•"/>
            </a:pPr>
            <a:r>
              <a:rPr lang="en-US" u="sng" dirty="0" err="1" smtClean="0"/>
              <a:t>WikiDoc</a:t>
            </a:r>
            <a:r>
              <a:rPr lang="en-US" u="sng" dirty="0" smtClean="0"/>
              <a:t>: An Open Source Textbook of Medicine.</a:t>
            </a:r>
          </a:p>
          <a:p>
            <a:r>
              <a:rPr lang="en-US" i="1" dirty="0" smtClean="0"/>
              <a:t> 	By CM Gibson et al</a:t>
            </a:r>
          </a:p>
          <a:p>
            <a:endParaRPr lang="en-US" dirty="0"/>
          </a:p>
          <a:p>
            <a:endParaRPr lang="en-US" dirty="0" smtClean="0"/>
          </a:p>
          <a:p>
            <a:endParaRPr lang="en-US" dirty="0"/>
          </a:p>
          <a:p>
            <a:endParaRPr lang="en-US" dirty="0" smtClean="0"/>
          </a:p>
          <a:p>
            <a:endParaRPr lang="en-US" dirty="0" smtClean="0"/>
          </a:p>
          <a:p>
            <a:endParaRPr lang="en-US" dirty="0"/>
          </a:p>
          <a:p>
            <a:endParaRPr lang="en-US" dirty="0" smtClean="0"/>
          </a:p>
          <a:p>
            <a:endParaRPr lang="en-US" dirty="0" smtClean="0"/>
          </a:p>
        </p:txBody>
      </p:sp>
      <p:cxnSp>
        <p:nvCxnSpPr>
          <p:cNvPr id="12" name="Straight Connector 11"/>
          <p:cNvCxnSpPr/>
          <p:nvPr/>
        </p:nvCxnSpPr>
        <p:spPr>
          <a:xfrm>
            <a:off x="6248400" y="990600"/>
            <a:ext cx="0" cy="5867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676400" y="990600"/>
            <a:ext cx="0" cy="5867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676400" y="1752600"/>
            <a:ext cx="457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Content Placeholder 2"/>
          <p:cNvSpPr>
            <a:spLocks noGrp="1"/>
          </p:cNvSpPr>
          <p:nvPr>
            <p:ph idx="1"/>
          </p:nvPr>
        </p:nvSpPr>
        <p:spPr>
          <a:xfrm>
            <a:off x="15948" y="1295400"/>
            <a:ext cx="1660452" cy="4114800"/>
          </a:xfrm>
        </p:spPr>
        <p:txBody>
          <a:bodyPr/>
          <a:lstStyle/>
          <a:p>
            <a:pPr marL="0" indent="0">
              <a:buNone/>
            </a:pPr>
            <a:r>
              <a:rPr lang="en-US" sz="1800" dirty="0" smtClean="0">
                <a:solidFill>
                  <a:schemeClr val="tx1"/>
                </a:solidFill>
                <a:effectLst/>
                <a:latin typeface="Times New Roman" pitchFamily="18" charset="0"/>
                <a:cs typeface="Times New Roman" pitchFamily="18" charset="0"/>
              </a:rPr>
              <a:t>Editorial Board</a:t>
            </a:r>
          </a:p>
          <a:p>
            <a:pPr marL="0" indent="0">
              <a:buNone/>
            </a:pPr>
            <a:r>
              <a:rPr lang="en-US" sz="1800" dirty="0" smtClean="0">
                <a:solidFill>
                  <a:schemeClr val="tx1"/>
                </a:solidFill>
                <a:effectLst/>
                <a:latin typeface="Times New Roman" pitchFamily="18" charset="0"/>
                <a:cs typeface="Times New Roman" pitchFamily="18" charset="0"/>
              </a:rPr>
              <a:t>RSS Feed</a:t>
            </a:r>
          </a:p>
          <a:p>
            <a:pPr marL="0" indent="0">
              <a:buNone/>
            </a:pPr>
            <a:r>
              <a:rPr lang="en-US" sz="1800" dirty="0" smtClean="0">
                <a:solidFill>
                  <a:schemeClr val="tx1"/>
                </a:solidFill>
                <a:effectLst/>
                <a:latin typeface="Times New Roman" pitchFamily="18" charset="0"/>
                <a:cs typeface="Times New Roman" pitchFamily="18" charset="0"/>
              </a:rPr>
              <a:t>Instructions for submission</a:t>
            </a:r>
            <a:endParaRPr lang="en-US" sz="1800" dirty="0">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8831888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a:extLst/>
        </p:spPr>
        <p:txBody>
          <a:bodyPr/>
          <a:lstStyle/>
          <a:p>
            <a:pPr>
              <a:defRPr/>
            </a:pPr>
            <a:r>
              <a:rPr lang="en-US" dirty="0" err="1" smtClean="0"/>
              <a:t>WikiDoc</a:t>
            </a:r>
            <a:r>
              <a:rPr lang="en-US" dirty="0" smtClean="0"/>
              <a:t>: Vision</a:t>
            </a:r>
            <a:endParaRPr lang="en-US" dirty="0"/>
          </a:p>
        </p:txBody>
      </p:sp>
      <p:sp>
        <p:nvSpPr>
          <p:cNvPr id="4" name="Curved Left Arrow 3"/>
          <p:cNvSpPr/>
          <p:nvPr/>
        </p:nvSpPr>
        <p:spPr>
          <a:xfrm>
            <a:off x="4724400" y="2362200"/>
            <a:ext cx="1676400" cy="2895600"/>
          </a:xfrm>
          <a:prstGeom prst="curvedLeftArrow">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6" name="Curved Left Arrow 5"/>
          <p:cNvSpPr/>
          <p:nvPr/>
        </p:nvSpPr>
        <p:spPr>
          <a:xfrm flipH="1" flipV="1">
            <a:off x="2362200" y="2209800"/>
            <a:ext cx="1600200" cy="2895600"/>
          </a:xfrm>
          <a:prstGeom prst="curvedLeftArrow">
            <a:avLst/>
          </a:prstGeom>
          <a:solidFill>
            <a:schemeClr val="bg1"/>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7" name="TextBox 6"/>
          <p:cNvSpPr txBox="1"/>
          <p:nvPr/>
        </p:nvSpPr>
        <p:spPr>
          <a:xfrm>
            <a:off x="2017713" y="1270000"/>
            <a:ext cx="4343400" cy="923925"/>
          </a:xfrm>
          <a:prstGeom prst="rect">
            <a:avLst/>
          </a:prstGeom>
          <a:noFill/>
        </p:spPr>
        <p:txBody>
          <a:bodyPr>
            <a:spAutoFit/>
          </a:bodyPr>
          <a:lstStyle/>
          <a:p>
            <a:pPr algn="ctr">
              <a:defRPr/>
            </a:pPr>
            <a:r>
              <a:rPr lang="en-US" sz="1800" dirty="0">
                <a:solidFill>
                  <a:schemeClr val="bg1"/>
                </a:solidFill>
                <a:latin typeface="+mn-lt"/>
                <a:cs typeface="+mn-cs"/>
              </a:rPr>
              <a:t>Primary Data Published in</a:t>
            </a:r>
          </a:p>
          <a:p>
            <a:pPr algn="ctr">
              <a:defRPr/>
            </a:pPr>
            <a:r>
              <a:rPr lang="en-US" sz="1800" dirty="0">
                <a:solidFill>
                  <a:schemeClr val="bg1"/>
                </a:solidFill>
                <a:latin typeface="+mn-lt"/>
                <a:cs typeface="+mn-cs"/>
              </a:rPr>
              <a:t>Literature or </a:t>
            </a:r>
            <a:r>
              <a:rPr lang="en-US" sz="1800" b="1" dirty="0" err="1">
                <a:solidFill>
                  <a:srgbClr val="FF6600"/>
                </a:solidFill>
                <a:latin typeface="+mn-lt"/>
                <a:cs typeface="+mn-cs"/>
              </a:rPr>
              <a:t>WikiDoc’s</a:t>
            </a:r>
            <a:r>
              <a:rPr lang="en-US" sz="1800" dirty="0">
                <a:solidFill>
                  <a:schemeClr val="bg1"/>
                </a:solidFill>
                <a:latin typeface="+mn-lt"/>
                <a:cs typeface="+mn-cs"/>
              </a:rPr>
              <a:t> </a:t>
            </a:r>
            <a:r>
              <a:rPr lang="en-US" sz="1800" b="1" dirty="0">
                <a:solidFill>
                  <a:srgbClr val="FF6600"/>
                </a:solidFill>
                <a:latin typeface="+mn-lt"/>
                <a:cs typeface="+mn-cs"/>
              </a:rPr>
              <a:t>Open Source Journal Of Medicine</a:t>
            </a:r>
          </a:p>
        </p:txBody>
      </p:sp>
      <p:sp>
        <p:nvSpPr>
          <p:cNvPr id="8" name="TextBox 7"/>
          <p:cNvSpPr txBox="1"/>
          <p:nvPr/>
        </p:nvSpPr>
        <p:spPr>
          <a:xfrm>
            <a:off x="6553200" y="2971800"/>
            <a:ext cx="2382838" cy="923925"/>
          </a:xfrm>
          <a:prstGeom prst="rect">
            <a:avLst/>
          </a:prstGeom>
          <a:noFill/>
        </p:spPr>
        <p:txBody>
          <a:bodyPr>
            <a:spAutoFit/>
          </a:bodyPr>
          <a:lstStyle/>
          <a:p>
            <a:pPr>
              <a:defRPr/>
            </a:pPr>
            <a:r>
              <a:rPr lang="en-US" sz="1800" b="1" dirty="0">
                <a:solidFill>
                  <a:srgbClr val="FF6600"/>
                </a:solidFill>
                <a:latin typeface="+mn-lt"/>
                <a:cs typeface="+mn-cs"/>
              </a:rPr>
              <a:t>WikiDoc News </a:t>
            </a:r>
          </a:p>
          <a:p>
            <a:pPr>
              <a:defRPr/>
            </a:pPr>
            <a:r>
              <a:rPr lang="en-US" sz="1800" dirty="0">
                <a:solidFill>
                  <a:schemeClr val="bg1"/>
                </a:solidFill>
                <a:latin typeface="+mn-lt"/>
                <a:cs typeface="+mn-cs"/>
              </a:rPr>
              <a:t>(links to  textbook chapters)</a:t>
            </a:r>
          </a:p>
        </p:txBody>
      </p:sp>
      <p:sp>
        <p:nvSpPr>
          <p:cNvPr id="9" name="TextBox 8"/>
          <p:cNvSpPr txBox="1"/>
          <p:nvPr/>
        </p:nvSpPr>
        <p:spPr>
          <a:xfrm>
            <a:off x="3200400" y="5373688"/>
            <a:ext cx="2306638" cy="646112"/>
          </a:xfrm>
          <a:prstGeom prst="rect">
            <a:avLst/>
          </a:prstGeom>
          <a:noFill/>
        </p:spPr>
        <p:txBody>
          <a:bodyPr>
            <a:spAutoFit/>
          </a:bodyPr>
          <a:lstStyle/>
          <a:p>
            <a:pPr>
              <a:defRPr/>
            </a:pPr>
            <a:r>
              <a:rPr lang="en-US" sz="1800" b="1" dirty="0">
                <a:solidFill>
                  <a:srgbClr val="FF6600"/>
                </a:solidFill>
                <a:latin typeface="+mn-lt"/>
                <a:cs typeface="+mn-cs"/>
              </a:rPr>
              <a:t>WikiDoc  Textbook</a:t>
            </a:r>
            <a:r>
              <a:rPr lang="en-US" sz="1800" dirty="0">
                <a:solidFill>
                  <a:schemeClr val="bg1"/>
                </a:solidFill>
                <a:latin typeface="+mn-lt"/>
                <a:cs typeface="+mn-cs"/>
              </a:rPr>
              <a:t> Chapters Revised</a:t>
            </a:r>
          </a:p>
        </p:txBody>
      </p:sp>
      <p:sp>
        <p:nvSpPr>
          <p:cNvPr id="12" name="Down Arrow 11"/>
          <p:cNvSpPr/>
          <p:nvPr/>
        </p:nvSpPr>
        <p:spPr>
          <a:xfrm flipH="1">
            <a:off x="7620000" y="3886200"/>
            <a:ext cx="457200" cy="914400"/>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TextBox 12"/>
          <p:cNvSpPr txBox="1"/>
          <p:nvPr/>
        </p:nvSpPr>
        <p:spPr>
          <a:xfrm>
            <a:off x="6553200" y="4953000"/>
            <a:ext cx="2382838" cy="923925"/>
          </a:xfrm>
          <a:prstGeom prst="rect">
            <a:avLst/>
          </a:prstGeom>
          <a:noFill/>
        </p:spPr>
        <p:txBody>
          <a:bodyPr>
            <a:spAutoFit/>
          </a:bodyPr>
          <a:lstStyle/>
          <a:p>
            <a:pPr>
              <a:defRPr/>
            </a:pPr>
            <a:r>
              <a:rPr lang="en-US" sz="1800" b="1" dirty="0">
                <a:solidFill>
                  <a:srgbClr val="FF6600"/>
                </a:solidFill>
                <a:latin typeface="+mn-lt"/>
                <a:cs typeface="+mn-cs"/>
              </a:rPr>
              <a:t>WikiDoc Polls</a:t>
            </a:r>
          </a:p>
          <a:p>
            <a:pPr>
              <a:defRPr/>
            </a:pPr>
            <a:r>
              <a:rPr lang="en-US" sz="1800" b="1" dirty="0">
                <a:solidFill>
                  <a:srgbClr val="FF6600"/>
                </a:solidFill>
                <a:latin typeface="+mn-lt"/>
                <a:cs typeface="+mn-cs"/>
              </a:rPr>
              <a:t>WikiDoc Discussion</a:t>
            </a:r>
          </a:p>
          <a:p>
            <a:pPr>
              <a:defRPr/>
            </a:pPr>
            <a:endParaRPr lang="en-US" sz="1800" b="1" dirty="0">
              <a:solidFill>
                <a:srgbClr val="FF6600"/>
              </a:solidFill>
              <a:latin typeface="+mn-lt"/>
              <a:cs typeface="+mn-cs"/>
            </a:endParaRPr>
          </a:p>
        </p:txBody>
      </p:sp>
      <p:sp>
        <p:nvSpPr>
          <p:cNvPr id="14" name="TextBox 13"/>
          <p:cNvSpPr txBox="1"/>
          <p:nvPr/>
        </p:nvSpPr>
        <p:spPr>
          <a:xfrm>
            <a:off x="131763" y="3143250"/>
            <a:ext cx="2306637" cy="1200150"/>
          </a:xfrm>
          <a:prstGeom prst="rect">
            <a:avLst/>
          </a:prstGeom>
          <a:noFill/>
        </p:spPr>
        <p:txBody>
          <a:bodyPr>
            <a:spAutoFit/>
          </a:bodyPr>
          <a:lstStyle/>
          <a:p>
            <a:pPr>
              <a:defRPr/>
            </a:pPr>
            <a:r>
              <a:rPr lang="en-US" sz="1800" b="1" dirty="0">
                <a:solidFill>
                  <a:srgbClr val="FF6600"/>
                </a:solidFill>
                <a:latin typeface="+mn-lt"/>
                <a:cs typeface="+mn-cs"/>
              </a:rPr>
              <a:t>WikiDoc  Living Guidelines</a:t>
            </a:r>
            <a:r>
              <a:rPr lang="en-US" sz="1800" dirty="0">
                <a:solidFill>
                  <a:schemeClr val="bg1"/>
                </a:solidFill>
                <a:latin typeface="+mn-lt"/>
                <a:cs typeface="+mn-cs"/>
              </a:rPr>
              <a:t> Polling related to published guidelines</a:t>
            </a:r>
          </a:p>
        </p:txBody>
      </p:sp>
      <p:grpSp>
        <p:nvGrpSpPr>
          <p:cNvPr id="61453" name="Group 10"/>
          <p:cNvGrpSpPr>
            <a:grpSpLocks/>
          </p:cNvGrpSpPr>
          <p:nvPr/>
        </p:nvGrpSpPr>
        <p:grpSpPr bwMode="auto">
          <a:xfrm>
            <a:off x="76200" y="6461125"/>
            <a:ext cx="2736850" cy="369888"/>
            <a:chOff x="76200" y="6461774"/>
            <a:chExt cx="2736405" cy="369332"/>
          </a:xfrm>
        </p:grpSpPr>
        <p:pic>
          <p:nvPicPr>
            <p:cNvPr id="61454"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3200"/>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p:cNvSpPr txBox="1"/>
            <p:nvPr/>
          </p:nvSpPr>
          <p:spPr>
            <a:xfrm>
              <a:off x="255559" y="6461774"/>
              <a:ext cx="2557046" cy="369332"/>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grpSp>
      <p:sp>
        <p:nvSpPr>
          <p:cNvPr id="15" name="TextBox 14"/>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Could You Help?</a:t>
            </a:r>
            <a:endParaRPr lang="en-US" dirty="0"/>
          </a:p>
        </p:txBody>
      </p:sp>
      <p:sp>
        <p:nvSpPr>
          <p:cNvPr id="3" name="Content Placeholder 2"/>
          <p:cNvSpPr>
            <a:spLocks noGrp="1"/>
          </p:cNvSpPr>
          <p:nvPr>
            <p:ph idx="1"/>
          </p:nvPr>
        </p:nvSpPr>
        <p:spPr>
          <a:xfrm>
            <a:off x="228600" y="1295400"/>
            <a:ext cx="8686800" cy="4724400"/>
          </a:xfrm>
        </p:spPr>
        <p:txBody>
          <a:bodyPr/>
          <a:lstStyle/>
          <a:p>
            <a:r>
              <a:rPr lang="en-US" dirty="0" smtClean="0"/>
              <a:t>Simplify end user coding of schema contents</a:t>
            </a:r>
          </a:p>
          <a:p>
            <a:r>
              <a:rPr lang="en-US" dirty="0" smtClean="0"/>
              <a:t>Develop system to quantitate quality of contributions on </a:t>
            </a:r>
            <a:r>
              <a:rPr lang="en-US" dirty="0" err="1" smtClean="0"/>
              <a:t>WikiDoc</a:t>
            </a:r>
            <a:r>
              <a:rPr lang="en-US" dirty="0" smtClean="0"/>
              <a:t>: Proportion of a contributors content that is edited</a:t>
            </a:r>
          </a:p>
          <a:p>
            <a:r>
              <a:rPr lang="en-US" dirty="0" smtClean="0"/>
              <a:t>Create coding for the Open Source Journal of Medicine</a:t>
            </a:r>
          </a:p>
          <a:p>
            <a:r>
              <a:rPr lang="en-US" dirty="0" smtClean="0"/>
              <a:t>Create coding for bots to incorporate clinicaltrials.gov content on </a:t>
            </a:r>
            <a:r>
              <a:rPr lang="en-US" dirty="0" err="1" smtClean="0"/>
              <a:t>wikidoc</a:t>
            </a:r>
            <a:endParaRPr lang="en-US" dirty="0" smtClean="0"/>
          </a:p>
          <a:p>
            <a:r>
              <a:rPr lang="en-US" dirty="0" smtClean="0"/>
              <a:t>Help with SEO</a:t>
            </a:r>
          </a:p>
        </p:txBody>
      </p:sp>
      <p:sp>
        <p:nvSpPr>
          <p:cNvPr id="4" name="TextBox 3"/>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pic>
        <p:nvPicPr>
          <p:cNvPr id="5"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extLst>
      <p:ext uri="{BB962C8B-B14F-4D97-AF65-F5344CB8AC3E}">
        <p14:creationId xmlns:p14="http://schemas.microsoft.com/office/powerpoint/2010/main" val="35059611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Could You Help?</a:t>
            </a:r>
          </a:p>
        </p:txBody>
      </p:sp>
      <p:sp>
        <p:nvSpPr>
          <p:cNvPr id="3" name="Content Placeholder 2"/>
          <p:cNvSpPr>
            <a:spLocks noGrp="1"/>
          </p:cNvSpPr>
          <p:nvPr>
            <p:ph idx="1"/>
          </p:nvPr>
        </p:nvSpPr>
        <p:spPr>
          <a:xfrm>
            <a:off x="228600" y="1295400"/>
            <a:ext cx="8686800" cy="4114800"/>
          </a:xfrm>
        </p:spPr>
        <p:txBody>
          <a:bodyPr/>
          <a:lstStyle/>
          <a:p>
            <a:r>
              <a:rPr lang="en-US" dirty="0" smtClean="0"/>
              <a:t>The credibility of medical content should be characterized</a:t>
            </a:r>
          </a:p>
          <a:p>
            <a:r>
              <a:rPr lang="en-US" dirty="0" smtClean="0"/>
              <a:t>Create a system whereby a unique identifier is provided to participating content providers to quantitate credibility (h index, number of citations, impact factor of journals they publish in, </a:t>
            </a:r>
            <a:r>
              <a:rPr lang="en-US" dirty="0" err="1"/>
              <a:t>K</a:t>
            </a:r>
            <a:r>
              <a:rPr lang="en-US" dirty="0" err="1" smtClean="0"/>
              <a:t>lout</a:t>
            </a:r>
            <a:r>
              <a:rPr lang="en-US" dirty="0" smtClean="0"/>
              <a:t> score, peer review results, age adjusted)</a:t>
            </a:r>
            <a:endParaRPr lang="en-US" dirty="0"/>
          </a:p>
        </p:txBody>
      </p:sp>
      <p:sp>
        <p:nvSpPr>
          <p:cNvPr id="4" name="TextBox 3"/>
          <p:cNvSpPr txBox="1"/>
          <p:nvPr/>
        </p:nvSpPr>
        <p:spPr>
          <a:xfrm>
            <a:off x="5455170" y="6477000"/>
            <a:ext cx="3688830" cy="369332"/>
          </a:xfrm>
          <a:prstGeom prst="rect">
            <a:avLst/>
          </a:prstGeom>
          <a:noFill/>
        </p:spPr>
        <p:txBody>
          <a:bodyPr wrap="none" rtlCol="0">
            <a:spAutoFit/>
          </a:bodyPr>
          <a:lstStyle/>
          <a:p>
            <a:r>
              <a:rPr lang="en-US" sz="1800" dirty="0" smtClean="0">
                <a:solidFill>
                  <a:schemeClr val="bg1"/>
                </a:solidFill>
                <a:latin typeface="+mn-lt"/>
              </a:rPr>
              <a:t>charlesmichaelgibson@gmail.com</a:t>
            </a:r>
            <a:endParaRPr lang="en-US" sz="1800" dirty="0">
              <a:solidFill>
                <a:schemeClr val="bg1"/>
              </a:solidFill>
              <a:latin typeface="+mn-lt"/>
            </a:endParaRPr>
          </a:p>
        </p:txBody>
      </p:sp>
      <p:pic>
        <p:nvPicPr>
          <p:cNvPr id="5" name="Picture 14" descr="Copyleft.svg.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552689"/>
            <a:ext cx="228637" cy="22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255588" y="6461125"/>
            <a:ext cx="2557462" cy="369888"/>
          </a:xfrm>
          <a:prstGeom prst="rect">
            <a:avLst/>
          </a:prstGeom>
          <a:noFill/>
        </p:spPr>
        <p:txBody>
          <a:bodyPr wrap="none">
            <a:spAutoFit/>
          </a:bodyPr>
          <a:lstStyle/>
          <a:p>
            <a:pPr>
              <a:defRPr/>
            </a:pPr>
            <a:r>
              <a:rPr lang="en-US" sz="1800" dirty="0">
                <a:solidFill>
                  <a:schemeClr val="bg1"/>
                </a:solidFill>
                <a:latin typeface="+mn-lt"/>
                <a:cs typeface="+mn-cs"/>
              </a:rPr>
              <a:t>Copyleft by CM Gibson</a:t>
            </a:r>
          </a:p>
        </p:txBody>
      </p:sp>
    </p:spTree>
    <p:extLst>
      <p:ext uri="{BB962C8B-B14F-4D97-AF65-F5344CB8AC3E}">
        <p14:creationId xmlns:p14="http://schemas.microsoft.com/office/powerpoint/2010/main" val="200780481"/>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14381</TotalTime>
  <Words>3049</Words>
  <Application>Microsoft Office PowerPoint</Application>
  <PresentationFormat>On-screen Show (4:3)</PresentationFormat>
  <Paragraphs>534</Paragraphs>
  <Slides>65</Slides>
  <Notes>0</Notes>
  <HiddenSlides>0</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Default Design</vt:lpstr>
      <vt:lpstr>PowerPoint Presentation</vt:lpstr>
      <vt:lpstr>PowerPoint Presentation</vt:lpstr>
      <vt:lpstr>The “World May Be Flat”, But  “The Earth is Round”</vt:lpstr>
      <vt:lpstr>Challenges</vt:lpstr>
      <vt:lpstr>Old World vs New World: Organizations</vt:lpstr>
      <vt:lpstr>Old World vs New World: Information Flow</vt:lpstr>
      <vt:lpstr>Old World vs New World: Competition</vt:lpstr>
      <vt:lpstr>Old World vs New World: Collaboration</vt:lpstr>
      <vt:lpstr>Old World vs New World: Internet</vt:lpstr>
      <vt:lpstr>Old World vs New World: Media</vt:lpstr>
      <vt:lpstr>Old World vs New World: The Truth Standard</vt:lpstr>
      <vt:lpstr>Old World vs New World: Medical Information</vt:lpstr>
      <vt:lpstr>Limitations to Current Methods of Disseminating Medical Information</vt:lpstr>
      <vt:lpstr>AMA / JAMA Advertising Revenue</vt:lpstr>
      <vt:lpstr>PowerPoint Presentation</vt:lpstr>
      <vt:lpstr>Clinical Research as Experimercials</vt:lpstr>
      <vt:lpstr>Current Model: Textbooks</vt:lpstr>
      <vt:lpstr>The Textbook Business Model</vt:lpstr>
      <vt:lpstr>Retail Price of Cardiovascular Textbooks in US Dollars</vt:lpstr>
      <vt:lpstr>General Practitioner and Specialist’s Income</vt:lpstr>
      <vt:lpstr>What is Copyleft?</vt:lpstr>
      <vt:lpstr>What is a Wiki?</vt:lpstr>
      <vt:lpstr>          MediaWiki: The Wiki Software</vt:lpstr>
      <vt:lpstr>Wiki’s May Be Less Biased</vt:lpstr>
      <vt:lpstr>Internet encyclopaedias go head to head</vt:lpstr>
      <vt:lpstr>PowerPoint Presentation</vt:lpstr>
      <vt:lpstr>The World's First Medical Wiki: WikiDoc</vt:lpstr>
      <vt:lpstr>WikiDoc: Overview</vt:lpstr>
      <vt:lpstr>WikiDoc’s Business Model</vt:lpstr>
      <vt:lpstr>WikiPatient, WikiPedia, WikiDoc</vt:lpstr>
      <vt:lpstr>WikiDoc Content</vt:lpstr>
      <vt:lpstr>WikiDoc: The Team</vt:lpstr>
      <vt:lpstr>WikiDoc Home Page</vt:lpstr>
      <vt:lpstr>WikiPatient: Thousands of Chapters Now</vt:lpstr>
      <vt:lpstr>WikiDoc: The Living Guidelines</vt:lpstr>
      <vt:lpstr>WikiDoc: Expert Algorithms</vt:lpstr>
      <vt:lpstr>WikiDoc as a Research Tool: </vt:lpstr>
      <vt:lpstr>Example of WikiDoc Searching Itself to Create a Full Differential Diagnosis of the Causes of Headache</vt:lpstr>
      <vt:lpstr>Differential Diagnosis of Headache</vt:lpstr>
      <vt:lpstr>Differential Diagnosis of Headache (cont.)</vt:lpstr>
      <vt:lpstr>Differential Diagnosis of Headache (cont.)</vt:lpstr>
      <vt:lpstr>Differential Diagnosis of Headache (cont.)</vt:lpstr>
      <vt:lpstr>WikiDoc: Successes</vt:lpstr>
      <vt:lpstr>WikiDoc Ongoing Challenges</vt:lpstr>
      <vt:lpstr>PowerPoint Presentation</vt:lpstr>
      <vt:lpstr>Limitations of Search Algorithms</vt:lpstr>
      <vt:lpstr>Limitations of Search Algorithms</vt:lpstr>
      <vt:lpstr>Limitations of Search Algorithms</vt:lpstr>
      <vt:lpstr>Limitations of Search Algorithms</vt:lpstr>
      <vt:lpstr>PowerPoint Presentation</vt:lpstr>
      <vt:lpstr>Limitations of Search Algorithms</vt:lpstr>
      <vt:lpstr>PowerPoint Presentation</vt:lpstr>
      <vt:lpstr>Limitations of Search Algorithms</vt:lpstr>
      <vt:lpstr>PowerPoint Presentation</vt:lpstr>
      <vt:lpstr>Limitations of Search Algorithms</vt:lpstr>
      <vt:lpstr>Improving Search Algorithms</vt:lpstr>
      <vt:lpstr>Improving Search Algorithms: Assessing Credibility of Medical Content</vt:lpstr>
      <vt:lpstr>PowerPoint Presentation</vt:lpstr>
      <vt:lpstr>Improving the Specificity of Search</vt:lpstr>
      <vt:lpstr>PowerPoint Presentation</vt:lpstr>
      <vt:lpstr>WikiDoc’s Role in Improving Search Results</vt:lpstr>
      <vt:lpstr>PowerPoint Presentation</vt:lpstr>
      <vt:lpstr>WikiDoc: Vision</vt:lpstr>
      <vt:lpstr>How Could You Help?</vt:lpstr>
      <vt:lpstr>How Could You Help?</vt:lpstr>
    </vt:vector>
  </TitlesOfParts>
  <Company>Partners HealthCare System,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IntraCoronary Treatment with Integrilin To Improve ANgiographic outcomes</dc:title>
  <dc:creator>Information Systems</dc:creator>
  <cp:lastModifiedBy>perfuse</cp:lastModifiedBy>
  <cp:revision>384</cp:revision>
  <dcterms:created xsi:type="dcterms:W3CDTF">2007-02-18T00:49:23Z</dcterms:created>
  <dcterms:modified xsi:type="dcterms:W3CDTF">2012-11-28T19:05:16Z</dcterms:modified>
</cp:coreProperties>
</file>