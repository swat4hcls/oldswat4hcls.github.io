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96" r:id="rId3"/>
    <p:sldId id="260" r:id="rId4"/>
    <p:sldId id="297" r:id="rId5"/>
    <p:sldId id="274" r:id="rId6"/>
    <p:sldId id="284" r:id="rId7"/>
    <p:sldId id="288" r:id="rId8"/>
    <p:sldId id="289" r:id="rId9"/>
    <p:sldId id="290" r:id="rId10"/>
    <p:sldId id="291" r:id="rId11"/>
    <p:sldId id="295" r:id="rId12"/>
    <p:sldId id="292" r:id="rId13"/>
    <p:sldId id="282" r:id="rId14"/>
    <p:sldId id="283" r:id="rId15"/>
    <p:sldId id="285" r:id="rId16"/>
    <p:sldId id="286" r:id="rId17"/>
    <p:sldId id="294" r:id="rId18"/>
    <p:sldId id="28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A15A"/>
    <a:srgbClr val="292C78"/>
    <a:srgbClr val="9E0000"/>
    <a:srgbClr val="E9E6D7"/>
    <a:srgbClr val="FCFDF9"/>
    <a:srgbClr val="FF4B4B"/>
    <a:srgbClr val="85A7D1"/>
    <a:srgbClr val="73B054"/>
    <a:srgbClr val="43C143"/>
    <a:srgbClr val="F57E1B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2849" autoAdjust="0"/>
  </p:normalViewPr>
  <p:slideViewPr>
    <p:cSldViewPr>
      <p:cViewPr varScale="1">
        <p:scale>
          <a:sx n="70" d="100"/>
          <a:sy n="70" d="100"/>
        </p:scale>
        <p:origin x="-82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30931-A1F2-4CF2-937C-EF56F56EFB7D}" type="datetimeFigureOut">
              <a:rPr lang="en-GB" smtClean="0"/>
              <a:pPr/>
              <a:t>10/12/2014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1DAD6-6B11-4FDE-9A43-B769619C3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79553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1DAD6-6B11-4FDE-9A43-B769619C3169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1DAD6-6B11-4FDE-9A43-B769619C3169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1DAD6-6B11-4FDE-9A43-B769619C3169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1DAD6-6B11-4FDE-9A43-B769619C3169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E1DAD6-6B11-4FDE-9A43-B769619C3169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363688" y="4419600"/>
            <a:ext cx="64087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0" dirty="0" smtClean="0">
                <a:latin typeface="Arial" pitchFamily="34" charset="0"/>
                <a:cs typeface="Arial" pitchFamily="34" charset="0"/>
              </a:rPr>
              <a:t>ICCS / NTUA</a:t>
            </a:r>
            <a:endParaRPr lang="en-GB" sz="2400" b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 userDrawn="1"/>
        </p:nvSpPr>
        <p:spPr>
          <a:xfrm>
            <a:off x="1371600" y="4953000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Greece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1484040" y="3839344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Efthymios Chondrogiannis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76200" y="2327399"/>
            <a:ext cx="9067800" cy="1254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rgbClr val="292C78"/>
                </a:solidFill>
                <a:latin typeface="Arial" pitchFamily="34" charset="0"/>
                <a:cs typeface="Arial" pitchFamily="34" charset="0"/>
              </a:rPr>
              <a:t>An Intelligent Ontology Alignment Tool Dealing with Complicated Mismatches </a:t>
            </a:r>
            <a:endParaRPr lang="en-GB" sz="3200" dirty="0">
              <a:solidFill>
                <a:srgbClr val="292C78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 descr="OSL_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00840" y="457200"/>
            <a:ext cx="1428760" cy="1396631"/>
          </a:xfrm>
          <a:prstGeom prst="rect">
            <a:avLst/>
          </a:prstGeom>
        </p:spPr>
      </p:pic>
      <p:pic>
        <p:nvPicPr>
          <p:cNvPr id="13" name="Picture 12" descr="swat4ls-header-generic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59971" y="304800"/>
            <a:ext cx="5483629" cy="136841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70037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92C78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264275"/>
            <a:ext cx="549424" cy="396000"/>
          </a:xfrm>
        </p:spPr>
        <p:txBody>
          <a:bodyPr/>
          <a:lstStyle>
            <a:lvl1pPr>
              <a:defRPr b="0"/>
            </a:lvl1pPr>
          </a:lstStyle>
          <a:p>
            <a:fld id="{FE497F38-0DD0-4BD7-9C28-C987D09CBAE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17550296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0882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79DB23F-42FA-47F5-923A-3E241DC574D5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26540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8E85E39-E872-4504-AEED-CF8A09E82988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98492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4DEEF8E-5228-40B7-B0A8-D3A3214FFF1D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01080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0A39620-E290-4D3F-B9F8-CDB78292DECB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68890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E046051-B468-4B02-A54A-26B021A2641B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57689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E145184-64A8-485A-A13F-66551B37F0D0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094272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B4877E-DA65-4A39-A387-E34556AAA277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33232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1D18D9F-F852-4F90-893D-5D7F1F983DEE}" type="datetime1">
              <a:rPr lang="el-GR" smtClean="0"/>
              <a:pPr/>
              <a:t>10/12/2014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07066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Outline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Progress</a:t>
            </a:r>
          </a:p>
          <a:p>
            <a:pPr lvl="1"/>
            <a:r>
              <a:rPr lang="en-US" dirty="0" smtClean="0"/>
              <a:t>Progress 1</a:t>
            </a:r>
          </a:p>
          <a:p>
            <a:pPr lvl="1"/>
            <a:r>
              <a:rPr lang="en-US" dirty="0" smtClean="0"/>
              <a:t>Progress 2</a:t>
            </a:r>
          </a:p>
          <a:p>
            <a:pPr lvl="1"/>
            <a:endParaRPr lang="en-US" dirty="0" smtClean="0"/>
          </a:p>
          <a:p>
            <a:pPr lvl="0"/>
            <a:r>
              <a:rPr lang="en-US" dirty="0" smtClean="0"/>
              <a:t>Achievements</a:t>
            </a:r>
          </a:p>
          <a:p>
            <a:pPr lvl="1"/>
            <a:r>
              <a:rPr lang="en-US" dirty="0" smtClean="0"/>
              <a:t>Achievement 1</a:t>
            </a:r>
          </a:p>
          <a:p>
            <a:pPr lvl="1"/>
            <a:r>
              <a:rPr lang="en-US" dirty="0" smtClean="0"/>
              <a:t>Achievement 2</a:t>
            </a:r>
          </a:p>
          <a:p>
            <a:pPr lvl="0"/>
            <a:r>
              <a:rPr lang="en-US" dirty="0" smtClean="0"/>
              <a:t>Issues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TODOs</a:t>
            </a:r>
          </a:p>
          <a:p>
            <a:pPr lvl="0"/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3048000" y="6324600"/>
            <a:ext cx="3810000" cy="262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400" b="0" i="0" dirty="0" smtClean="0">
                <a:solidFill>
                  <a:srgbClr val="292C78"/>
                </a:solidFill>
                <a:latin typeface="Arial" pitchFamily="34" charset="0"/>
                <a:cs typeface="Arial" pitchFamily="34" charset="0"/>
              </a:rPr>
              <a:t>Workshop – 10,</a:t>
            </a:r>
            <a:r>
              <a:rPr lang="en-GB" sz="1400" b="0" i="0" baseline="0" dirty="0" smtClean="0">
                <a:solidFill>
                  <a:srgbClr val="292C78"/>
                </a:solidFill>
                <a:latin typeface="Arial" pitchFamily="34" charset="0"/>
                <a:cs typeface="Arial" pitchFamily="34" charset="0"/>
              </a:rPr>
              <a:t> December </a:t>
            </a:r>
            <a:r>
              <a:rPr lang="en-GB" sz="1400" b="0" i="0" dirty="0" smtClean="0">
                <a:solidFill>
                  <a:srgbClr val="292C78"/>
                </a:solidFill>
                <a:latin typeface="Arial" pitchFamily="34" charset="0"/>
                <a:cs typeface="Arial" pitchFamily="34" charset="0"/>
              </a:rPr>
              <a:t>2014, Berlin</a:t>
            </a:r>
            <a:endParaRPr lang="en-GB" sz="1400" b="0" i="0" dirty="0">
              <a:solidFill>
                <a:srgbClr val="292C78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7376" y="5791200"/>
            <a:ext cx="5494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292C7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793595-00F0-44BB-BB87-2843358A24D2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 descr="SWAT4LS-Logo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57200" y="6248400"/>
            <a:ext cx="1003788" cy="34115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4705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rgbClr val="292C78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28176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Ontologies</a:t>
            </a:r>
          </a:p>
          <a:p>
            <a:pPr lvl="1"/>
            <a:r>
              <a:rPr lang="en-US" sz="1800" dirty="0" smtClean="0"/>
              <a:t>A specification of a conceptualization (Gruber, 1993)</a:t>
            </a:r>
          </a:p>
          <a:p>
            <a:pPr lvl="1"/>
            <a:r>
              <a:rPr lang="en-US" sz="1800" dirty="0" smtClean="0"/>
              <a:t>Design: </a:t>
            </a:r>
          </a:p>
          <a:p>
            <a:pPr lvl="2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Subjective </a:t>
            </a:r>
          </a:p>
          <a:p>
            <a:pPr lvl="2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Depends on the purpose they serve, the aspect(s) they cover </a:t>
            </a:r>
          </a:p>
          <a:p>
            <a:r>
              <a:rPr lang="en-US" dirty="0" smtClean="0"/>
              <a:t>Ontologies Mismatches</a:t>
            </a:r>
          </a:p>
          <a:p>
            <a:pPr lvl="1"/>
            <a:r>
              <a:rPr lang="en-US" sz="1800" dirty="0"/>
              <a:t>Different Types:</a:t>
            </a:r>
          </a:p>
          <a:p>
            <a:pPr lvl="2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Conceptualization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(e.g.,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scope, granularity, coverage)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Explication (e.g., data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structure, paradigm)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smtClean="0"/>
              <a:t>Especially in the case of healthcare entities and their data sources:</a:t>
            </a:r>
          </a:p>
          <a:p>
            <a:pPr lvl="2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Different Classification Systems </a:t>
            </a:r>
          </a:p>
          <a:p>
            <a:pPr lvl="3"/>
            <a:r>
              <a:rPr lang="en-US" sz="1600" dirty="0" smtClean="0"/>
              <a:t>(e.g., vocabularies for laboratory examinations)</a:t>
            </a:r>
          </a:p>
          <a:p>
            <a:pPr lvl="2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Different Schemas</a:t>
            </a:r>
          </a:p>
          <a:p>
            <a:pPr lvl="3"/>
            <a:r>
              <a:rPr lang="en-US" sz="1600" dirty="0" smtClean="0"/>
              <a:t>(e.g., different parameters to represent hematological examination outcomes)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/>
          <p:cNvSpPr txBox="1"/>
          <p:nvPr/>
        </p:nvSpPr>
        <p:spPr>
          <a:xfrm>
            <a:off x="7696200" y="43434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Healthcare</a:t>
            </a:r>
          </a:p>
          <a:p>
            <a:pPr algn="ctr"/>
            <a:r>
              <a:rPr lang="en-US" b="1" dirty="0" smtClean="0"/>
              <a:t>Entity</a:t>
            </a:r>
            <a:endParaRPr lang="el-GR" b="1" dirty="0"/>
          </a:p>
        </p:txBody>
      </p:sp>
      <p:sp>
        <p:nvSpPr>
          <p:cNvPr id="56" name="Left-Right Arrow 28"/>
          <p:cNvSpPr>
            <a:spLocks noChangeArrowheads="1"/>
          </p:cNvSpPr>
          <p:nvPr/>
        </p:nvSpPr>
        <p:spPr bwMode="auto">
          <a:xfrm>
            <a:off x="3048000" y="3505200"/>
            <a:ext cx="1676400" cy="360362"/>
          </a:xfrm>
          <a:prstGeom prst="leftRightArrow">
            <a:avLst>
              <a:gd name="adj1" fmla="val 50000"/>
              <a:gd name="adj2" fmla="val 49959"/>
            </a:avLst>
          </a:prstGeom>
          <a:solidFill>
            <a:schemeClr val="accent6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sp>
        <p:nvSpPr>
          <p:cNvPr id="53" name="Up Arrow 27"/>
          <p:cNvSpPr>
            <a:spLocks noChangeArrowheads="1"/>
          </p:cNvSpPr>
          <p:nvPr/>
        </p:nvSpPr>
        <p:spPr bwMode="auto">
          <a:xfrm>
            <a:off x="3733800" y="4038600"/>
            <a:ext cx="423862" cy="914400"/>
          </a:xfrm>
          <a:prstGeom prst="upArrow">
            <a:avLst>
              <a:gd name="adj1" fmla="val 50000"/>
              <a:gd name="adj2" fmla="val 50029"/>
            </a:avLst>
          </a:prstGeom>
          <a:solidFill>
            <a:srgbClr val="F8A15A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sp>
        <p:nvSpPr>
          <p:cNvPr id="48" name="Up Arrow 27"/>
          <p:cNvSpPr>
            <a:spLocks noChangeArrowheads="1"/>
          </p:cNvSpPr>
          <p:nvPr/>
        </p:nvSpPr>
        <p:spPr bwMode="auto">
          <a:xfrm>
            <a:off x="3733800" y="2628000"/>
            <a:ext cx="423862" cy="762000"/>
          </a:xfrm>
          <a:prstGeom prst="upArrow">
            <a:avLst>
              <a:gd name="adj1" fmla="val 50000"/>
              <a:gd name="adj2" fmla="val 50029"/>
            </a:avLst>
          </a:prstGeom>
          <a:blipFill dpi="0" rotWithShape="1">
            <a:blip r:embed="rId2" cstate="print"/>
            <a:srcRect/>
            <a:tile tx="0" ty="0" sx="100000" sy="100000" flip="none" algn="tl"/>
          </a:blip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sp>
        <p:nvSpPr>
          <p:cNvPr id="44" name="Up Arrow 27"/>
          <p:cNvSpPr>
            <a:spLocks noChangeArrowheads="1"/>
          </p:cNvSpPr>
          <p:nvPr/>
        </p:nvSpPr>
        <p:spPr bwMode="auto">
          <a:xfrm>
            <a:off x="6248400" y="2628000"/>
            <a:ext cx="423862" cy="762000"/>
          </a:xfrm>
          <a:prstGeom prst="upArrow">
            <a:avLst>
              <a:gd name="adj1" fmla="val 50000"/>
              <a:gd name="adj2" fmla="val 50029"/>
            </a:avLst>
          </a:prstGeom>
          <a:blipFill dpi="0" rotWithShape="1">
            <a:blip r:embed="rId2" cstate="print"/>
            <a:srcRect/>
            <a:tile tx="0" ty="0" sx="100000" sy="100000" flip="none" algn="tl"/>
          </a:blip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cxnSp>
        <p:nvCxnSpPr>
          <p:cNvPr id="15" name="Straight Connector 14"/>
          <p:cNvCxnSpPr/>
          <p:nvPr/>
        </p:nvCxnSpPr>
        <p:spPr bwMode="auto">
          <a:xfrm rot="10800000">
            <a:off x="808037" y="3694112"/>
            <a:ext cx="75247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Right Arrow 39"/>
          <p:cNvSpPr/>
          <p:nvPr/>
        </p:nvSpPr>
        <p:spPr>
          <a:xfrm flipV="1">
            <a:off x="936000" y="3429000"/>
            <a:ext cx="1219200" cy="540000"/>
          </a:xfrm>
          <a:prstGeom prst="rightArrow">
            <a:avLst/>
          </a:prstGeom>
          <a:gradFill flip="none" rotWithShape="1">
            <a:gsLst>
              <a:gs pos="33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Ontology-based DB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Up Arrow 27"/>
          <p:cNvSpPr>
            <a:spLocks noChangeArrowheads="1"/>
          </p:cNvSpPr>
          <p:nvPr/>
        </p:nvSpPr>
        <p:spPr bwMode="auto">
          <a:xfrm>
            <a:off x="6248400" y="4038600"/>
            <a:ext cx="423862" cy="914400"/>
          </a:xfrm>
          <a:prstGeom prst="upArrow">
            <a:avLst>
              <a:gd name="adj1" fmla="val 50000"/>
              <a:gd name="adj2" fmla="val 50029"/>
            </a:avLst>
          </a:prstGeom>
          <a:solidFill>
            <a:schemeClr val="accent3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14400" y="1219200"/>
            <a:ext cx="7859713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n"/>
            </a:pPr>
            <a:endParaRPr lang="en-GB" sz="2400">
              <a:latin typeface="Arial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5667375" y="1641475"/>
            <a:ext cx="1620837" cy="971550"/>
          </a:xfrm>
          <a:prstGeom prst="roundRect">
            <a:avLst/>
          </a:prstGeom>
          <a:ln>
            <a:solidFill>
              <a:srgbClr val="292C7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rgbClr val="0070C0"/>
                </a:solidFill>
                <a:ea typeface="ＭＳ Ｐゴシック" pitchFamily="34" charset="-128"/>
              </a:rPr>
              <a:t>D2R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0070C0"/>
                </a:solidFill>
                <a:ea typeface="ＭＳ Ｐゴシック" pitchFamily="34" charset="-128"/>
              </a:rPr>
              <a:t>Server</a:t>
            </a:r>
            <a:endParaRPr lang="el-GR" sz="2400" b="1" dirty="0">
              <a:solidFill>
                <a:srgbClr val="0070C0"/>
              </a:solidFill>
              <a:ea typeface="ＭＳ Ｐゴシック" pitchFamily="34" charset="-128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103563" y="1641475"/>
            <a:ext cx="1620837" cy="971550"/>
          </a:xfrm>
          <a:prstGeom prst="roundRect">
            <a:avLst/>
          </a:prstGeom>
          <a:ln>
            <a:solidFill>
              <a:schemeClr val="accent6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ea typeface="ＭＳ Ｐゴシック" pitchFamily="34" charset="-128"/>
              </a:rPr>
              <a:t>Mediator</a:t>
            </a:r>
            <a:endParaRPr lang="el-GR" sz="2800" b="1" dirty="0">
              <a:solidFill>
                <a:schemeClr val="accent6">
                  <a:lumMod val="50000"/>
                </a:schemeClr>
              </a:solidFill>
              <a:ea typeface="ＭＳ Ｐゴシック" pitchFamily="34" charset="-128"/>
            </a:endParaRPr>
          </a:p>
        </p:txBody>
      </p:sp>
      <p:sp>
        <p:nvSpPr>
          <p:cNvPr id="12" name="Flowchart: Magnetic Disk 11"/>
          <p:cNvSpPr/>
          <p:nvPr/>
        </p:nvSpPr>
        <p:spPr bwMode="auto">
          <a:xfrm>
            <a:off x="7939087" y="3246438"/>
            <a:ext cx="900113" cy="792162"/>
          </a:xfrm>
          <a:prstGeom prst="flowChartMagneticDisk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70000">
                <a:schemeClr val="bg1"/>
              </a:gs>
            </a:gsLst>
            <a:lin ang="16200000" scaled="1"/>
            <a:tileRect/>
          </a:gra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400" b="1" dirty="0">
              <a:latin typeface="Arial" charset="0"/>
            </a:endParaRPr>
          </a:p>
          <a:p>
            <a:pPr algn="ctr">
              <a:defRPr/>
            </a:pPr>
            <a:r>
              <a:rPr lang="en-US" sz="1600" b="1" dirty="0" smtClean="0">
                <a:latin typeface="Arial" charset="0"/>
              </a:rPr>
              <a:t>DB</a:t>
            </a:r>
            <a:endParaRPr lang="el-GR" sz="1600" b="1" dirty="0">
              <a:latin typeface="Arial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5741988" y="4894262"/>
            <a:ext cx="1497012" cy="973138"/>
          </a:xfrm>
          <a:prstGeom prst="roundRect">
            <a:avLst/>
          </a:prstGeom>
          <a:ln>
            <a:solidFill>
              <a:srgbClr val="292C7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 smtClean="0">
                <a:solidFill>
                  <a:srgbClr val="0070C0"/>
                </a:solidFill>
                <a:ea typeface="ＭＳ Ｐゴシック" pitchFamily="34" charset="-128"/>
              </a:rPr>
              <a:t>D2RQ</a:t>
            </a:r>
          </a:p>
          <a:p>
            <a:pPr algn="ctr">
              <a:defRPr/>
            </a:pPr>
            <a:r>
              <a:rPr lang="en-US" sz="2000" b="1" dirty="0" smtClean="0">
                <a:solidFill>
                  <a:srgbClr val="0070C0"/>
                </a:solidFill>
                <a:ea typeface="ＭＳ Ｐゴシック" pitchFamily="34" charset="-128"/>
              </a:rPr>
              <a:t>Platform</a:t>
            </a:r>
            <a:endParaRPr lang="el-GR" b="1" dirty="0">
              <a:solidFill>
                <a:srgbClr val="0070C0"/>
              </a:solidFill>
              <a:ea typeface="ＭＳ Ｐゴシック" pitchFamily="34" charset="-128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3179762" y="4894262"/>
            <a:ext cx="1468438" cy="973138"/>
          </a:xfrm>
          <a:prstGeom prst="round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35000">
                <a:schemeClr val="accent6">
                  <a:lumMod val="40000"/>
                  <a:lumOff val="60000"/>
                </a:schemeClr>
              </a:gs>
              <a:gs pos="100000">
                <a:schemeClr val="bg1"/>
              </a:gs>
            </a:gsLst>
          </a:gradFill>
          <a:ln>
            <a:solidFill>
              <a:schemeClr val="accent6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ea typeface="ＭＳ Ｐゴシック" pitchFamily="34" charset="-128"/>
              </a:rPr>
              <a:t>Mapping</a:t>
            </a:r>
          </a:p>
          <a:p>
            <a:pPr algn="ctr">
              <a:defRPr/>
            </a:pP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ea typeface="ＭＳ Ｐゴシック" pitchFamily="34" charset="-128"/>
              </a:rPr>
              <a:t>Tool</a:t>
            </a:r>
            <a:endParaRPr lang="el-GR" b="1" dirty="0">
              <a:solidFill>
                <a:schemeClr val="accent6">
                  <a:lumMod val="50000"/>
                </a:schemeClr>
              </a:solidFill>
              <a:ea typeface="ＭＳ Ｐゴシック" pitchFamily="34" charset="-128"/>
            </a:endParaRP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3505200" y="3352800"/>
            <a:ext cx="838200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algn="ctr">
            <a:solidFill>
              <a:schemeClr val="accent6">
                <a:lumMod val="50000"/>
              </a:schemeClr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rial" charset="0"/>
              </a:rPr>
              <a:t>EDOAL</a:t>
            </a:r>
          </a:p>
          <a:p>
            <a:pPr algn="ctr"/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  <a:latin typeface="Arial" charset="0"/>
              </a:rPr>
              <a:t>File</a:t>
            </a:r>
            <a:endParaRPr lang="el-GR" sz="1100" dirty="0">
              <a:solidFill>
                <a:schemeClr val="accent6">
                  <a:lumMod val="50000"/>
                </a:schemeClr>
              </a:solidFill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163762" y="3225800"/>
            <a:ext cx="863600" cy="936625"/>
          </a:xfrm>
          <a:prstGeom prst="rect">
            <a:avLst/>
          </a:prstGeom>
          <a:gradFill flip="none" rotWithShape="1">
            <a:gsLst>
              <a:gs pos="0">
                <a:srgbClr val="85A7D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 w="25400" cap="flat" cmpd="sng" algn="ctr">
            <a:solidFill>
              <a:srgbClr val="292C7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6000" rIns="0" bIns="36000" anchor="ctr"/>
          <a:lstStyle/>
          <a:p>
            <a:pPr algn="ctr">
              <a:defRPr/>
            </a:pPr>
            <a:r>
              <a:rPr lang="en-US" sz="1600" dirty="0" smtClean="0">
                <a:latin typeface="Arial" charset="0"/>
              </a:rPr>
              <a:t>Global</a:t>
            </a:r>
            <a:endParaRPr lang="en-US" sz="1600" dirty="0">
              <a:latin typeface="Arial" charset="0"/>
            </a:endParaRPr>
          </a:p>
          <a:p>
            <a:pPr algn="ctr">
              <a:defRPr/>
            </a:pPr>
            <a:r>
              <a:rPr lang="en-US" sz="1600" dirty="0">
                <a:latin typeface="Arial" charset="0"/>
              </a:rPr>
              <a:t>EHR</a:t>
            </a:r>
          </a:p>
          <a:p>
            <a:pPr algn="ctr">
              <a:defRPr/>
            </a:pPr>
            <a:r>
              <a:rPr lang="en-US" sz="1200" i="1" dirty="0">
                <a:latin typeface="Arial" charset="0"/>
              </a:rPr>
              <a:t>Ontology</a:t>
            </a:r>
            <a:endParaRPr lang="el-GR" sz="1200" i="1" dirty="0">
              <a:latin typeface="Arial" charset="0"/>
            </a:endParaRPr>
          </a:p>
        </p:txBody>
      </p:sp>
      <p:sp>
        <p:nvSpPr>
          <p:cNvPr id="22" name="Left-Right Arrow 28"/>
          <p:cNvSpPr>
            <a:spLocks noChangeArrowheads="1"/>
          </p:cNvSpPr>
          <p:nvPr/>
        </p:nvSpPr>
        <p:spPr bwMode="auto">
          <a:xfrm>
            <a:off x="2209800" y="1965325"/>
            <a:ext cx="792163" cy="360362"/>
          </a:xfrm>
          <a:prstGeom prst="leftRightArrow">
            <a:avLst>
              <a:gd name="adj1" fmla="val 50000"/>
              <a:gd name="adj2" fmla="val 49959"/>
            </a:avLst>
          </a:prstGeom>
          <a:blipFill dpi="0" rotWithShape="1">
            <a:blip r:embed="rId3" cstate="print"/>
            <a:srcRect/>
            <a:tile tx="0" ty="0" sx="100000" sy="100000" flip="none" algn="tl"/>
          </a:blip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sp>
        <p:nvSpPr>
          <p:cNvPr id="23" name="Left-Right Arrow 30"/>
          <p:cNvSpPr>
            <a:spLocks noChangeArrowheads="1"/>
          </p:cNvSpPr>
          <p:nvPr/>
        </p:nvSpPr>
        <p:spPr bwMode="auto">
          <a:xfrm>
            <a:off x="4764087" y="1965325"/>
            <a:ext cx="874713" cy="360362"/>
          </a:xfrm>
          <a:prstGeom prst="leftRightArrow">
            <a:avLst>
              <a:gd name="adj1" fmla="val 50000"/>
              <a:gd name="adj2" fmla="val 49959"/>
            </a:avLst>
          </a:prstGeom>
          <a:blipFill dpi="0" rotWithShape="1">
            <a:blip r:embed="rId3" cstate="print"/>
            <a:srcRect/>
            <a:tile tx="0" ty="0" sx="100000" sy="100000" flip="none" algn="tl"/>
          </a:blip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sp>
        <p:nvSpPr>
          <p:cNvPr id="25" name="Rectangle 24"/>
          <p:cNvSpPr/>
          <p:nvPr/>
        </p:nvSpPr>
        <p:spPr bwMode="auto">
          <a:xfrm>
            <a:off x="7251700" y="3189287"/>
            <a:ext cx="865187" cy="936625"/>
          </a:xfrm>
          <a:prstGeom prst="rect">
            <a:avLst/>
          </a:prstGeom>
          <a:gradFill flip="none" rotWithShape="1">
            <a:gsLst>
              <a:gs pos="33000">
                <a:schemeClr val="bg1">
                  <a:lumMod val="65000"/>
                  <a:alpha val="90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1"/>
            <a:tileRect/>
          </a:gra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6000" rIns="0" bIns="36000" anchor="ctr"/>
          <a:lstStyle/>
          <a:p>
            <a:pPr algn="ctr">
              <a:defRPr/>
            </a:pPr>
            <a:r>
              <a:rPr lang="en-US" sz="1200" dirty="0" err="1" smtClean="0">
                <a:latin typeface="Arial" charset="0"/>
              </a:rPr>
              <a:t>HealthEntity</a:t>
            </a:r>
            <a:endParaRPr lang="en-US" sz="1100" dirty="0">
              <a:latin typeface="Arial" charset="0"/>
            </a:endParaRPr>
          </a:p>
          <a:p>
            <a:pPr algn="ctr">
              <a:defRPr/>
            </a:pPr>
            <a:r>
              <a:rPr lang="en-US" sz="1600" dirty="0" smtClean="0">
                <a:latin typeface="Arial" charset="0"/>
              </a:rPr>
              <a:t>EHR</a:t>
            </a:r>
          </a:p>
          <a:p>
            <a:pPr algn="ctr">
              <a:defRPr/>
            </a:pPr>
            <a:r>
              <a:rPr lang="en-US" sz="1200" i="1" dirty="0" smtClean="0">
                <a:latin typeface="Arial" charset="0"/>
              </a:rPr>
              <a:t>Schema</a:t>
            </a:r>
            <a:endParaRPr lang="el-GR" sz="1200" i="1" dirty="0">
              <a:latin typeface="Arial" charset="0"/>
            </a:endParaRPr>
          </a:p>
        </p:txBody>
      </p:sp>
      <p:cxnSp>
        <p:nvCxnSpPr>
          <p:cNvPr id="26" name="Straight Connector 25"/>
          <p:cNvCxnSpPr>
            <a:stCxn id="22" idx="5"/>
            <a:endCxn id="20" idx="0"/>
          </p:cNvCxnSpPr>
          <p:nvPr/>
        </p:nvCxnSpPr>
        <p:spPr bwMode="auto">
          <a:xfrm flipH="1">
            <a:off x="2595562" y="2235597"/>
            <a:ext cx="10320" cy="99020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rot="5400000">
            <a:off x="4704556" y="2731294"/>
            <a:ext cx="95408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3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 rot="5400000">
            <a:off x="7206456" y="2694781"/>
            <a:ext cx="95408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Elbow Connector 40"/>
          <p:cNvCxnSpPr>
            <a:stCxn id="25" idx="2"/>
            <a:endCxn id="13" idx="3"/>
          </p:cNvCxnSpPr>
          <p:nvPr/>
        </p:nvCxnSpPr>
        <p:spPr bwMode="auto">
          <a:xfrm rot="5400000">
            <a:off x="6834188" y="4530724"/>
            <a:ext cx="1254919" cy="445294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Elbow Connector 40"/>
          <p:cNvCxnSpPr>
            <a:stCxn id="13" idx="1"/>
          </p:cNvCxnSpPr>
          <p:nvPr/>
        </p:nvCxnSpPr>
        <p:spPr bwMode="auto">
          <a:xfrm rot="10800000">
            <a:off x="5257800" y="4191001"/>
            <a:ext cx="484188" cy="1189831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Elbow Connector 40"/>
          <p:cNvCxnSpPr>
            <a:stCxn id="21" idx="2"/>
            <a:endCxn id="14" idx="3"/>
          </p:cNvCxnSpPr>
          <p:nvPr/>
        </p:nvCxnSpPr>
        <p:spPr bwMode="auto">
          <a:xfrm rot="5400000">
            <a:off x="4294585" y="4516041"/>
            <a:ext cx="1218406" cy="511175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Elbow Connector 40"/>
          <p:cNvCxnSpPr>
            <a:stCxn id="20" idx="2"/>
            <a:endCxn id="14" idx="1"/>
          </p:cNvCxnSpPr>
          <p:nvPr/>
        </p:nvCxnSpPr>
        <p:spPr bwMode="auto">
          <a:xfrm rot="16200000" flipH="1">
            <a:off x="2278459" y="4479528"/>
            <a:ext cx="1218406" cy="58420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TextBox 68"/>
          <p:cNvSpPr txBox="1">
            <a:spLocks noChangeArrowheads="1"/>
          </p:cNvSpPr>
          <p:nvPr/>
        </p:nvSpPr>
        <p:spPr bwMode="auto">
          <a:xfrm>
            <a:off x="4727575" y="1590675"/>
            <a:ext cx="9366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i="1" dirty="0"/>
              <a:t>SPARQL</a:t>
            </a:r>
            <a:endParaRPr lang="el-GR" sz="1600" i="1" dirty="0"/>
          </a:p>
        </p:txBody>
      </p:sp>
      <p:sp>
        <p:nvSpPr>
          <p:cNvPr id="34" name="TextBox 69"/>
          <p:cNvSpPr txBox="1">
            <a:spLocks noChangeArrowheads="1"/>
          </p:cNvSpPr>
          <p:nvPr/>
        </p:nvSpPr>
        <p:spPr bwMode="auto">
          <a:xfrm>
            <a:off x="2209800" y="1604962"/>
            <a:ext cx="93503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i="1" dirty="0"/>
              <a:t>SPARQL</a:t>
            </a:r>
            <a:endParaRPr lang="el-GR" sz="1600" i="1" dirty="0"/>
          </a:p>
        </p:txBody>
      </p:sp>
      <p:sp>
        <p:nvSpPr>
          <p:cNvPr id="35" name="TextBox 70"/>
          <p:cNvSpPr txBox="1">
            <a:spLocks noChangeArrowheads="1"/>
          </p:cNvSpPr>
          <p:nvPr/>
        </p:nvSpPr>
        <p:spPr bwMode="auto">
          <a:xfrm>
            <a:off x="7445375" y="1570037"/>
            <a:ext cx="9366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i="1" dirty="0"/>
              <a:t>SQL</a:t>
            </a:r>
            <a:endParaRPr lang="el-GR" sz="1600" i="1" dirty="0"/>
          </a:p>
        </p:txBody>
      </p:sp>
      <p:sp>
        <p:nvSpPr>
          <p:cNvPr id="39" name="Cloud 38"/>
          <p:cNvSpPr/>
          <p:nvPr/>
        </p:nvSpPr>
        <p:spPr>
          <a:xfrm>
            <a:off x="304800" y="3124200"/>
            <a:ext cx="1371600" cy="11430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Domain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5" name="Picture 44" descr="use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39837" y="1641475"/>
            <a:ext cx="787197" cy="787197"/>
          </a:xfrm>
          <a:prstGeom prst="rect">
            <a:avLst/>
          </a:prstGeom>
        </p:spPr>
      </p:pic>
      <p:sp>
        <p:nvSpPr>
          <p:cNvPr id="46" name="TextBox 69"/>
          <p:cNvSpPr txBox="1">
            <a:spLocks noChangeArrowheads="1"/>
          </p:cNvSpPr>
          <p:nvPr/>
        </p:nvSpPr>
        <p:spPr bwMode="auto">
          <a:xfrm>
            <a:off x="914400" y="2403475"/>
            <a:ext cx="14684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 smtClean="0"/>
              <a:t>User / System</a:t>
            </a:r>
            <a:endParaRPr lang="el-GR" sz="16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5562600" y="4262735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Syntactic</a:t>
            </a:r>
          </a:p>
          <a:p>
            <a:pPr algn="ctr"/>
            <a:r>
              <a:rPr lang="en-US" sz="1200" dirty="0" smtClean="0"/>
              <a:t>Heterogeneity</a:t>
            </a:r>
            <a:endParaRPr lang="el-GR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3048000" y="42672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Structural &amp; Semantic</a:t>
            </a:r>
          </a:p>
          <a:p>
            <a:pPr algn="ctr"/>
            <a:r>
              <a:rPr lang="en-US" sz="1200" dirty="0" smtClean="0"/>
              <a:t>Heterogeneity</a:t>
            </a:r>
            <a:endParaRPr lang="el-GR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3048000" y="2814935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Query &amp; Results</a:t>
            </a:r>
          </a:p>
          <a:p>
            <a:pPr algn="ctr"/>
            <a:r>
              <a:rPr lang="en-US" sz="1200" dirty="0" smtClean="0"/>
              <a:t>Rewriting</a:t>
            </a:r>
            <a:endParaRPr lang="el-GR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5638800" y="2923401"/>
            <a:ext cx="1752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Query Translation</a:t>
            </a:r>
            <a:endParaRPr lang="el-GR" sz="1200" dirty="0"/>
          </a:p>
        </p:txBody>
      </p:sp>
      <p:sp>
        <p:nvSpPr>
          <p:cNvPr id="67" name="Left-Up Arrow 66"/>
          <p:cNvSpPr/>
          <p:nvPr/>
        </p:nvSpPr>
        <p:spPr>
          <a:xfrm rot="16200000">
            <a:off x="7200900" y="2019300"/>
            <a:ext cx="1524000" cy="1295400"/>
          </a:xfrm>
          <a:prstGeom prst="leftUpArrow">
            <a:avLst>
              <a:gd name="adj1" fmla="val 14167"/>
              <a:gd name="adj2" fmla="val 16320"/>
              <a:gd name="adj3" fmla="val 14584"/>
            </a:avLst>
          </a:prstGeom>
          <a:blipFill>
            <a:blip r:embed="rId3" cstate="print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5" name="Left-Right Arrow 28"/>
          <p:cNvSpPr>
            <a:spLocks noChangeArrowheads="1"/>
          </p:cNvSpPr>
          <p:nvPr/>
        </p:nvSpPr>
        <p:spPr bwMode="auto">
          <a:xfrm>
            <a:off x="5562600" y="3525838"/>
            <a:ext cx="1676400" cy="360362"/>
          </a:xfrm>
          <a:prstGeom prst="leftRightArrow">
            <a:avLst>
              <a:gd name="adj1" fmla="val 50000"/>
              <a:gd name="adj2" fmla="val 49959"/>
            </a:avLst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l-GR"/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6019800" y="3387969"/>
            <a:ext cx="822325" cy="6506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292C78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en-US" sz="1600" b="1" dirty="0">
                <a:solidFill>
                  <a:srgbClr val="292C78"/>
                </a:solidFill>
                <a:latin typeface="Arial" charset="0"/>
              </a:rPr>
              <a:t>D2RQ</a:t>
            </a:r>
          </a:p>
          <a:p>
            <a:pPr algn="ctr"/>
            <a:r>
              <a:rPr lang="en-US" sz="1200" dirty="0" smtClean="0">
                <a:solidFill>
                  <a:srgbClr val="292C78"/>
                </a:solidFill>
                <a:latin typeface="Arial" charset="0"/>
              </a:rPr>
              <a:t>File</a:t>
            </a:r>
            <a:endParaRPr lang="el-GR" sz="1100" dirty="0">
              <a:solidFill>
                <a:srgbClr val="292C78"/>
              </a:solidFill>
              <a:latin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727575" y="3225800"/>
            <a:ext cx="863600" cy="936625"/>
          </a:xfrm>
          <a:prstGeom prst="rect">
            <a:avLst/>
          </a:prstGeom>
          <a:gradFill flip="none" rotWithShape="1">
            <a:gsLst>
              <a:gs pos="0">
                <a:srgbClr val="73B054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6200000" scaled="1"/>
            <a:tileRect/>
          </a:gradFill>
          <a:ln w="254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6000" rIns="0" bIns="36000" anchor="ctr"/>
          <a:lstStyle/>
          <a:p>
            <a:pPr algn="ctr">
              <a:defRPr/>
            </a:pPr>
            <a:r>
              <a:rPr lang="en-US" sz="1600" dirty="0" smtClean="0">
                <a:latin typeface="Arial" charset="0"/>
              </a:rPr>
              <a:t>Local</a:t>
            </a:r>
            <a:endParaRPr lang="en-US" sz="1600" dirty="0">
              <a:latin typeface="Arial" charset="0"/>
            </a:endParaRPr>
          </a:p>
          <a:p>
            <a:pPr algn="ctr">
              <a:defRPr/>
            </a:pPr>
            <a:r>
              <a:rPr lang="en-US" sz="1600" dirty="0">
                <a:latin typeface="Arial" charset="0"/>
              </a:rPr>
              <a:t>EHR</a:t>
            </a:r>
          </a:p>
          <a:p>
            <a:pPr algn="ctr">
              <a:defRPr/>
            </a:pPr>
            <a:r>
              <a:rPr lang="en-US" sz="1200" i="1" dirty="0">
                <a:latin typeface="Arial" charset="0"/>
              </a:rPr>
              <a:t>Ontology</a:t>
            </a:r>
            <a:endParaRPr lang="el-GR" sz="1200" i="1" dirty="0">
              <a:latin typeface="Arial" charset="0"/>
            </a:endParaRPr>
          </a:p>
        </p:txBody>
      </p:sp>
      <p:sp>
        <p:nvSpPr>
          <p:cNvPr id="72" name="Left-Right Arrow 71"/>
          <p:cNvSpPr/>
          <p:nvPr/>
        </p:nvSpPr>
        <p:spPr>
          <a:xfrm>
            <a:off x="2133600" y="1962000"/>
            <a:ext cx="914400" cy="381000"/>
          </a:xfrm>
          <a:prstGeom prst="leftRight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35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3" name="Left-Right Arrow 72"/>
          <p:cNvSpPr/>
          <p:nvPr/>
        </p:nvSpPr>
        <p:spPr>
          <a:xfrm>
            <a:off x="4752000" y="1962000"/>
            <a:ext cx="914400" cy="381000"/>
          </a:xfrm>
          <a:prstGeom prst="leftRightArrow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4" name="TextBox 70"/>
          <p:cNvSpPr txBox="1">
            <a:spLocks noChangeArrowheads="1"/>
          </p:cNvSpPr>
          <p:nvPr/>
        </p:nvSpPr>
        <p:spPr bwMode="auto">
          <a:xfrm>
            <a:off x="7391400" y="2328446"/>
            <a:ext cx="9366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i="1" dirty="0" smtClean="0"/>
              <a:t>Tuples</a:t>
            </a:r>
            <a:endParaRPr lang="el-GR" sz="1600" i="1" dirty="0"/>
          </a:p>
        </p:txBody>
      </p:sp>
      <p:sp>
        <p:nvSpPr>
          <p:cNvPr id="75" name="TextBox 70"/>
          <p:cNvSpPr txBox="1">
            <a:spLocks noChangeArrowheads="1"/>
          </p:cNvSpPr>
          <p:nvPr/>
        </p:nvSpPr>
        <p:spPr bwMode="auto">
          <a:xfrm>
            <a:off x="4702175" y="2328446"/>
            <a:ext cx="10128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i="1" dirty="0" smtClean="0"/>
              <a:t>XML/RDF</a:t>
            </a:r>
            <a:endParaRPr lang="el-GR" sz="1600" i="1" dirty="0"/>
          </a:p>
        </p:txBody>
      </p:sp>
      <p:sp>
        <p:nvSpPr>
          <p:cNvPr id="76" name="TextBox 70"/>
          <p:cNvSpPr txBox="1">
            <a:spLocks noChangeArrowheads="1"/>
          </p:cNvSpPr>
          <p:nvPr/>
        </p:nvSpPr>
        <p:spPr bwMode="auto">
          <a:xfrm>
            <a:off x="2187575" y="2328446"/>
            <a:ext cx="10128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i="1" dirty="0" smtClean="0"/>
              <a:t>XML/RDF</a:t>
            </a:r>
            <a:endParaRPr lang="el-GR" sz="1600" i="1" dirty="0"/>
          </a:p>
        </p:txBody>
      </p:sp>
      <p:sp>
        <p:nvSpPr>
          <p:cNvPr id="77" name="Oval 76"/>
          <p:cNvSpPr/>
          <p:nvPr/>
        </p:nvSpPr>
        <p:spPr>
          <a:xfrm>
            <a:off x="2362200" y="4572000"/>
            <a:ext cx="3048000" cy="160020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78" name="Picture 77" descr="OntologyAlignmentTool-Logo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28999" y="4896000"/>
            <a:ext cx="997527" cy="9144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0" y="1260000"/>
            <a:ext cx="9144000" cy="1905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0" name="Rectangle 79"/>
          <p:cNvSpPr/>
          <p:nvPr/>
        </p:nvSpPr>
        <p:spPr>
          <a:xfrm>
            <a:off x="5638800" y="2971800"/>
            <a:ext cx="3505200" cy="304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1" name="Rectangle 80"/>
          <p:cNvSpPr/>
          <p:nvPr/>
        </p:nvSpPr>
        <p:spPr>
          <a:xfrm>
            <a:off x="0" y="2895600"/>
            <a:ext cx="2133600" cy="24384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3" grpId="0" animBg="1"/>
      <p:bldP spid="48" grpId="0" animBg="1"/>
      <p:bldP spid="44" grpId="0" animBg="1"/>
      <p:bldP spid="40" grpId="0" animBg="1"/>
      <p:bldP spid="6" grpId="0" animBg="1"/>
      <p:bldP spid="9" grpId="0" animBg="1"/>
      <p:bldP spid="10" grpId="0" animBg="1"/>
      <p:bldP spid="13" grpId="0" animBg="1"/>
      <p:bldP spid="14" grpId="0" animBg="1"/>
      <p:bldP spid="18" grpId="0" animBg="1"/>
      <p:bldP spid="20" grpId="0" animBg="1"/>
      <p:bldP spid="22" grpId="0" animBg="1"/>
      <p:bldP spid="23" grpId="0" animBg="1"/>
      <p:bldP spid="25" grpId="0" animBg="1"/>
      <p:bldP spid="33" grpId="0"/>
      <p:bldP spid="34" grpId="0"/>
      <p:bldP spid="35" grpId="0"/>
      <p:bldP spid="47" grpId="0"/>
      <p:bldP spid="49" grpId="0"/>
      <p:bldP spid="57" grpId="0"/>
      <p:bldP spid="58" grpId="0"/>
      <p:bldP spid="67" grpId="0" animBg="1"/>
      <p:bldP spid="55" grpId="0" animBg="1"/>
      <p:bldP spid="19" grpId="0" animBg="1"/>
      <p:bldP spid="21" grpId="0" animBg="1"/>
      <p:bldP spid="72" grpId="0" animBg="1"/>
      <p:bldP spid="72" grpId="1" animBg="1"/>
      <p:bldP spid="73" grpId="0" animBg="1"/>
      <p:bldP spid="73" grpId="1" animBg="1"/>
      <p:bldP spid="74" grpId="0"/>
      <p:bldP spid="75" grpId="0"/>
      <p:bldP spid="76" grpId="0"/>
      <p:bldP spid="77" grpId="0" animBg="1"/>
      <p:bldP spid="79" grpId="0" animBg="1"/>
      <p:bldP spid="80" grpId="0" animBg="1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Mapping Rules &amp; Ontology Patterns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Mapping Rule Data</a:t>
            </a:r>
          </a:p>
          <a:p>
            <a:pPr lvl="1"/>
            <a:r>
              <a:rPr lang="en-US" sz="1800" dirty="0" smtClean="0"/>
              <a:t>Entities 1 and 2 </a:t>
            </a:r>
            <a:r>
              <a:rPr lang="en-US" sz="1800" dirty="0" smtClean="0">
                <a:sym typeface="Wingdings" pitchFamily="2" charset="2"/>
              </a:rPr>
              <a:t> Ontology Pattern Instances</a:t>
            </a:r>
            <a:endParaRPr lang="en-US" sz="1800" dirty="0" smtClean="0"/>
          </a:p>
          <a:p>
            <a:pPr lvl="2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An existing element (e.g., an OWL class)</a:t>
            </a:r>
          </a:p>
          <a:p>
            <a:pPr lvl="2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An element with narrower meaning (e.g., a Property with Restricted Domain) </a:t>
            </a:r>
          </a:p>
          <a:p>
            <a:pPr lvl="2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 combinations of existing elements (e.g., union of OWL classes)</a:t>
            </a:r>
            <a:endParaRPr lang="en-US" sz="1700" dirty="0"/>
          </a:p>
          <a:p>
            <a:pPr lvl="1"/>
            <a:r>
              <a:rPr lang="en-US" sz="1800" dirty="0"/>
              <a:t>Relation  (e.g., Equivalent Terms</a:t>
            </a:r>
            <a:r>
              <a:rPr lang="en-US" sz="1800" dirty="0" smtClean="0"/>
              <a:t>)</a:t>
            </a:r>
          </a:p>
          <a:p>
            <a:pPr lvl="1"/>
            <a:r>
              <a:rPr lang="en-US" sz="1800" dirty="0" smtClean="0"/>
              <a:t>Data Transformation (if required)</a:t>
            </a:r>
            <a:endParaRPr lang="en-US" sz="1800" dirty="0"/>
          </a:p>
          <a:p>
            <a:pPr lvl="1"/>
            <a:r>
              <a:rPr lang="en-US" sz="1800" dirty="0"/>
              <a:t>Direction (e.g., From Ontology 1 to Ontology 2</a:t>
            </a:r>
            <a:r>
              <a:rPr lang="en-US" sz="1800" dirty="0" smtClean="0"/>
              <a:t>)</a:t>
            </a:r>
          </a:p>
          <a:p>
            <a:pPr lvl="1">
              <a:buNone/>
            </a:pPr>
            <a:endParaRPr lang="en-US" sz="600" dirty="0"/>
          </a:p>
          <a:p>
            <a:r>
              <a:rPr lang="en-US" dirty="0"/>
              <a:t>Mapping Rule Metadata</a:t>
            </a:r>
          </a:p>
          <a:p>
            <a:pPr lvl="1"/>
            <a:r>
              <a:rPr lang="en-US" sz="1800" dirty="0" smtClean="0"/>
              <a:t>Origin ( Manually / Automatically )</a:t>
            </a:r>
          </a:p>
          <a:p>
            <a:pPr lvl="1"/>
            <a:r>
              <a:rPr lang="en-US" sz="1800" dirty="0" smtClean="0"/>
              <a:t>Confidence Value</a:t>
            </a:r>
          </a:p>
          <a:p>
            <a:pPr lvl="1"/>
            <a:r>
              <a:rPr lang="en-US" sz="1800" dirty="0" smtClean="0"/>
              <a:t>Comments</a:t>
            </a:r>
            <a:endParaRPr lang="el-GR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Functionality provided by OAT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750" y="1447800"/>
            <a:ext cx="8572500" cy="42386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4800" y="1905000"/>
            <a:ext cx="1828800" cy="3733800"/>
          </a:xfrm>
          <a:prstGeom prst="round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LOAD</a:t>
            </a:r>
          </a:p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ONTOLOGY</a:t>
            </a:r>
          </a:p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086600" y="1905000"/>
            <a:ext cx="1828800" cy="3733800"/>
          </a:xfrm>
          <a:prstGeom prst="round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LOAD</a:t>
            </a:r>
          </a:p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ONTOLOGY</a:t>
            </a:r>
          </a:p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362200" y="1905000"/>
            <a:ext cx="4495800" cy="3733800"/>
          </a:xfrm>
          <a:prstGeom prst="roundRect">
            <a:avLst/>
          </a:prstGeom>
          <a:solidFill>
            <a:schemeClr val="accent3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514600" y="2438400"/>
            <a:ext cx="441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Explore Ontological Elements</a:t>
            </a:r>
          </a:p>
          <a:p>
            <a:endParaRPr lang="en-US" sz="2400" b="1" dirty="0" smtClean="0">
              <a:solidFill>
                <a:srgbClr val="C00000"/>
              </a:solidFill>
            </a:endParaRPr>
          </a:p>
          <a:p>
            <a:r>
              <a:rPr lang="en-US" sz="2400" b="1" dirty="0" smtClean="0">
                <a:solidFill>
                  <a:srgbClr val="C00000"/>
                </a:solidFill>
              </a:rPr>
              <a:t>Handle Candidate Mapping Rules</a:t>
            </a:r>
          </a:p>
          <a:p>
            <a:endParaRPr lang="en-US" sz="2400" b="1" dirty="0" smtClean="0">
              <a:solidFill>
                <a:srgbClr val="C00000"/>
              </a:solidFill>
            </a:endParaRPr>
          </a:p>
          <a:p>
            <a:r>
              <a:rPr lang="en-US" sz="2400" b="1" dirty="0" smtClean="0">
                <a:solidFill>
                  <a:srgbClr val="C00000"/>
                </a:solidFill>
              </a:rPr>
              <a:t>Specify Mapping Rules missing</a:t>
            </a:r>
          </a:p>
          <a:p>
            <a:endParaRPr lang="en-US" sz="2400" b="1" dirty="0" smtClean="0">
              <a:solidFill>
                <a:srgbClr val="C00000"/>
              </a:solidFill>
            </a:endParaRPr>
          </a:p>
          <a:p>
            <a:r>
              <a:rPr lang="en-US" sz="2400" b="1" dirty="0" smtClean="0">
                <a:solidFill>
                  <a:srgbClr val="C00000"/>
                </a:solidFill>
              </a:rPr>
              <a:t>Save/Export Mapping Rules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/>
          <p:cNvCxnSpPr/>
          <p:nvPr/>
        </p:nvCxnSpPr>
        <p:spPr>
          <a:xfrm>
            <a:off x="3276600" y="1371600"/>
            <a:ext cx="0" cy="4419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lIns="457200"/>
          <a:lstStyle/>
          <a:p>
            <a:fld id="{FE497F38-0DD0-4BD7-9C28-C987D09CBAE7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609600" y="1904999"/>
            <a:ext cx="1143000" cy="3962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292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Web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Interface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00600" y="1904999"/>
            <a:ext cx="1219200" cy="3962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Requests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Handler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2400" b="1" dirty="0" smtClean="0">
              <a:solidFill>
                <a:schemeClr val="tx1"/>
              </a:solidFill>
            </a:endParaRPr>
          </a:p>
          <a:p>
            <a:pPr algn="ct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34200" y="1904999"/>
            <a:ext cx="1524000" cy="1524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Ontologies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Handler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34200" y="4343399"/>
            <a:ext cx="1524000" cy="1524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Mappings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Handler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OntologyAlignmentTool-Logo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4571999"/>
            <a:ext cx="685800" cy="685800"/>
          </a:xfrm>
          <a:prstGeom prst="rect">
            <a:avLst/>
          </a:prstGeom>
        </p:spPr>
      </p:pic>
      <p:pic>
        <p:nvPicPr>
          <p:cNvPr id="11" name="Picture 10" descr="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6750" y="3581399"/>
            <a:ext cx="1009650" cy="880216"/>
          </a:xfrm>
          <a:prstGeom prst="rect">
            <a:avLst/>
          </a:prstGeom>
        </p:spPr>
      </p:pic>
      <p:pic>
        <p:nvPicPr>
          <p:cNvPr id="12" name="Picture 11" descr="120px-Icon-webserver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953000" y="4114799"/>
            <a:ext cx="914400" cy="1447800"/>
          </a:xfrm>
          <a:prstGeom prst="rect">
            <a:avLst/>
          </a:prstGeom>
        </p:spPr>
      </p:pic>
      <p:sp>
        <p:nvSpPr>
          <p:cNvPr id="13" name="Up-Down Arrow 12"/>
          <p:cNvSpPr/>
          <p:nvPr/>
        </p:nvSpPr>
        <p:spPr>
          <a:xfrm>
            <a:off x="7467600" y="3428999"/>
            <a:ext cx="457200" cy="914400"/>
          </a:xfrm>
          <a:prstGeom prst="up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-Down Arrow 13"/>
          <p:cNvSpPr/>
          <p:nvPr/>
        </p:nvSpPr>
        <p:spPr>
          <a:xfrm rot="5400000">
            <a:off x="6172200" y="2285999"/>
            <a:ext cx="609600" cy="914400"/>
          </a:xfrm>
          <a:prstGeom prst="upDownArrow">
            <a:avLst>
              <a:gd name="adj1" fmla="val 51236"/>
              <a:gd name="adj2" fmla="val 31597"/>
            </a:avLst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-Right Arrow 15"/>
          <p:cNvSpPr/>
          <p:nvPr/>
        </p:nvSpPr>
        <p:spPr>
          <a:xfrm>
            <a:off x="1752600" y="2133599"/>
            <a:ext cx="3048000" cy="533400"/>
          </a:xfrm>
          <a:prstGeom prst="leftRightArrow">
            <a:avLst/>
          </a:prstGeom>
          <a:solidFill>
            <a:schemeClr val="bg2"/>
          </a:solidFill>
          <a:ln w="6350" cap="rnd" cmpd="sng">
            <a:solidFill>
              <a:schemeClr val="bg2">
                <a:lumMod val="50000"/>
              </a:schemeClr>
            </a:solidFill>
            <a:beve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0" rIns="0" bIns="0"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Upload Ontologies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Left-Right Arrow 16"/>
          <p:cNvSpPr/>
          <p:nvPr/>
        </p:nvSpPr>
        <p:spPr>
          <a:xfrm>
            <a:off x="1752600" y="2666999"/>
            <a:ext cx="3048000" cy="533400"/>
          </a:xfrm>
          <a:prstGeom prst="leftRightArrow">
            <a:avLst/>
          </a:prstGeom>
          <a:solidFill>
            <a:schemeClr val="bg2"/>
          </a:solidFill>
          <a:ln w="6350" cap="rnd" cmpd="sng">
            <a:solidFill>
              <a:schemeClr val="bg2">
                <a:lumMod val="50000"/>
              </a:schemeClr>
            </a:solidFill>
            <a:beve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0" rIns="0" bIns="0"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 Available Terms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Left-Right Arrow 17"/>
          <p:cNvSpPr/>
          <p:nvPr/>
        </p:nvSpPr>
        <p:spPr>
          <a:xfrm>
            <a:off x="1752600" y="3200399"/>
            <a:ext cx="3048000" cy="533400"/>
          </a:xfrm>
          <a:prstGeom prst="leftRightArrow">
            <a:avLst/>
          </a:prstGeom>
          <a:solidFill>
            <a:schemeClr val="bg2"/>
          </a:solidFill>
          <a:ln w="6350" cap="rnd" cmpd="sng">
            <a:solidFill>
              <a:schemeClr val="bg2">
                <a:lumMod val="50000"/>
              </a:schemeClr>
            </a:solidFill>
            <a:beve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0" rIns="0" bIns="0"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 Element Definition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Left-Right Arrow 18"/>
          <p:cNvSpPr/>
          <p:nvPr/>
        </p:nvSpPr>
        <p:spPr>
          <a:xfrm>
            <a:off x="1752600" y="3809999"/>
            <a:ext cx="3048000" cy="60960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  <a:ln w="6350" cap="rnd" cmpd="sng">
            <a:solidFill>
              <a:schemeClr val="tx2"/>
            </a:solidFill>
            <a:beve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0" rIns="0" bIns="0"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 Suggestions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Left-Right Arrow 19"/>
          <p:cNvSpPr/>
          <p:nvPr/>
        </p:nvSpPr>
        <p:spPr>
          <a:xfrm>
            <a:off x="1752600" y="4495799"/>
            <a:ext cx="3048000" cy="53340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6350" cap="rnd" cmpd="sng">
            <a:solidFill>
              <a:schemeClr val="accent6">
                <a:lumMod val="50000"/>
              </a:schemeClr>
            </a:solidFill>
            <a:beve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0" rIns="0" bIns="0"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Upload Mappings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Left-Right Arrow 20"/>
          <p:cNvSpPr/>
          <p:nvPr/>
        </p:nvSpPr>
        <p:spPr>
          <a:xfrm>
            <a:off x="1752600" y="5029199"/>
            <a:ext cx="3048000" cy="53340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  <a:ln w="6350" cap="rnd" cmpd="sng">
            <a:solidFill>
              <a:schemeClr val="accent6">
                <a:lumMod val="50000"/>
              </a:schemeClr>
            </a:solidFill>
            <a:beve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0" rIns="0" bIns="0"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Export Mappings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Up-Down Arrow 22"/>
          <p:cNvSpPr/>
          <p:nvPr/>
        </p:nvSpPr>
        <p:spPr>
          <a:xfrm rot="5400000">
            <a:off x="6172200" y="4648199"/>
            <a:ext cx="609600" cy="914400"/>
          </a:xfrm>
          <a:prstGeom prst="upDownArrow">
            <a:avLst>
              <a:gd name="adj1" fmla="val 51236"/>
              <a:gd name="adj2" fmla="val 31597"/>
            </a:avLst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19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33400" y="1295400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spc="200" dirty="0" smtClean="0"/>
              <a:t>Client Side</a:t>
            </a:r>
            <a:endParaRPr lang="el-GR" sz="2000" cap="small" spc="200" dirty="0"/>
          </a:p>
        </p:txBody>
      </p:sp>
      <p:sp>
        <p:nvSpPr>
          <p:cNvPr id="26" name="TextBox 25"/>
          <p:cNvSpPr txBox="1"/>
          <p:nvPr/>
        </p:nvSpPr>
        <p:spPr>
          <a:xfrm>
            <a:off x="4724400" y="1295400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spc="200" dirty="0" smtClean="0"/>
              <a:t>Server Side</a:t>
            </a:r>
            <a:endParaRPr lang="el-GR" sz="2000" cap="small" spc="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/>
          <p:cNvCxnSpPr/>
          <p:nvPr/>
        </p:nvCxnSpPr>
        <p:spPr>
          <a:xfrm>
            <a:off x="8153400" y="1981200"/>
            <a:ext cx="0" cy="3733800"/>
          </a:xfrm>
          <a:prstGeom prst="straightConnector1">
            <a:avLst/>
          </a:prstGeom>
          <a:ln w="25400">
            <a:solidFill>
              <a:schemeClr val="bg1">
                <a:lumMod val="9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152400" y="4724400"/>
            <a:ext cx="8839200" cy="1143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/>
          <p:cNvSpPr/>
          <p:nvPr/>
        </p:nvSpPr>
        <p:spPr>
          <a:xfrm>
            <a:off x="152400" y="3429000"/>
            <a:ext cx="8839200" cy="1143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/>
          <p:cNvSpPr/>
          <p:nvPr/>
        </p:nvSpPr>
        <p:spPr>
          <a:xfrm>
            <a:off x="152400" y="2133600"/>
            <a:ext cx="8839200" cy="1143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dirty="0" smtClean="0"/>
              <a:t>Interaction among Components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609600" y="1447800"/>
            <a:ext cx="11430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292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Web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5600" y="1447800"/>
            <a:ext cx="1219200" cy="533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Requests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Handler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600" y="1447800"/>
            <a:ext cx="1219200" cy="533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Ontologies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Handler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47800"/>
            <a:ext cx="1219200" cy="533400"/>
          </a:xfrm>
          <a:prstGeom prst="roundRect">
            <a:avLst/>
          </a:prstGeom>
          <a:solidFill>
            <a:srgbClr val="FCFDF9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bg1">
                    <a:lumMod val="85000"/>
                  </a:schemeClr>
                </a:solidFill>
              </a:rPr>
              <a:t>Mappings</a:t>
            </a:r>
          </a:p>
          <a:p>
            <a:pPr algn="ctr"/>
            <a:r>
              <a:rPr lang="en-US" sz="1600" b="1" dirty="0" smtClean="0">
                <a:solidFill>
                  <a:schemeClr val="bg1">
                    <a:lumMod val="85000"/>
                  </a:schemeClr>
                </a:solidFill>
              </a:rPr>
              <a:t>Handler</a:t>
            </a:r>
          </a:p>
        </p:txBody>
      </p:sp>
      <p:cxnSp>
        <p:nvCxnSpPr>
          <p:cNvPr id="10" name="Straight Arrow Connector 9"/>
          <p:cNvCxnSpPr>
            <a:stCxn id="5" idx="2"/>
          </p:cNvCxnSpPr>
          <p:nvPr/>
        </p:nvCxnSpPr>
        <p:spPr>
          <a:xfrm>
            <a:off x="1181100" y="1981200"/>
            <a:ext cx="0" cy="38862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05200" y="1981200"/>
            <a:ext cx="0" cy="38862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91200" y="1981200"/>
            <a:ext cx="0" cy="38862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219200" y="25146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505200" y="26670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505200" y="28956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1143000" y="3124200"/>
            <a:ext cx="2362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DB-Vocab-Onto-Blu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5019" y="2209800"/>
            <a:ext cx="406981" cy="5076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4800" y="2743200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ID </a:t>
            </a:r>
            <a:r>
              <a:rPr lang="en-US" sz="1400" b="1" dirty="0" smtClean="0"/>
              <a:t>&amp; </a:t>
            </a:r>
          </a:p>
          <a:p>
            <a:r>
              <a:rPr lang="en-US" sz="1400" b="1" dirty="0" smtClean="0"/>
              <a:t>Imports</a:t>
            </a:r>
            <a:endParaRPr lang="en-US" sz="1400" b="1" dirty="0"/>
          </a:p>
        </p:txBody>
      </p:sp>
      <p:sp>
        <p:nvSpPr>
          <p:cNvPr id="29" name="Arc 28"/>
          <p:cNvSpPr/>
          <p:nvPr/>
        </p:nvSpPr>
        <p:spPr>
          <a:xfrm>
            <a:off x="5334000" y="2667000"/>
            <a:ext cx="1066800" cy="2286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219200" y="51816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3505200" y="52578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43000" y="21336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Upload Ontology </a:t>
            </a:r>
            <a:r>
              <a:rPr lang="en-US" dirty="0" smtClean="0"/>
              <a:t>(</a:t>
            </a:r>
            <a:r>
              <a:rPr lang="en-US" dirty="0" err="1" smtClean="0"/>
              <a:t>File|URL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3581400" y="2328446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Store Onto File (</a:t>
            </a:r>
            <a:r>
              <a:rPr lang="en-US" sz="1600" dirty="0" err="1" smtClean="0"/>
              <a:t>File|URL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6400800" y="26670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24384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10400" y="26670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Imports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6934200" y="2819400"/>
            <a:ext cx="152400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1219200" y="37338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43000" y="336446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Upload</a:t>
            </a:r>
            <a:r>
              <a:rPr lang="en-US" dirty="0" smtClean="0"/>
              <a:t> (List&lt;</a:t>
            </a:r>
            <a:r>
              <a:rPr lang="en-US" dirty="0" err="1" smtClean="0"/>
              <a:t>URL,File|URL</a:t>
            </a:r>
            <a:r>
              <a:rPr lang="en-US" dirty="0" smtClean="0"/>
              <a:t>&gt;)</a:t>
            </a:r>
            <a:endParaRPr lang="en-US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3505200" y="3874532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3505200" y="4103132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c 61"/>
          <p:cNvSpPr/>
          <p:nvPr/>
        </p:nvSpPr>
        <p:spPr>
          <a:xfrm>
            <a:off x="5334000" y="3874532"/>
            <a:ext cx="1066800" cy="2286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581400" y="3547646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Store Onto File (</a:t>
            </a:r>
            <a:r>
              <a:rPr lang="en-US" sz="1600" dirty="0" err="1" smtClean="0"/>
              <a:t>File|URL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64" name="TextBox 63"/>
          <p:cNvSpPr txBox="1"/>
          <p:nvPr/>
        </p:nvSpPr>
        <p:spPr>
          <a:xfrm>
            <a:off x="6400800" y="3874532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400" y="3645932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Store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10400" y="3874532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Imports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6934200" y="4026932"/>
            <a:ext cx="152400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1143000" y="4343400"/>
            <a:ext cx="2362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8" descr="DB-Vocab-Onto-Blue.png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57201" y="3759568"/>
            <a:ext cx="284798" cy="355232"/>
          </a:xfrm>
          <a:prstGeom prst="rect">
            <a:avLst/>
          </a:prstGeom>
        </p:spPr>
      </p:pic>
      <p:pic>
        <p:nvPicPr>
          <p:cNvPr id="70" name="Picture 69" descr="DB-Vocab-Onto-Blue.png"/>
          <p:cNvPicPr>
            <a:picLocks noChangeAspect="1"/>
          </p:cNvPicPr>
          <p:nvPr/>
        </p:nvPicPr>
        <p:blipFill>
          <a:blip r:embed="rId4" cstate="print">
            <a:grayscl/>
          </a:blip>
          <a:stretch>
            <a:fillRect/>
          </a:stretch>
        </p:blipFill>
        <p:spPr>
          <a:xfrm>
            <a:off x="609600" y="3835768"/>
            <a:ext cx="284798" cy="355232"/>
          </a:xfrm>
          <a:prstGeom prst="rect">
            <a:avLst/>
          </a:prstGeom>
        </p:spPr>
      </p:pic>
      <p:sp>
        <p:nvSpPr>
          <p:cNvPr id="72" name="Arc 71"/>
          <p:cNvSpPr/>
          <p:nvPr/>
        </p:nvSpPr>
        <p:spPr>
          <a:xfrm>
            <a:off x="5334000" y="5257800"/>
            <a:ext cx="1066800" cy="2286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3505200" y="54864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1143000" y="5650468"/>
            <a:ext cx="2362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477000" y="4953000"/>
            <a:ext cx="1447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Load Ontology  </a:t>
            </a:r>
          </a:p>
          <a:p>
            <a:pPr algn="ctr"/>
            <a:r>
              <a:rPr lang="en-US" sz="1400" dirty="0" smtClean="0"/>
              <a:t> (</a:t>
            </a:r>
            <a:r>
              <a:rPr lang="en-US" sz="1200" dirty="0" smtClean="0"/>
              <a:t>first time</a:t>
            </a:r>
            <a:r>
              <a:rPr lang="en-US" sz="1400" dirty="0" smtClean="0"/>
              <a:t>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0" y="5452646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Get Elements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3000" y="4800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Get Elements </a:t>
            </a:r>
            <a:r>
              <a:rPr lang="en-US" dirty="0" smtClean="0"/>
              <a:t>(</a:t>
            </a:r>
            <a:r>
              <a:rPr lang="en-US" sz="1400" dirty="0" smtClean="0"/>
              <a:t>Onto, Type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9" name="Arc 78"/>
          <p:cNvSpPr/>
          <p:nvPr/>
        </p:nvSpPr>
        <p:spPr>
          <a:xfrm>
            <a:off x="2971800" y="2971800"/>
            <a:ext cx="1066800" cy="1524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4114800" y="2895600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Json</a:t>
            </a:r>
            <a:r>
              <a:rPr lang="en-US" sz="1600" dirty="0" smtClean="0"/>
              <a:t> Data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4081046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Json</a:t>
            </a:r>
            <a:r>
              <a:rPr lang="en-US" sz="1600" dirty="0" smtClean="0"/>
              <a:t> Data</a:t>
            </a:r>
          </a:p>
        </p:txBody>
      </p:sp>
      <p:sp>
        <p:nvSpPr>
          <p:cNvPr id="82" name="Arc 81"/>
          <p:cNvSpPr/>
          <p:nvPr/>
        </p:nvSpPr>
        <p:spPr>
          <a:xfrm>
            <a:off x="2971800" y="4114800"/>
            <a:ext cx="1066800" cy="1524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Arc 82"/>
          <p:cNvSpPr/>
          <p:nvPr/>
        </p:nvSpPr>
        <p:spPr>
          <a:xfrm>
            <a:off x="2971800" y="5486400"/>
            <a:ext cx="1066800" cy="1524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4114800" y="5452646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Json</a:t>
            </a:r>
            <a:r>
              <a:rPr lang="en-US" sz="1600" dirty="0" smtClean="0"/>
              <a:t> Data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24800" y="24384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Provide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Ontology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24800" y="374398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Resolve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Dependencies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24800" y="5052536"/>
            <a:ext cx="1143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Get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Ontological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Elements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" y="4825425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/>
              <a:t>OntoJson</a:t>
            </a:r>
            <a:r>
              <a:rPr lang="en-US" sz="1600" b="1" dirty="0" smtClean="0"/>
              <a:t> </a:t>
            </a:r>
          </a:p>
          <a:p>
            <a:r>
              <a:rPr lang="en-US" sz="1600" b="1" dirty="0" smtClean="0"/>
              <a:t>&amp; Type</a:t>
            </a:r>
            <a:endParaRPr lang="en-US" sz="1600" b="1" dirty="0"/>
          </a:p>
        </p:txBody>
      </p:sp>
      <p:pic>
        <p:nvPicPr>
          <p:cNvPr id="96" name="Picture 95" descr="Ontology.png"/>
          <p:cNvPicPr>
            <a:picLocks noChangeAspect="1"/>
          </p:cNvPicPr>
          <p:nvPr/>
        </p:nvPicPr>
        <p:blipFill>
          <a:blip r:embed="rId5" cstate="print">
            <a:grayscl/>
          </a:blip>
          <a:stretch>
            <a:fillRect/>
          </a:stretch>
        </p:blipFill>
        <p:spPr>
          <a:xfrm>
            <a:off x="304800" y="5410200"/>
            <a:ext cx="564249" cy="40767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581400" y="4919246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get Elements Tree (ID, Type)</a:t>
            </a:r>
            <a:endParaRPr lang="en-US" sz="1600" dirty="0"/>
          </a:p>
        </p:txBody>
      </p:sp>
      <p:sp>
        <p:nvSpPr>
          <p:cNvPr id="91" name="Rectangle 90"/>
          <p:cNvSpPr/>
          <p:nvPr/>
        </p:nvSpPr>
        <p:spPr>
          <a:xfrm>
            <a:off x="1097280" y="2514600"/>
            <a:ext cx="1524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1097280" y="3733800"/>
            <a:ext cx="1524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/>
          <p:cNvSpPr/>
          <p:nvPr/>
        </p:nvSpPr>
        <p:spPr>
          <a:xfrm>
            <a:off x="3429000" y="2514600"/>
            <a:ext cx="1524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3429000" y="3733800"/>
            <a:ext cx="1524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3429000" y="5181600"/>
            <a:ext cx="1524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>
            <a:off x="5715000" y="5257800"/>
            <a:ext cx="152400" cy="228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>
            <a:off x="5715000" y="3886200"/>
            <a:ext cx="152400" cy="228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Arc 101"/>
          <p:cNvSpPr/>
          <p:nvPr/>
        </p:nvSpPr>
        <p:spPr>
          <a:xfrm>
            <a:off x="685800" y="5638800"/>
            <a:ext cx="1066800" cy="1186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5715000" y="2667000"/>
            <a:ext cx="152400" cy="228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1828800" y="556260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" dirty="0" smtClean="0"/>
          </a:p>
          <a:p>
            <a:r>
              <a:rPr lang="en-US" sz="1400" dirty="0" smtClean="0"/>
              <a:t>Update Panel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97280" y="5181600"/>
            <a:ext cx="1524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89"/>
          <p:cNvSpPr/>
          <p:nvPr/>
        </p:nvSpPr>
        <p:spPr>
          <a:xfrm>
            <a:off x="152400" y="4724400"/>
            <a:ext cx="8839200" cy="10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/>
          <p:cNvSpPr/>
          <p:nvPr/>
        </p:nvSpPr>
        <p:spPr>
          <a:xfrm>
            <a:off x="152400" y="3352800"/>
            <a:ext cx="8839200" cy="1295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/>
          <p:cNvSpPr/>
          <p:nvPr/>
        </p:nvSpPr>
        <p:spPr>
          <a:xfrm>
            <a:off x="152400" y="2133600"/>
            <a:ext cx="7239000" cy="1143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dirty="0" smtClean="0"/>
              <a:t>Interaction among Components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609600" y="1447800"/>
            <a:ext cx="11430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292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Web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5600" y="1447800"/>
            <a:ext cx="1219200" cy="533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Requests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Handler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600" y="1447800"/>
            <a:ext cx="1219200" cy="533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Ontologies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Handler</a:t>
            </a:r>
          </a:p>
        </p:txBody>
      </p:sp>
      <p:cxnSp>
        <p:nvCxnSpPr>
          <p:cNvPr id="10" name="Straight Arrow Connector 9"/>
          <p:cNvCxnSpPr>
            <a:stCxn id="5" idx="2"/>
          </p:cNvCxnSpPr>
          <p:nvPr/>
        </p:nvCxnSpPr>
        <p:spPr>
          <a:xfrm>
            <a:off x="1181100" y="1981200"/>
            <a:ext cx="0" cy="38862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05200" y="1981200"/>
            <a:ext cx="0" cy="38862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91200" y="1981200"/>
            <a:ext cx="0" cy="38862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219200" y="25146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505200" y="26670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505200" y="28194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1143000" y="3048000"/>
            <a:ext cx="2362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/>
          <p:cNvSpPr/>
          <p:nvPr/>
        </p:nvSpPr>
        <p:spPr>
          <a:xfrm>
            <a:off x="5334000" y="2667000"/>
            <a:ext cx="1066800" cy="140732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219200" y="51816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3505200" y="5257800"/>
            <a:ext cx="4648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43000" y="2133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get Element Def (</a:t>
            </a:r>
            <a:r>
              <a:rPr lang="en-US" sz="1400" dirty="0" smtClean="0"/>
              <a:t>Onto, URI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3505200" y="2209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get Element File (Onto, File)</a:t>
            </a:r>
            <a:endParaRPr lang="en-US" dirty="0"/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1219200" y="3635514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219200" y="3266182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get Suggestions (</a:t>
            </a:r>
            <a:r>
              <a:rPr lang="en-US" sz="1400" dirty="0" err="1" smtClean="0"/>
              <a:t>Ontos,Maps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3505200" y="3776246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3505200" y="42672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c 61"/>
          <p:cNvSpPr/>
          <p:nvPr/>
        </p:nvSpPr>
        <p:spPr>
          <a:xfrm>
            <a:off x="5257800" y="3767554"/>
            <a:ext cx="1066800" cy="1186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657600" y="340691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find Suggestions ( … )</a:t>
            </a:r>
            <a:endParaRPr lang="en-US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1143000" y="4419600"/>
            <a:ext cx="2362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52400" y="4114800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UI </a:t>
            </a:r>
          </a:p>
          <a:p>
            <a:pPr algn="ctr"/>
            <a:r>
              <a:rPr lang="en-US" sz="1600" dirty="0" smtClean="0"/>
              <a:t>Update</a:t>
            </a:r>
          </a:p>
        </p:txBody>
      </p:sp>
      <p:sp>
        <p:nvSpPr>
          <p:cNvPr id="72" name="Arc 71"/>
          <p:cNvSpPr/>
          <p:nvPr/>
        </p:nvSpPr>
        <p:spPr>
          <a:xfrm>
            <a:off x="7696200" y="5257800"/>
            <a:ext cx="1066800" cy="2286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3505200" y="5486400"/>
            <a:ext cx="4648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1143000" y="5650468"/>
            <a:ext cx="2362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219200" y="48006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Export (</a:t>
            </a:r>
            <a:r>
              <a:rPr lang="en-US" sz="1400" dirty="0" err="1" smtClean="0"/>
              <a:t>Ontos</a:t>
            </a:r>
            <a:r>
              <a:rPr lang="en-US" sz="1400" dirty="0" smtClean="0"/>
              <a:t>, Maps, Format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4038600" y="2816423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Json</a:t>
            </a:r>
            <a:r>
              <a:rPr lang="en-US" sz="1400" dirty="0" smtClean="0"/>
              <a:t> Data</a:t>
            </a:r>
          </a:p>
        </p:txBody>
      </p:sp>
      <p:sp>
        <p:nvSpPr>
          <p:cNvPr id="82" name="Arc 81"/>
          <p:cNvSpPr/>
          <p:nvPr/>
        </p:nvSpPr>
        <p:spPr>
          <a:xfrm>
            <a:off x="2971800" y="4267200"/>
            <a:ext cx="1066800" cy="1524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77000" y="2286000"/>
            <a:ext cx="1066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Get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Element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Definition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62800" y="33528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Get</a:t>
            </a:r>
          </a:p>
          <a:p>
            <a:r>
              <a:rPr lang="en-US" sz="1400" b="1" cap="small" dirty="0" smtClean="0">
                <a:solidFill>
                  <a:srgbClr val="9E0000"/>
                </a:solidFill>
              </a:rPr>
              <a:t>Suggestions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53400" y="473458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Export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Mappings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2400" y="4825425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/>
              <a:t>OntoJson</a:t>
            </a:r>
            <a:r>
              <a:rPr lang="en-US" sz="1400" b="1" dirty="0" smtClean="0"/>
              <a:t> &amp; Mappings</a:t>
            </a:r>
            <a:endParaRPr lang="en-US" sz="14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52400" y="221998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/>
              <a:t>OntoJson</a:t>
            </a:r>
            <a:r>
              <a:rPr lang="en-US" sz="1400" b="1" dirty="0" smtClean="0"/>
              <a:t> &amp; </a:t>
            </a:r>
            <a:r>
              <a:rPr lang="en-US" sz="1400" b="1" dirty="0" err="1" smtClean="0"/>
              <a:t>ElemURI</a:t>
            </a:r>
            <a:endParaRPr lang="en-US" sz="1400" b="1" dirty="0"/>
          </a:p>
        </p:txBody>
      </p:sp>
      <p:sp>
        <p:nvSpPr>
          <p:cNvPr id="91" name="Rounded Rectangle 90"/>
          <p:cNvSpPr/>
          <p:nvPr/>
        </p:nvSpPr>
        <p:spPr>
          <a:xfrm>
            <a:off x="7543800" y="1447800"/>
            <a:ext cx="1219200" cy="533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Mappings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Handler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" y="3330714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/>
              <a:t>Ontos</a:t>
            </a:r>
            <a:r>
              <a:rPr lang="en-US" sz="1400" b="1" dirty="0" smtClean="0"/>
              <a:t> &amp; Mappings</a:t>
            </a:r>
            <a:endParaRPr lang="en-US" sz="1400" b="1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153400" y="1981200"/>
            <a:ext cx="0" cy="3733800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5867400" y="3886200"/>
            <a:ext cx="22860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Arc 93"/>
          <p:cNvSpPr/>
          <p:nvPr/>
        </p:nvSpPr>
        <p:spPr>
          <a:xfrm>
            <a:off x="7696200" y="3886200"/>
            <a:ext cx="1066800" cy="228600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>
            <a:endCxn id="102" idx="0"/>
          </p:cNvCxnSpPr>
          <p:nvPr/>
        </p:nvCxnSpPr>
        <p:spPr>
          <a:xfrm flipH="1">
            <a:off x="5791200" y="4114800"/>
            <a:ext cx="2362200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c 101"/>
          <p:cNvSpPr/>
          <p:nvPr/>
        </p:nvSpPr>
        <p:spPr>
          <a:xfrm>
            <a:off x="5257800" y="4114800"/>
            <a:ext cx="1066800" cy="1186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Arc 104"/>
          <p:cNvSpPr/>
          <p:nvPr/>
        </p:nvSpPr>
        <p:spPr>
          <a:xfrm>
            <a:off x="2971800" y="2891135"/>
            <a:ext cx="1066800" cy="1186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554" name="Picture 2" descr="http://cdn-img.easyicon.net/png/286/2867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1" y="5410200"/>
            <a:ext cx="381000" cy="381000"/>
          </a:xfrm>
          <a:prstGeom prst="rect">
            <a:avLst/>
          </a:prstGeom>
          <a:noFill/>
        </p:spPr>
      </p:pic>
      <p:sp>
        <p:nvSpPr>
          <p:cNvPr id="107" name="TextBox 106"/>
          <p:cNvSpPr txBox="1"/>
          <p:nvPr/>
        </p:nvSpPr>
        <p:spPr>
          <a:xfrm>
            <a:off x="3657600" y="4876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create Mappings File ( … )</a:t>
            </a:r>
            <a:endParaRPr lang="en-US" dirty="0"/>
          </a:p>
        </p:txBody>
      </p:sp>
      <p:sp>
        <p:nvSpPr>
          <p:cNvPr id="53" name="Arc 52"/>
          <p:cNvSpPr/>
          <p:nvPr/>
        </p:nvSpPr>
        <p:spPr>
          <a:xfrm>
            <a:off x="609600" y="3043535"/>
            <a:ext cx="1066800" cy="1186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c 53"/>
          <p:cNvSpPr/>
          <p:nvPr/>
        </p:nvSpPr>
        <p:spPr>
          <a:xfrm>
            <a:off x="609600" y="4419600"/>
            <a:ext cx="1066800" cy="1186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114800" y="4191000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" dirty="0" smtClean="0"/>
          </a:p>
          <a:p>
            <a:r>
              <a:rPr lang="en-US" sz="1400" dirty="0" err="1" smtClean="0"/>
              <a:t>Json</a:t>
            </a:r>
            <a:r>
              <a:rPr lang="en-US" sz="1400" dirty="0" smtClean="0"/>
              <a:t>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52600" y="434340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" dirty="0" smtClean="0"/>
          </a:p>
          <a:p>
            <a:r>
              <a:rPr lang="en-US" sz="1400" dirty="0" smtClean="0"/>
              <a:t>Update Panel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52600" y="2971800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" dirty="0" smtClean="0"/>
          </a:p>
          <a:p>
            <a:r>
              <a:rPr lang="en-US" sz="1400" dirty="0" smtClean="0"/>
              <a:t>Update Panel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77200" y="3886200"/>
            <a:ext cx="152400" cy="228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8077200" y="5257800"/>
            <a:ext cx="152400" cy="228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5715000" y="3749040"/>
            <a:ext cx="152400" cy="5181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5715000" y="2667000"/>
            <a:ext cx="152400" cy="1371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3429000" y="2529840"/>
            <a:ext cx="152400" cy="5181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3429000" y="5181600"/>
            <a:ext cx="1524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3429000" y="3657600"/>
            <a:ext cx="152400" cy="76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1097280" y="3657600"/>
            <a:ext cx="152400" cy="914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1097280" y="2514600"/>
            <a:ext cx="152400" cy="685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/>
          <p:cNvSpPr/>
          <p:nvPr/>
        </p:nvSpPr>
        <p:spPr>
          <a:xfrm>
            <a:off x="1097280" y="5181600"/>
            <a:ext cx="1524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152400" y="2743200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UI </a:t>
            </a:r>
          </a:p>
          <a:p>
            <a:pPr algn="ctr"/>
            <a:r>
              <a:rPr lang="en-US" sz="1600" dirty="0" smtClean="0"/>
              <a:t>Update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 with the End Users (1/4)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Examine Ontological Elements</a:t>
            </a:r>
          </a:p>
          <a:p>
            <a:pPr lvl="1"/>
            <a:endParaRPr lang="en-US" sz="36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Quickly Define 1:1 Correspondences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7924800" cy="3460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381000" y="4038600"/>
            <a:ext cx="1295400" cy="4572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05200" y="3581400"/>
            <a:ext cx="1905000" cy="4572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ug-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9483" y="1825596"/>
            <a:ext cx="6695717" cy="13748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 with the End Users (2/4)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48201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Handle Suggestions</a:t>
            </a:r>
          </a:p>
          <a:p>
            <a:pPr lvl="1">
              <a:buNone/>
            </a:pPr>
            <a:endParaRPr lang="en-US" sz="1800" dirty="0" smtClean="0"/>
          </a:p>
          <a:p>
            <a:pPr lvl="8">
              <a:buNone/>
            </a:pPr>
            <a:r>
              <a:rPr lang="en-US" dirty="0" smtClean="0"/>
              <a:t>				             Accept /</a:t>
            </a:r>
          </a:p>
          <a:p>
            <a:pPr lvl="3">
              <a:buNone/>
            </a:pPr>
            <a:r>
              <a:rPr lang="en-US" dirty="0" smtClean="0"/>
              <a:t>							             Reject</a:t>
            </a:r>
          </a:p>
          <a:p>
            <a:pPr lvl="1"/>
            <a:endParaRPr lang="en-US" sz="2800" dirty="0" smtClean="0"/>
          </a:p>
          <a:p>
            <a:pPr lvl="1"/>
            <a:r>
              <a:rPr lang="en-US" dirty="0" smtClean="0"/>
              <a:t>Massively Accept / Reject based on the Confidence Value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1"/>
            <a:r>
              <a:rPr lang="en-US" dirty="0" smtClean="0"/>
              <a:t>Reload or Export Suggestions		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Oval 6"/>
          <p:cNvSpPr/>
          <p:nvPr/>
        </p:nvSpPr>
        <p:spPr>
          <a:xfrm>
            <a:off x="6858000" y="1752600"/>
            <a:ext cx="685800" cy="1524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1" y="3733800"/>
            <a:ext cx="7696200" cy="106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Oval 10"/>
          <p:cNvSpPr/>
          <p:nvPr/>
        </p:nvSpPr>
        <p:spPr>
          <a:xfrm>
            <a:off x="381000" y="3962400"/>
            <a:ext cx="5638800" cy="381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5334000"/>
            <a:ext cx="7696200" cy="541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Oval 12"/>
          <p:cNvSpPr/>
          <p:nvPr/>
        </p:nvSpPr>
        <p:spPr>
          <a:xfrm>
            <a:off x="1676400" y="5410200"/>
            <a:ext cx="2133600" cy="381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86400" y="5410200"/>
            <a:ext cx="3048000" cy="381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4463" y="1905000"/>
            <a:ext cx="8006137" cy="39585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 with the End Users (3/4)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48201"/>
          </a:xfrm>
        </p:spPr>
        <p:txBody>
          <a:bodyPr>
            <a:normAutofit/>
          </a:bodyPr>
          <a:lstStyle/>
          <a:p>
            <a:pPr marL="457200" lvl="1" indent="-400050">
              <a:buNone/>
            </a:pPr>
            <a:r>
              <a:rPr lang="en-US" dirty="0" smtClean="0"/>
              <a:t>Manually Specify Mapping Rules – Ontology Pattern Instantiations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1" name="Oval 10"/>
          <p:cNvSpPr/>
          <p:nvPr/>
        </p:nvSpPr>
        <p:spPr>
          <a:xfrm>
            <a:off x="609600" y="4191000"/>
            <a:ext cx="1143000" cy="4572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914400" y="2895600"/>
            <a:ext cx="2514600" cy="381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14400" y="3505200"/>
            <a:ext cx="2514600" cy="381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 with the End Users (4/4)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 smtClean="0"/>
              <a:t>Load</a:t>
            </a:r>
            <a:r>
              <a:rPr lang="en-US" dirty="0" smtClean="0"/>
              <a:t> Mapping Rules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sz="2400" dirty="0" smtClean="0"/>
          </a:p>
          <a:p>
            <a:pPr lvl="2"/>
            <a:r>
              <a:rPr lang="en-US" sz="1800" dirty="0" smtClean="0"/>
              <a:t>JSON Format</a:t>
            </a:r>
          </a:p>
          <a:p>
            <a:pPr lvl="2"/>
            <a:endParaRPr lang="en-US" sz="1400" dirty="0" smtClean="0"/>
          </a:p>
          <a:p>
            <a:pPr lvl="1"/>
            <a:r>
              <a:rPr lang="en-US" b="1" dirty="0" smtClean="0"/>
              <a:t>Save/Export</a:t>
            </a:r>
            <a:r>
              <a:rPr lang="en-US" dirty="0" smtClean="0"/>
              <a:t> Mapping Rules</a:t>
            </a:r>
          </a:p>
          <a:p>
            <a:pPr lvl="1"/>
            <a:endParaRPr lang="en-US" dirty="0" smtClean="0"/>
          </a:p>
          <a:p>
            <a:pPr lvl="1"/>
            <a:endParaRPr lang="en-US" sz="2800" dirty="0" smtClean="0"/>
          </a:p>
          <a:p>
            <a:pPr lvl="2"/>
            <a:r>
              <a:rPr lang="en-US" sz="1800" dirty="0" smtClean="0"/>
              <a:t>JSON / XML (EDOAL) / HTML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94226"/>
            <a:ext cx="6629400" cy="953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276165"/>
            <a:ext cx="6629400" cy="524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381000" y="2489200"/>
            <a:ext cx="4343400" cy="6350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81000" y="4191000"/>
            <a:ext cx="4343400" cy="6858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the Ontologies Alignment Tool for specifying the mappings between: </a:t>
            </a:r>
          </a:p>
          <a:p>
            <a:pPr lvl="1"/>
            <a:r>
              <a:rPr lang="en-US" dirty="0" smtClean="0"/>
              <a:t>Global EHR Ontology</a:t>
            </a:r>
          </a:p>
          <a:p>
            <a:pPr lvl="2"/>
            <a:r>
              <a:rPr lang="en-US" sz="2000" dirty="0" smtClean="0">
                <a:cs typeface="Arial" pitchFamily="34" charset="0"/>
              </a:rPr>
              <a:t>Designed in close collaboration with clinical experts</a:t>
            </a:r>
          </a:p>
          <a:p>
            <a:pPr lvl="1"/>
            <a:r>
              <a:rPr lang="en-US" dirty="0" smtClean="0"/>
              <a:t>Healthcare Entity EHR Ontology</a:t>
            </a:r>
          </a:p>
          <a:p>
            <a:pPr lvl="2"/>
            <a:r>
              <a:rPr lang="en-US" sz="2000" dirty="0" smtClean="0">
                <a:cs typeface="Arial" pitchFamily="34" charset="0"/>
              </a:rPr>
              <a:t>Automatically generated based on DB schema</a:t>
            </a:r>
          </a:p>
          <a:p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Precisely determine correspondence among them</a:t>
            </a:r>
          </a:p>
          <a:p>
            <a:pPr lvl="2"/>
            <a:r>
              <a:rPr lang="en-US" sz="2000" dirty="0" smtClean="0">
                <a:cs typeface="Arial" pitchFamily="34" charset="0"/>
              </a:rPr>
              <a:t>Intend to use mappings for SPARQL query rewriting</a:t>
            </a:r>
            <a:endParaRPr lang="el-GR" sz="2800" dirty="0"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5" name="Picture 4" descr="OAT-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5334000"/>
            <a:ext cx="8077200" cy="6069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and Next Steps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Ontologies Alignment Tool covers all process driven requirements</a:t>
            </a:r>
          </a:p>
          <a:p>
            <a:pPr lvl="1"/>
            <a:r>
              <a:rPr lang="en-US" dirty="0" smtClean="0"/>
              <a:t>Weaknesses:</a:t>
            </a:r>
          </a:p>
          <a:p>
            <a:pPr lvl="2"/>
            <a:r>
              <a:rPr lang="en-US" sz="2000" dirty="0" smtClean="0"/>
              <a:t>Improve the quality of suggested mapping rules</a:t>
            </a:r>
          </a:p>
          <a:p>
            <a:pPr lvl="2"/>
            <a:r>
              <a:rPr lang="en-US" sz="2000" dirty="0" smtClean="0"/>
              <a:t>Visualization of  suggestions and mapping rules</a:t>
            </a:r>
          </a:p>
          <a:p>
            <a:r>
              <a:rPr lang="en-US" dirty="0" smtClean="0"/>
              <a:t>Next Steps: </a:t>
            </a:r>
          </a:p>
          <a:p>
            <a:pPr lvl="1"/>
            <a:r>
              <a:rPr lang="en-US" dirty="0" smtClean="0"/>
              <a:t>Update Site</a:t>
            </a:r>
          </a:p>
          <a:p>
            <a:pPr lvl="2"/>
            <a:r>
              <a:rPr lang="en-US" sz="2000" dirty="0" smtClean="0"/>
              <a:t>Tool Architecture</a:t>
            </a:r>
          </a:p>
          <a:p>
            <a:pPr lvl="2"/>
            <a:r>
              <a:rPr lang="en-US" sz="2000" dirty="0" smtClean="0"/>
              <a:t>Source Code</a:t>
            </a:r>
            <a:endParaRPr lang="en-US" dirty="0" smtClean="0"/>
          </a:p>
          <a:p>
            <a:pPr lvl="1"/>
            <a:r>
              <a:rPr lang="en-US" dirty="0" smtClean="0"/>
              <a:t>Update The Ontologies Alignment Tool</a:t>
            </a:r>
          </a:p>
          <a:p>
            <a:pPr lvl="2"/>
            <a:r>
              <a:rPr lang="en-US" sz="2000" dirty="0" smtClean="0"/>
              <a:t>Fix errors/weaknesses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14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!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3000" dirty="0" smtClean="0">
                <a:solidFill>
                  <a:schemeClr val="tx1"/>
                </a:solidFill>
              </a:rPr>
              <a:t>Questions ?</a:t>
            </a:r>
            <a:endParaRPr lang="el-GR" sz="3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6" name="Picture 5" descr="ThankYou-Image.png"/>
          <p:cNvPicPr>
            <a:picLocks noChangeAspect="1"/>
          </p:cNvPicPr>
          <p:nvPr/>
        </p:nvPicPr>
        <p:blipFill>
          <a:blip r:embed="rId2" cstate="print">
            <a:grayscl/>
          </a:blip>
          <a:stretch>
            <a:fillRect/>
          </a:stretch>
        </p:blipFill>
        <p:spPr>
          <a:xfrm>
            <a:off x="533400" y="1541188"/>
            <a:ext cx="6875318" cy="34118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800" b="1" dirty="0" smtClean="0"/>
              <a:t>Backup Slides</a:t>
            </a:r>
            <a:r>
              <a:rPr lang="en-US" sz="4800" dirty="0" smtClean="0"/>
              <a:t> </a:t>
            </a:r>
            <a:endParaRPr lang="el-GR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15362" name="Picture 2" descr="http://www.oefoif.va.gov/images/lifebelt_whitebgr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819400"/>
            <a:ext cx="3048000" cy="26125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Arrow Connector 69"/>
          <p:cNvCxnSpPr/>
          <p:nvPr/>
        </p:nvCxnSpPr>
        <p:spPr>
          <a:xfrm>
            <a:off x="3505200" y="1981200"/>
            <a:ext cx="0" cy="3886200"/>
          </a:xfrm>
          <a:prstGeom prst="straightConnector1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152400" y="2209800"/>
            <a:ext cx="5562600" cy="9906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dirty="0" smtClean="0"/>
              <a:t>Manually specifying a Mapping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609600" y="1447800"/>
            <a:ext cx="1143000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292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Web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5600" y="1447800"/>
            <a:ext cx="1219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bg1">
                    <a:lumMod val="75000"/>
                  </a:schemeClr>
                </a:solidFill>
              </a:rPr>
              <a:t>Requests</a:t>
            </a:r>
          </a:p>
          <a:p>
            <a:pPr algn="ctr"/>
            <a:r>
              <a:rPr lang="en-US" sz="1600" b="1" dirty="0" smtClean="0">
                <a:solidFill>
                  <a:schemeClr val="bg1">
                    <a:lumMod val="75000"/>
                  </a:schemeClr>
                </a:solidFill>
              </a:rPr>
              <a:t>Handler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600" y="1447800"/>
            <a:ext cx="1219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bg1">
                    <a:lumMod val="75000"/>
                  </a:schemeClr>
                </a:solidFill>
              </a:rPr>
              <a:t>Ontologies</a:t>
            </a:r>
          </a:p>
          <a:p>
            <a:pPr algn="ctr"/>
            <a:r>
              <a:rPr lang="en-US" sz="1600" b="1" dirty="0" smtClean="0">
                <a:solidFill>
                  <a:schemeClr val="bg1">
                    <a:lumMod val="75000"/>
                  </a:schemeClr>
                </a:solidFill>
              </a:rPr>
              <a:t>Handler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791200" y="1981200"/>
            <a:ext cx="0" cy="3886200"/>
          </a:xfrm>
          <a:prstGeom prst="straightConnector1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04800" y="4191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Json</a:t>
            </a:r>
            <a:endParaRPr lang="en-US" b="1" dirty="0" smtClean="0"/>
          </a:p>
        </p:txBody>
      </p:sp>
      <p:sp>
        <p:nvSpPr>
          <p:cNvPr id="78" name="TextBox 77"/>
          <p:cNvSpPr txBox="1"/>
          <p:nvPr/>
        </p:nvSpPr>
        <p:spPr>
          <a:xfrm>
            <a:off x="152400" y="2433935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Mapping Rule</a:t>
            </a:r>
          </a:p>
          <a:p>
            <a:r>
              <a:rPr lang="en-US" sz="1200" dirty="0" smtClean="0"/>
              <a:t>Change ...</a:t>
            </a:r>
            <a:endParaRPr lang="en-US" sz="1200" dirty="0"/>
          </a:p>
        </p:txBody>
      </p:sp>
      <p:sp>
        <p:nvSpPr>
          <p:cNvPr id="91" name="Rounded Rectangle 90"/>
          <p:cNvSpPr/>
          <p:nvPr/>
        </p:nvSpPr>
        <p:spPr>
          <a:xfrm>
            <a:off x="7543800" y="1447800"/>
            <a:ext cx="1219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bg1">
                    <a:lumMod val="75000"/>
                  </a:schemeClr>
                </a:solidFill>
              </a:rPr>
              <a:t>Mappings</a:t>
            </a:r>
          </a:p>
          <a:p>
            <a:pPr algn="ctr"/>
            <a:r>
              <a:rPr lang="en-US" sz="1600" b="1" dirty="0" smtClean="0">
                <a:solidFill>
                  <a:schemeClr val="bg1">
                    <a:lumMod val="75000"/>
                  </a:schemeClr>
                </a:solidFill>
              </a:rPr>
              <a:t>Handler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153400" y="1981200"/>
            <a:ext cx="0" cy="3733800"/>
          </a:xfrm>
          <a:prstGeom prst="straightConnector1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c 53"/>
          <p:cNvSpPr/>
          <p:nvPr/>
        </p:nvSpPr>
        <p:spPr>
          <a:xfrm>
            <a:off x="762000" y="2514600"/>
            <a:ext cx="1066800" cy="2710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905000" y="2209800"/>
            <a:ext cx="20574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" dirty="0" smtClean="0"/>
          </a:p>
          <a:p>
            <a:r>
              <a:rPr lang="en-US" sz="1600" dirty="0" smtClean="0"/>
              <a:t>Mapping Rules </a:t>
            </a:r>
            <a:r>
              <a:rPr lang="en-US" sz="1600" b="1" dirty="0" smtClean="0"/>
              <a:t>Repository</a:t>
            </a:r>
            <a:r>
              <a:rPr lang="en-US" sz="1600" dirty="0" smtClean="0"/>
              <a:t> and Panel Initialize / Update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2309336"/>
            <a:ext cx="129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Handle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Mapping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Rules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2400" y="3352800"/>
            <a:ext cx="5562600" cy="1143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4114800" y="3505200"/>
            <a:ext cx="129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Manually 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Specify a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Mapping Rule</a:t>
            </a:r>
          </a:p>
        </p:txBody>
      </p:sp>
      <p:sp>
        <p:nvSpPr>
          <p:cNvPr id="75" name="Arc 74"/>
          <p:cNvSpPr/>
          <p:nvPr/>
        </p:nvSpPr>
        <p:spPr>
          <a:xfrm>
            <a:off x="762000" y="3581400"/>
            <a:ext cx="1066800" cy="2710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1905000" y="3501479"/>
            <a:ext cx="20574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" dirty="0" smtClean="0"/>
          </a:p>
          <a:p>
            <a:r>
              <a:rPr lang="en-US" sz="1600" dirty="0" smtClean="0"/>
              <a:t>Accept / Reject</a:t>
            </a:r>
          </a:p>
        </p:txBody>
      </p:sp>
      <p:sp>
        <p:nvSpPr>
          <p:cNvPr id="79" name="Arc 78"/>
          <p:cNvSpPr/>
          <p:nvPr/>
        </p:nvSpPr>
        <p:spPr>
          <a:xfrm>
            <a:off x="762000" y="4038600"/>
            <a:ext cx="1066800" cy="2710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1905000" y="4004846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Update Panel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1000" y="37338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Tab 2 ...</a:t>
            </a:r>
            <a:endParaRPr 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304800" y="5498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Json</a:t>
            </a:r>
            <a:endParaRPr lang="en-US" b="1" dirty="0" smtClean="0"/>
          </a:p>
        </p:txBody>
      </p:sp>
      <p:sp>
        <p:nvSpPr>
          <p:cNvPr id="96" name="Rounded Rectangle 95"/>
          <p:cNvSpPr/>
          <p:nvPr/>
        </p:nvSpPr>
        <p:spPr>
          <a:xfrm>
            <a:off x="152400" y="4659868"/>
            <a:ext cx="5562600" cy="1143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4114800" y="4812268"/>
            <a:ext cx="129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small" dirty="0" smtClean="0">
                <a:solidFill>
                  <a:srgbClr val="9E0000"/>
                </a:solidFill>
              </a:rPr>
              <a:t>Manually 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Specify a</a:t>
            </a:r>
          </a:p>
          <a:p>
            <a:r>
              <a:rPr lang="en-US" sz="1400" cap="small" dirty="0" smtClean="0">
                <a:solidFill>
                  <a:srgbClr val="9E0000"/>
                </a:solidFill>
              </a:rPr>
              <a:t>Mapping Rule</a:t>
            </a:r>
          </a:p>
        </p:txBody>
      </p:sp>
      <p:sp>
        <p:nvSpPr>
          <p:cNvPr id="99" name="Arc 98"/>
          <p:cNvSpPr/>
          <p:nvPr/>
        </p:nvSpPr>
        <p:spPr>
          <a:xfrm>
            <a:off x="762000" y="4888468"/>
            <a:ext cx="1066800" cy="2710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1905000" y="4620905"/>
            <a:ext cx="2057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" dirty="0" smtClean="0"/>
          </a:p>
          <a:p>
            <a:r>
              <a:rPr lang="en-US" sz="1600" dirty="0" smtClean="0"/>
              <a:t>Mapping Rules </a:t>
            </a:r>
            <a:endParaRPr lang="en-US" sz="1600" b="1" dirty="0" smtClean="0"/>
          </a:p>
          <a:p>
            <a:r>
              <a:rPr lang="en-US" sz="1600" dirty="0" smtClean="0"/>
              <a:t>Parameters</a:t>
            </a:r>
          </a:p>
        </p:txBody>
      </p:sp>
      <p:sp>
        <p:nvSpPr>
          <p:cNvPr id="101" name="Arc 100"/>
          <p:cNvSpPr/>
          <p:nvPr/>
        </p:nvSpPr>
        <p:spPr>
          <a:xfrm>
            <a:off x="762000" y="5345668"/>
            <a:ext cx="1066800" cy="271046"/>
          </a:xfrm>
          <a:prstGeom prst="arc">
            <a:avLst>
              <a:gd name="adj1" fmla="val 16200000"/>
              <a:gd name="adj2" fmla="val 5524335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1905000" y="5171926"/>
            <a:ext cx="2057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" b="1" dirty="0" smtClean="0"/>
          </a:p>
          <a:p>
            <a:r>
              <a:rPr lang="en-US" sz="1600" b="1" dirty="0" smtClean="0"/>
              <a:t>Ontology Pattern(s)</a:t>
            </a:r>
          </a:p>
          <a:p>
            <a:r>
              <a:rPr lang="en-US" sz="1600" dirty="0" smtClean="0"/>
              <a:t>Instantiation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1000" y="5040868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Tab 3 ...</a:t>
            </a:r>
            <a:endParaRPr lang="en-US" sz="1200" dirty="0"/>
          </a:p>
        </p:txBody>
      </p:sp>
      <p:cxnSp>
        <p:nvCxnSpPr>
          <p:cNvPr id="10" name="Straight Arrow Connector 9"/>
          <p:cNvCxnSpPr>
            <a:stCxn id="5" idx="2"/>
          </p:cNvCxnSpPr>
          <p:nvPr/>
        </p:nvCxnSpPr>
        <p:spPr>
          <a:xfrm>
            <a:off x="1181100" y="1981200"/>
            <a:ext cx="0" cy="38862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72200" y="3764340"/>
            <a:ext cx="26670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292C78"/>
                </a:solidFill>
              </a:rPr>
              <a:t>For manually specifying a mapping rule, </a:t>
            </a:r>
            <a:r>
              <a:rPr lang="en-US" sz="2000" b="1" dirty="0" smtClean="0">
                <a:solidFill>
                  <a:srgbClr val="292C78"/>
                </a:solidFill>
              </a:rPr>
              <a:t>none</a:t>
            </a:r>
            <a:r>
              <a:rPr lang="en-US" sz="2000" dirty="0" smtClean="0">
                <a:solidFill>
                  <a:srgbClr val="292C78"/>
                </a:solidFill>
              </a:rPr>
              <a:t> server side component is being used.</a:t>
            </a:r>
          </a:p>
          <a:p>
            <a:endParaRPr lang="en-US" sz="2000" dirty="0" smtClean="0">
              <a:solidFill>
                <a:srgbClr val="292C78"/>
              </a:solidFill>
            </a:endParaRPr>
          </a:p>
          <a:p>
            <a:r>
              <a:rPr lang="en-US" sz="1600" dirty="0" smtClean="0">
                <a:solidFill>
                  <a:srgbClr val="292C78"/>
                </a:solidFill>
              </a:rPr>
              <a:t>(</a:t>
            </a:r>
            <a:r>
              <a:rPr lang="en-US" sz="1400" dirty="0" smtClean="0">
                <a:solidFill>
                  <a:srgbClr val="292C78"/>
                </a:solidFill>
              </a:rPr>
              <a:t> in the current version of OAT </a:t>
            </a:r>
            <a:r>
              <a:rPr lang="en-US" sz="1600" dirty="0" smtClean="0">
                <a:solidFill>
                  <a:srgbClr val="292C78"/>
                </a:solidFill>
              </a:rPr>
              <a:t>)</a:t>
            </a:r>
            <a:endParaRPr lang="en-US" sz="1600" dirty="0">
              <a:solidFill>
                <a:srgbClr val="292C78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72200" y="2340114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292C78"/>
                </a:solidFill>
              </a:rPr>
              <a:t>Rules specified are stored on client side.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Example: Examination Outcome</a:t>
            </a:r>
            <a:endParaRPr lang="el-GR" sz="3200" dirty="0"/>
          </a:p>
        </p:txBody>
      </p:sp>
      <p:pic>
        <p:nvPicPr>
          <p:cNvPr id="5" name="Content Placeholder 4" descr="Mapping Exampl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219200"/>
            <a:ext cx="9144000" cy="487679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97F38-0DD0-4BD7-9C28-C987D09CBAE7}" type="slidenum">
              <a:rPr lang="en-GB" smtClean="0"/>
              <a:pPr/>
              <a:t>18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ondrogiannis-Efthymios-Paper-16-SWAT4LS-10-Dec-14-Berl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Chondrogiannis-Efthymios-Paper-16-SWAT4LS-10-Dec-14-Berlin</Template>
  <TotalTime>621</TotalTime>
  <Words>730</Words>
  <Application>Microsoft Office PowerPoint</Application>
  <PresentationFormat>On-screen Show (4:3)</PresentationFormat>
  <Paragraphs>314</Paragraphs>
  <Slides>18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Chondrogiannis-Efthymios-Paper-16-SWAT4LS-10-Dec-14-Berlin</vt:lpstr>
      <vt:lpstr>Slide 1</vt:lpstr>
      <vt:lpstr>Introduction</vt:lpstr>
      <vt:lpstr>Ontology-based DB Access</vt:lpstr>
      <vt:lpstr>Mapping Rules &amp; Ontology Patterns</vt:lpstr>
      <vt:lpstr>Functionality provided by OAT</vt:lpstr>
      <vt:lpstr>System Architecture</vt:lpstr>
      <vt:lpstr>Interaction among Components (1/2)</vt:lpstr>
      <vt:lpstr>Interaction among Components (2/2)</vt:lpstr>
      <vt:lpstr>Interaction with the End Users (1/4)</vt:lpstr>
      <vt:lpstr>Interaction with the End Users (2/4)</vt:lpstr>
      <vt:lpstr>Interaction with the End Users (3/4)</vt:lpstr>
      <vt:lpstr>Interaction with the End Users (4/4)</vt:lpstr>
      <vt:lpstr>Live Demo</vt:lpstr>
      <vt:lpstr>Conclusion and Next Steps</vt:lpstr>
      <vt:lpstr>Thank you !</vt:lpstr>
      <vt:lpstr> </vt:lpstr>
      <vt:lpstr>Manually specifying a Mapping Rule</vt:lpstr>
      <vt:lpstr>Example: Examination Outcome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TIM</dc:creator>
  <cp:lastModifiedBy>Thymios</cp:lastModifiedBy>
  <cp:revision>313</cp:revision>
  <dcterms:created xsi:type="dcterms:W3CDTF">2014-11-07T11:53:35Z</dcterms:created>
  <dcterms:modified xsi:type="dcterms:W3CDTF">2014-12-10T13:18:43Z</dcterms:modified>
</cp:coreProperties>
</file>