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tiff" ContentType="image/tiff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5" r:id="rId9"/>
    <p:sldId id="266" r:id="rId10"/>
    <p:sldId id="267" r:id="rId11"/>
    <p:sldId id="268" r:id="rId12"/>
    <p:sldId id="269" r:id="rId13"/>
    <p:sldId id="271" r:id="rId14"/>
    <p:sldId id="272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3" r:id="rId24"/>
    <p:sldId id="270" r:id="rId25"/>
    <p:sldId id="284" r:id="rId26"/>
    <p:sldId id="285" r:id="rId27"/>
    <p:sldId id="286" r:id="rId28"/>
    <p:sldId id="288" r:id="rId29"/>
    <p:sldId id="289" r:id="rId30"/>
    <p:sldId id="290" r:id="rId31"/>
    <p:sldId id="291" r:id="rId32"/>
    <p:sldId id="287" r:id="rId33"/>
    <p:sldId id="296" r:id="rId34"/>
    <p:sldId id="295" r:id="rId35"/>
    <p:sldId id="292" r:id="rId36"/>
    <p:sldId id="294" r:id="rId37"/>
    <p:sldId id="293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FF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75" d="100"/>
          <a:sy n="75" d="100"/>
        </p:scale>
        <p:origin x="-1656" y="-3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23CADC-9159-44A3-809F-D3290C784306}" type="datetimeFigureOut">
              <a:rPr lang="en-CA" smtClean="0"/>
              <a:pPr/>
              <a:t>15/12/2011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CFDB6B-B5A9-4275-B8BE-8587E0370142}" type="slidenum">
              <a:rPr lang="en-CA" smtClean="0"/>
              <a:pPr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39FB8FB-FF58-48F0-9C1A-A673C66DFEB1}" type="slidenum">
              <a:rPr lang="en-US"/>
              <a:pPr/>
              <a:t>2</a:t>
            </a:fld>
            <a:endParaRPr lang="en-US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FC731EF-61EA-4758-8A1A-12B70C69B9B8}" type="slidenum">
              <a:rPr lang="en-US"/>
              <a:pPr/>
              <a:t>7</a:t>
            </a:fld>
            <a:endParaRPr lang="en-US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7E43-01CE-4BA3-9267-DFDDA2950433}" type="datetimeFigureOut">
              <a:rPr lang="en-CA" smtClean="0"/>
              <a:pPr/>
              <a:t>15/12/2011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C27D6-78A5-4E00-89D3-5065B7FBF0F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7E43-01CE-4BA3-9267-DFDDA2950433}" type="datetimeFigureOut">
              <a:rPr lang="en-CA" smtClean="0"/>
              <a:pPr/>
              <a:t>15/12/2011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C27D6-78A5-4E00-89D3-5065B7FBF0F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7E43-01CE-4BA3-9267-DFDDA2950433}" type="datetimeFigureOut">
              <a:rPr lang="en-CA" smtClean="0"/>
              <a:pPr/>
              <a:t>15/12/2011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C27D6-78A5-4E00-89D3-5065B7FBF0F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7E43-01CE-4BA3-9267-DFDDA2950433}" type="datetimeFigureOut">
              <a:rPr lang="en-CA" smtClean="0"/>
              <a:pPr/>
              <a:t>15/12/2011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C27D6-78A5-4E00-89D3-5065B7FBF0F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7E43-01CE-4BA3-9267-DFDDA2950433}" type="datetimeFigureOut">
              <a:rPr lang="en-CA" smtClean="0"/>
              <a:pPr/>
              <a:t>15/12/2011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C27D6-78A5-4E00-89D3-5065B7FBF0F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7E43-01CE-4BA3-9267-DFDDA2950433}" type="datetimeFigureOut">
              <a:rPr lang="en-CA" smtClean="0"/>
              <a:pPr/>
              <a:t>15/12/2011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C27D6-78A5-4E00-89D3-5065B7FBF0F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7E43-01CE-4BA3-9267-DFDDA2950433}" type="datetimeFigureOut">
              <a:rPr lang="en-CA" smtClean="0"/>
              <a:pPr/>
              <a:t>15/12/2011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C27D6-78A5-4E00-89D3-5065B7FBF0F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7E43-01CE-4BA3-9267-DFDDA2950433}" type="datetimeFigureOut">
              <a:rPr lang="en-CA" smtClean="0"/>
              <a:pPr/>
              <a:t>15/12/2011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C27D6-78A5-4E00-89D3-5065B7FBF0F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7E43-01CE-4BA3-9267-DFDDA2950433}" type="datetimeFigureOut">
              <a:rPr lang="en-CA" smtClean="0"/>
              <a:pPr/>
              <a:t>15/12/2011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C27D6-78A5-4E00-89D3-5065B7FBF0F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7E43-01CE-4BA3-9267-DFDDA2950433}" type="datetimeFigureOut">
              <a:rPr lang="en-CA" smtClean="0"/>
              <a:pPr/>
              <a:t>15/12/2011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C27D6-78A5-4E00-89D3-5065B7FBF0F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7E43-01CE-4BA3-9267-DFDDA2950433}" type="datetimeFigureOut">
              <a:rPr lang="en-CA" smtClean="0"/>
              <a:pPr/>
              <a:t>15/12/2011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C27D6-78A5-4E00-89D3-5065B7FBF0F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C7E43-01CE-4BA3-9267-DFDDA2950433}" type="datetimeFigureOut">
              <a:rPr lang="en-CA" smtClean="0"/>
              <a:pPr/>
              <a:t>15/12/2011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C27D6-78A5-4E00-89D3-5065B7FBF0F3}" type="slidenum">
              <a:rPr lang="en-CA" smtClean="0"/>
              <a:pPr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tif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tiff"/><Relationship Id="rId3" Type="http://schemas.openxmlformats.org/officeDocument/2006/relationships/image" Target="../media/image29.png"/><Relationship Id="rId7" Type="http://schemas.openxmlformats.org/officeDocument/2006/relationships/image" Target="../media/image33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jpeg"/><Relationship Id="rId9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204864"/>
            <a:ext cx="38100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4067944" y="1196752"/>
            <a:ext cx="459305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3600" dirty="0" smtClean="0"/>
              <a:t>The SADI plug-in to the </a:t>
            </a:r>
            <a:br>
              <a:rPr lang="en-CA" sz="3600" dirty="0" smtClean="0"/>
            </a:br>
            <a:r>
              <a:rPr lang="en-CA" sz="3600" dirty="0" smtClean="0"/>
              <a:t>IO Informatics’</a:t>
            </a:r>
          </a:p>
          <a:p>
            <a:pPr algn="ctr"/>
            <a:r>
              <a:rPr lang="en-CA" sz="3600" dirty="0" smtClean="0"/>
              <a:t>Knowledge Explorer</a:t>
            </a:r>
            <a:endParaRPr lang="en-CA" sz="3600" dirty="0"/>
          </a:p>
        </p:txBody>
      </p:sp>
      <p:sp>
        <p:nvSpPr>
          <p:cNvPr id="7" name="TextBox 6"/>
          <p:cNvSpPr txBox="1"/>
          <p:nvPr/>
        </p:nvSpPr>
        <p:spPr>
          <a:xfrm>
            <a:off x="3995936" y="4725144"/>
            <a:ext cx="39109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 smtClean="0"/>
              <a:t>...a quick explanation of how </a:t>
            </a:r>
            <a:br>
              <a:rPr lang="en-CA" sz="2400" dirty="0" smtClean="0"/>
            </a:br>
            <a:r>
              <a:rPr lang="en-CA" sz="2400" dirty="0" smtClean="0"/>
              <a:t>we “boot-strap” semantics...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544" y="4293096"/>
            <a:ext cx="8208912" cy="1752600"/>
          </a:xfrm>
        </p:spPr>
        <p:txBody>
          <a:bodyPr anchor="ctr">
            <a:normAutofit fontScale="70000" lnSpcReduction="20000"/>
          </a:bodyPr>
          <a:lstStyle/>
          <a:p>
            <a:r>
              <a:rPr lang="en-US" sz="4600" dirty="0" smtClean="0"/>
              <a:t>Semantic Automated Discovery and Integration</a:t>
            </a:r>
          </a:p>
          <a:p>
            <a:endParaRPr lang="en-US" sz="2800" dirty="0"/>
          </a:p>
          <a:p>
            <a:endParaRPr lang="en-US" sz="2800" dirty="0" smtClean="0"/>
          </a:p>
          <a:p>
            <a:r>
              <a:rPr lang="en-US" sz="2800" dirty="0" smtClean="0"/>
              <a:t>A simple set of Semantic Web Service design patterns</a:t>
            </a:r>
            <a:br>
              <a:rPr lang="en-US" sz="2800" dirty="0" smtClean="0"/>
            </a:br>
            <a:r>
              <a:rPr lang="en-US" sz="2800" dirty="0" smtClean="0"/>
              <a:t>that result in greatly-improved interoperability and discoverability</a:t>
            </a:r>
            <a:endParaRPr lang="en-US" sz="28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 l="3844" t="13672" r="8858" b="6250"/>
          <a:stretch>
            <a:fillRect/>
          </a:stretch>
        </p:blipFill>
        <p:spPr bwMode="auto">
          <a:xfrm>
            <a:off x="642910" y="0"/>
            <a:ext cx="7858125" cy="405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 l="3844" t="13672" r="8858" b="6250"/>
          <a:stretch>
            <a:fillRect/>
          </a:stretch>
        </p:blipFill>
        <p:spPr bwMode="auto">
          <a:xfrm>
            <a:off x="467544" y="260648"/>
            <a:ext cx="3297688" cy="1700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4572000" y="548680"/>
            <a:ext cx="38072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 smtClean="0"/>
              <a:t>SADI in a nutshell...</a:t>
            </a:r>
            <a:endParaRPr lang="en-CA" sz="3600" dirty="0"/>
          </a:p>
        </p:txBody>
      </p:sp>
      <p:sp>
        <p:nvSpPr>
          <p:cNvPr id="5" name="Folded Corner 4"/>
          <p:cNvSpPr/>
          <p:nvPr/>
        </p:nvSpPr>
        <p:spPr>
          <a:xfrm>
            <a:off x="3059832" y="2127933"/>
            <a:ext cx="3672408" cy="3821347"/>
          </a:xfrm>
          <a:prstGeom prst="foldedCorner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3215959" y="2127933"/>
            <a:ext cx="3503468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u="sng" dirty="0" smtClean="0"/>
              <a:t>Service Description</a:t>
            </a:r>
          </a:p>
          <a:p>
            <a:pPr algn="ctr"/>
            <a:endParaRPr lang="en-CA" u="sng" dirty="0" smtClean="0"/>
          </a:p>
          <a:p>
            <a:r>
              <a:rPr lang="en-CA" b="1" dirty="0" smtClean="0">
                <a:solidFill>
                  <a:srgbClr val="0070C0"/>
                </a:solidFill>
              </a:rPr>
              <a:t>INPUT OWL Class</a:t>
            </a:r>
          </a:p>
          <a:p>
            <a:r>
              <a:rPr lang="en-CA" b="1" dirty="0" err="1" smtClean="0"/>
              <a:t>NamedIndividual</a:t>
            </a:r>
            <a:r>
              <a:rPr lang="en-CA" b="1" dirty="0" smtClean="0"/>
              <a:t>:</a:t>
            </a:r>
            <a:r>
              <a:rPr lang="en-CA" dirty="0" smtClean="0"/>
              <a:t> things with </a:t>
            </a:r>
          </a:p>
          <a:p>
            <a:r>
              <a:rPr lang="en-CA" dirty="0"/>
              <a:t> </a:t>
            </a:r>
            <a:r>
              <a:rPr lang="en-CA" dirty="0" smtClean="0"/>
              <a:t>           a “name” property</a:t>
            </a:r>
            <a:br>
              <a:rPr lang="en-CA" dirty="0" smtClean="0"/>
            </a:br>
            <a:r>
              <a:rPr lang="en-CA" dirty="0" smtClean="0"/>
              <a:t>            from “</a:t>
            </a:r>
            <a:r>
              <a:rPr lang="en-CA" dirty="0" err="1" smtClean="0"/>
              <a:t>foaf</a:t>
            </a:r>
            <a:r>
              <a:rPr lang="en-CA" dirty="0" smtClean="0"/>
              <a:t>” ontology</a:t>
            </a:r>
            <a:br>
              <a:rPr lang="en-CA" dirty="0" smtClean="0"/>
            </a:br>
            <a:endParaRPr lang="en-CA" dirty="0" smtClean="0"/>
          </a:p>
          <a:p>
            <a:r>
              <a:rPr lang="en-CA" b="1" dirty="0" smtClean="0"/>
              <a:t/>
            </a:r>
            <a:br>
              <a:rPr lang="en-CA" b="1" dirty="0" smtClean="0"/>
            </a:br>
            <a:r>
              <a:rPr lang="en-CA" b="1" dirty="0" smtClean="0">
                <a:solidFill>
                  <a:srgbClr val="0070C0"/>
                </a:solidFill>
              </a:rPr>
              <a:t>OUTPUT OWL Class</a:t>
            </a:r>
            <a:endParaRPr lang="en-CA" dirty="0" smtClean="0">
              <a:solidFill>
                <a:srgbClr val="0070C0"/>
              </a:solidFill>
            </a:endParaRPr>
          </a:p>
          <a:p>
            <a:r>
              <a:rPr lang="en-CA" b="1" dirty="0" err="1" smtClean="0"/>
              <a:t>GreetedIndividual</a:t>
            </a:r>
            <a:r>
              <a:rPr lang="en-CA" b="1" dirty="0" smtClean="0"/>
              <a:t>:</a:t>
            </a:r>
            <a:r>
              <a:rPr lang="en-CA" dirty="0" smtClean="0"/>
              <a:t> things with </a:t>
            </a:r>
          </a:p>
          <a:p>
            <a:r>
              <a:rPr lang="en-CA" dirty="0"/>
              <a:t> </a:t>
            </a:r>
            <a:r>
              <a:rPr lang="en-CA" dirty="0" smtClean="0"/>
              <a:t>      a “greeting” property</a:t>
            </a:r>
          </a:p>
          <a:p>
            <a:r>
              <a:rPr lang="en-CA" dirty="0"/>
              <a:t> </a:t>
            </a:r>
            <a:r>
              <a:rPr lang="en-CA" dirty="0" smtClean="0"/>
              <a:t>      from “hello” ontology </a:t>
            </a:r>
            <a:endParaRPr lang="en-CA" dirty="0"/>
          </a:p>
        </p:txBody>
      </p:sp>
      <p:sp>
        <p:nvSpPr>
          <p:cNvPr id="7" name="TextBox 6"/>
          <p:cNvSpPr txBox="1"/>
          <p:nvPr/>
        </p:nvSpPr>
        <p:spPr>
          <a:xfrm>
            <a:off x="1553285" y="6402814"/>
            <a:ext cx="69791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 smtClean="0"/>
              <a:t>An </a:t>
            </a:r>
            <a:r>
              <a:rPr lang="en-CA" sz="1600" dirty="0" err="1" smtClean="0"/>
              <a:t>owl:Individual</a:t>
            </a:r>
            <a:r>
              <a:rPr lang="en-CA" sz="1600" dirty="0" smtClean="0"/>
              <a:t> of the </a:t>
            </a:r>
            <a:r>
              <a:rPr lang="en-CA" sz="1600" dirty="0" err="1" smtClean="0"/>
              <a:t>ServiceDescription</a:t>
            </a:r>
            <a:r>
              <a:rPr lang="en-CA" sz="1600" dirty="0"/>
              <a:t> </a:t>
            </a:r>
            <a:r>
              <a:rPr lang="en-CA" sz="1600" dirty="0" smtClean="0"/>
              <a:t>class from the myGrid/Moby ontology</a:t>
            </a:r>
            <a:endParaRPr lang="en-CA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235896" y="4797152"/>
            <a:ext cx="5908104" cy="1872208"/>
            <a:chOff x="1617948" y="4725144"/>
            <a:chExt cx="5908104" cy="1872208"/>
          </a:xfrm>
        </p:grpSpPr>
        <p:grpSp>
          <p:nvGrpSpPr>
            <p:cNvPr id="3" name="Group 40"/>
            <p:cNvGrpSpPr/>
            <p:nvPr/>
          </p:nvGrpSpPr>
          <p:grpSpPr>
            <a:xfrm>
              <a:off x="1617948" y="4725144"/>
              <a:ext cx="5908104" cy="1401173"/>
              <a:chOff x="476672" y="467544"/>
              <a:chExt cx="5908104" cy="1401173"/>
            </a:xfrm>
          </p:grpSpPr>
          <p:pic>
            <p:nvPicPr>
              <p:cNvPr id="12" name="Picture 2" descr="C:\Users\Mark\AppData\Local\Microsoft\Windows\Temporary Internet Files\Content.IE5\14AAM3A9\MC910216349[1]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476672" y="467544"/>
                <a:ext cx="1653942" cy="1401173"/>
              </a:xfrm>
              <a:prstGeom prst="rect">
                <a:avLst/>
              </a:prstGeom>
              <a:noFill/>
            </p:spPr>
          </p:pic>
          <p:pic>
            <p:nvPicPr>
              <p:cNvPr id="13" name="Picture 3" descr="C:\Users\Mark\AppData\Local\Microsoft\Windows\Temporary Internet Files\Content.IE5\VXSDO765\MC900434845[1]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5013176" y="467544"/>
                <a:ext cx="1371600" cy="1371600"/>
              </a:xfrm>
              <a:prstGeom prst="rect">
                <a:avLst/>
              </a:prstGeom>
              <a:noFill/>
            </p:spPr>
          </p:pic>
        </p:grpSp>
        <p:sp>
          <p:nvSpPr>
            <p:cNvPr id="4" name="Oval 3"/>
            <p:cNvSpPr/>
            <p:nvPr/>
          </p:nvSpPr>
          <p:spPr>
            <a:xfrm>
              <a:off x="4210236" y="5301208"/>
              <a:ext cx="1008112" cy="57606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50" b="1" dirty="0" smtClean="0">
                  <a:solidFill>
                    <a:schemeClr val="tx1"/>
                  </a:solidFill>
                </a:rPr>
                <a:t>person:1</a:t>
              </a:r>
              <a:endParaRPr lang="en-CA" sz="1050" b="1" dirty="0">
                <a:solidFill>
                  <a:schemeClr val="tx1"/>
                </a:solidFill>
              </a:endParaRPr>
            </a:p>
          </p:txBody>
        </p:sp>
        <p:cxnSp>
          <p:nvCxnSpPr>
            <p:cNvPr id="5" name="Straight Connector 4"/>
            <p:cNvCxnSpPr>
              <a:stCxn id="4" idx="3"/>
            </p:cNvCxnSpPr>
            <p:nvPr/>
          </p:nvCxnSpPr>
          <p:spPr>
            <a:xfrm rot="5400000">
              <a:off x="3989845" y="5869285"/>
              <a:ext cx="444402" cy="2916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>
              <a:stCxn id="4" idx="5"/>
            </p:cNvCxnSpPr>
            <p:nvPr/>
          </p:nvCxnSpPr>
          <p:spPr>
            <a:xfrm rot="16200000" flipH="1">
              <a:off x="4994338" y="5869284"/>
              <a:ext cx="444402" cy="29165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4858308" y="6165304"/>
              <a:ext cx="1440160" cy="432048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100" dirty="0" err="1">
                  <a:solidFill>
                    <a:schemeClr val="tx1"/>
                  </a:solidFill>
                </a:rPr>
                <a:t>h</a:t>
              </a:r>
              <a:r>
                <a:rPr lang="en-CA" sz="1100" dirty="0" err="1" smtClean="0">
                  <a:solidFill>
                    <a:schemeClr val="tx1"/>
                  </a:solidFill>
                </a:rPr>
                <a:t>ello:Greeted</a:t>
              </a:r>
              <a:r>
                <a:rPr lang="en-CA" sz="1100" dirty="0" smtClean="0">
                  <a:solidFill>
                    <a:schemeClr val="tx1"/>
                  </a:solidFill>
                </a:rPr>
                <a:t> Individual</a:t>
              </a:r>
              <a:endParaRPr lang="en-CA" sz="1100" dirty="0">
                <a:solidFill>
                  <a:schemeClr val="tx1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192965" y="5847075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000" i="1" dirty="0" err="1" smtClean="0"/>
                <a:t>rdf:type</a:t>
              </a:r>
              <a:endParaRPr lang="en-CA" sz="1000" i="1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986100" y="6237312"/>
              <a:ext cx="1584176" cy="360040"/>
            </a:xfrm>
            <a:prstGeom prst="rect">
              <a:avLst/>
            </a:prstGeom>
            <a:solidFill>
              <a:schemeClr val="bg2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200" dirty="0" smtClean="0">
                  <a:solidFill>
                    <a:schemeClr val="tx1"/>
                  </a:solidFill>
                </a:rPr>
                <a:t>Hello, Guy Incognito!</a:t>
              </a:r>
              <a:endParaRPr lang="en-CA" sz="1200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349588" y="5847075"/>
              <a:ext cx="90281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000" i="1" dirty="0" err="1" smtClean="0"/>
                <a:t>hello:greeting</a:t>
              </a:r>
              <a:endParaRPr lang="en-CA" sz="1000" i="1" dirty="0"/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rot="10800000" flipV="1">
              <a:off x="3274132" y="5157192"/>
              <a:ext cx="2882562" cy="1478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2085492" y="2800421"/>
            <a:ext cx="8496944" cy="1996731"/>
            <a:chOff x="467544" y="2728413"/>
            <a:chExt cx="8496944" cy="1996731"/>
          </a:xfrm>
        </p:grpSpPr>
        <p:grpSp>
          <p:nvGrpSpPr>
            <p:cNvPr id="15" name="Group 28"/>
            <p:cNvGrpSpPr/>
            <p:nvPr/>
          </p:nvGrpSpPr>
          <p:grpSpPr>
            <a:xfrm>
              <a:off x="1617948" y="2728413"/>
              <a:ext cx="5908104" cy="1401173"/>
              <a:chOff x="476672" y="467544"/>
              <a:chExt cx="5908104" cy="1401173"/>
            </a:xfrm>
          </p:grpSpPr>
          <p:pic>
            <p:nvPicPr>
              <p:cNvPr id="26" name="Picture 2" descr="C:\Users\Mark\AppData\Local\Microsoft\Windows\Temporary Internet Files\Content.IE5\14AAM3A9\MC910216349[1]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476672" y="467544"/>
                <a:ext cx="1653942" cy="1401173"/>
              </a:xfrm>
              <a:prstGeom prst="rect">
                <a:avLst/>
              </a:prstGeom>
              <a:noFill/>
            </p:spPr>
          </p:pic>
          <p:pic>
            <p:nvPicPr>
              <p:cNvPr id="27" name="Picture 3" descr="C:\Users\Mark\AppData\Local\Microsoft\Windows\Temporary Internet Files\Content.IE5\VXSDO765\MC900434845[1]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5013176" y="467544"/>
                <a:ext cx="1371600" cy="1371600"/>
              </a:xfrm>
              <a:prstGeom prst="rect">
                <a:avLst/>
              </a:prstGeom>
              <a:noFill/>
            </p:spPr>
          </p:pic>
        </p:grpSp>
        <p:cxnSp>
          <p:nvCxnSpPr>
            <p:cNvPr id="16" name="Straight Arrow Connector 15"/>
            <p:cNvCxnSpPr/>
            <p:nvPr/>
          </p:nvCxnSpPr>
          <p:spPr>
            <a:xfrm>
              <a:off x="3346140" y="3160461"/>
              <a:ext cx="2880320" cy="158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3706180" y="2872429"/>
              <a:ext cx="210025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000" b="1" dirty="0" smtClean="0"/>
                <a:t>POST </a:t>
              </a:r>
              <a:r>
                <a:rPr lang="en-CA" sz="1000" dirty="0" smtClean="0"/>
                <a:t> http://example.org/myservice</a:t>
              </a:r>
              <a:endParaRPr lang="en-CA" sz="1000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4210236" y="3304477"/>
              <a:ext cx="1008112" cy="57606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50" b="1" dirty="0" smtClean="0">
                  <a:solidFill>
                    <a:schemeClr val="tx1"/>
                  </a:solidFill>
                </a:rPr>
                <a:t>person:1</a:t>
              </a:r>
              <a:endParaRPr lang="en-CA" sz="1050" b="1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Straight Connector 18"/>
            <p:cNvCxnSpPr>
              <a:stCxn id="18" idx="3"/>
            </p:cNvCxnSpPr>
            <p:nvPr/>
          </p:nvCxnSpPr>
          <p:spPr>
            <a:xfrm rot="5400000">
              <a:off x="3989846" y="3872555"/>
              <a:ext cx="444402" cy="2916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>
              <a:stCxn id="18" idx="5"/>
            </p:cNvCxnSpPr>
            <p:nvPr/>
          </p:nvCxnSpPr>
          <p:spPr>
            <a:xfrm rot="16200000" flipH="1">
              <a:off x="4994337" y="3872554"/>
              <a:ext cx="444402" cy="2916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/>
            <p:cNvSpPr/>
            <p:nvPr/>
          </p:nvSpPr>
          <p:spPr>
            <a:xfrm>
              <a:off x="4930316" y="4168573"/>
              <a:ext cx="1296144" cy="432048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100" dirty="0" err="1" smtClean="0">
                  <a:solidFill>
                    <a:schemeClr val="tx1"/>
                  </a:solidFill>
                </a:rPr>
                <a:t>hello:NamedIndividual</a:t>
              </a:r>
              <a:endParaRPr lang="en-CA" sz="1100" dirty="0">
                <a:solidFill>
                  <a:schemeClr val="tx1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196413" y="3850344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000" i="1" dirty="0" err="1" smtClean="0"/>
                <a:t>rdf:type</a:t>
              </a:r>
              <a:endParaRPr lang="en-CA" sz="1000" i="1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202124" y="4240581"/>
              <a:ext cx="1368152" cy="360040"/>
            </a:xfrm>
            <a:prstGeom prst="rect">
              <a:avLst/>
            </a:prstGeom>
            <a:solidFill>
              <a:schemeClr val="bg2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200" dirty="0" smtClean="0">
                  <a:solidFill>
                    <a:schemeClr val="tx1"/>
                  </a:solidFill>
                </a:rPr>
                <a:t>Guy Incognito</a:t>
              </a:r>
              <a:endParaRPr lang="en-CA" sz="1200" dirty="0">
                <a:solidFill>
                  <a:schemeClr val="tx1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563778" y="3850344"/>
              <a:ext cx="71846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000" i="1" dirty="0" err="1" smtClean="0"/>
                <a:t>foaf:name</a:t>
              </a:r>
              <a:endParaRPr lang="en-CA" sz="1000" i="1" dirty="0"/>
            </a:p>
          </p:txBody>
        </p:sp>
        <p:cxnSp>
          <p:nvCxnSpPr>
            <p:cNvPr id="25" name="Straight Connector 24"/>
            <p:cNvCxnSpPr/>
            <p:nvPr/>
          </p:nvCxnSpPr>
          <p:spPr>
            <a:xfrm>
              <a:off x="467544" y="4725144"/>
              <a:ext cx="849694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4" cstate="print"/>
          <a:srcRect l="3844" t="13672" r="8858" b="6250"/>
          <a:stretch>
            <a:fillRect/>
          </a:stretch>
        </p:blipFill>
        <p:spPr bwMode="auto">
          <a:xfrm>
            <a:off x="467544" y="260648"/>
            <a:ext cx="3297688" cy="1700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TextBox 28"/>
          <p:cNvSpPr txBox="1"/>
          <p:nvPr/>
        </p:nvSpPr>
        <p:spPr>
          <a:xfrm>
            <a:off x="4572000" y="548680"/>
            <a:ext cx="38072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 smtClean="0"/>
              <a:t>SADI in a nutshell...</a:t>
            </a:r>
            <a:endParaRPr lang="en-CA" sz="3600" dirty="0"/>
          </a:p>
        </p:txBody>
      </p:sp>
      <p:sp>
        <p:nvSpPr>
          <p:cNvPr id="30" name="Folded Corner 29"/>
          <p:cNvSpPr/>
          <p:nvPr/>
        </p:nvSpPr>
        <p:spPr>
          <a:xfrm>
            <a:off x="179512" y="3573016"/>
            <a:ext cx="2316367" cy="2520280"/>
          </a:xfrm>
          <a:prstGeom prst="foldedCorner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800" dirty="0"/>
          </a:p>
        </p:txBody>
      </p:sp>
      <p:sp>
        <p:nvSpPr>
          <p:cNvPr id="31" name="TextBox 30"/>
          <p:cNvSpPr txBox="1"/>
          <p:nvPr/>
        </p:nvSpPr>
        <p:spPr>
          <a:xfrm>
            <a:off x="323528" y="3573016"/>
            <a:ext cx="208823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u="sng" dirty="0" smtClean="0"/>
              <a:t>Service Description</a:t>
            </a:r>
          </a:p>
          <a:p>
            <a:pPr algn="ctr"/>
            <a:endParaRPr lang="en-CA" sz="1200" u="sng" dirty="0" smtClean="0"/>
          </a:p>
          <a:p>
            <a:r>
              <a:rPr lang="en-CA" sz="1200" b="1" dirty="0" smtClean="0">
                <a:solidFill>
                  <a:srgbClr val="0070C0"/>
                </a:solidFill>
              </a:rPr>
              <a:t>INPUT OWL Class</a:t>
            </a:r>
          </a:p>
          <a:p>
            <a:r>
              <a:rPr lang="en-CA" sz="1200" b="1" dirty="0" err="1" smtClean="0"/>
              <a:t>NamedIndividual</a:t>
            </a:r>
            <a:r>
              <a:rPr lang="en-CA" sz="1200" b="1" dirty="0" smtClean="0"/>
              <a:t>:</a:t>
            </a:r>
            <a:r>
              <a:rPr lang="en-CA" sz="1200" dirty="0" smtClean="0"/>
              <a:t> things with </a:t>
            </a:r>
          </a:p>
          <a:p>
            <a:r>
              <a:rPr lang="en-CA" sz="1200" dirty="0"/>
              <a:t> </a:t>
            </a:r>
            <a:r>
              <a:rPr lang="en-CA" sz="1200" dirty="0" smtClean="0"/>
              <a:t>           a “name” property</a:t>
            </a:r>
            <a:br>
              <a:rPr lang="en-CA" sz="1200" dirty="0" smtClean="0"/>
            </a:br>
            <a:r>
              <a:rPr lang="en-CA" sz="1200" dirty="0" smtClean="0"/>
              <a:t>            from “</a:t>
            </a:r>
            <a:r>
              <a:rPr lang="en-CA" sz="1200" dirty="0" err="1" smtClean="0"/>
              <a:t>foaf</a:t>
            </a:r>
            <a:r>
              <a:rPr lang="en-CA" sz="1200" dirty="0" smtClean="0"/>
              <a:t>” ontology</a:t>
            </a:r>
            <a:br>
              <a:rPr lang="en-CA" sz="1200" dirty="0" smtClean="0"/>
            </a:br>
            <a:endParaRPr lang="en-CA" sz="1200" dirty="0" smtClean="0"/>
          </a:p>
          <a:p>
            <a:r>
              <a:rPr lang="en-CA" sz="1200" b="1" dirty="0" smtClean="0"/>
              <a:t/>
            </a:r>
            <a:br>
              <a:rPr lang="en-CA" sz="1200" b="1" dirty="0" smtClean="0"/>
            </a:br>
            <a:r>
              <a:rPr lang="en-CA" sz="1200" b="1" dirty="0" smtClean="0">
                <a:solidFill>
                  <a:srgbClr val="0070C0"/>
                </a:solidFill>
              </a:rPr>
              <a:t>OUTPUT OWL Class</a:t>
            </a:r>
            <a:endParaRPr lang="en-CA" sz="1200" dirty="0" smtClean="0">
              <a:solidFill>
                <a:srgbClr val="0070C0"/>
              </a:solidFill>
            </a:endParaRPr>
          </a:p>
          <a:p>
            <a:r>
              <a:rPr lang="en-CA" sz="1200" b="1" dirty="0" err="1" smtClean="0"/>
              <a:t>GreetedIndividual</a:t>
            </a:r>
            <a:r>
              <a:rPr lang="en-CA" sz="1200" b="1" dirty="0" smtClean="0"/>
              <a:t>:</a:t>
            </a:r>
            <a:r>
              <a:rPr lang="en-CA" sz="1200" dirty="0" smtClean="0"/>
              <a:t> things with </a:t>
            </a:r>
          </a:p>
          <a:p>
            <a:r>
              <a:rPr lang="en-CA" sz="1200" dirty="0"/>
              <a:t> </a:t>
            </a:r>
            <a:r>
              <a:rPr lang="en-CA" sz="1200" dirty="0" smtClean="0"/>
              <a:t>      a “greeting” property</a:t>
            </a:r>
          </a:p>
          <a:p>
            <a:r>
              <a:rPr lang="en-CA" sz="1200" dirty="0"/>
              <a:t> </a:t>
            </a:r>
            <a:r>
              <a:rPr lang="en-CA" sz="1200" dirty="0" smtClean="0"/>
              <a:t>      from “hello” ontology </a:t>
            </a:r>
            <a:endParaRPr lang="en-CA" sz="1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2" cstate="print"/>
          <a:srcRect l="3844" t="13672" r="8858" b="6250"/>
          <a:stretch>
            <a:fillRect/>
          </a:stretch>
        </p:blipFill>
        <p:spPr bwMode="auto">
          <a:xfrm>
            <a:off x="467544" y="260648"/>
            <a:ext cx="3297688" cy="1700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TextBox 28"/>
          <p:cNvSpPr txBox="1"/>
          <p:nvPr/>
        </p:nvSpPr>
        <p:spPr>
          <a:xfrm>
            <a:off x="4572000" y="548680"/>
            <a:ext cx="38072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 smtClean="0"/>
              <a:t>SADI in a nutshell...</a:t>
            </a:r>
            <a:endParaRPr lang="en-CA" sz="3600" dirty="0"/>
          </a:p>
        </p:txBody>
      </p:sp>
      <p:grpSp>
        <p:nvGrpSpPr>
          <p:cNvPr id="34" name="Group 33"/>
          <p:cNvGrpSpPr/>
          <p:nvPr/>
        </p:nvGrpSpPr>
        <p:grpSpPr>
          <a:xfrm>
            <a:off x="179512" y="2393504"/>
            <a:ext cx="3672407" cy="3483768"/>
            <a:chOff x="179512" y="3573016"/>
            <a:chExt cx="2232248" cy="5548406"/>
          </a:xfrm>
        </p:grpSpPr>
        <p:sp>
          <p:nvSpPr>
            <p:cNvPr id="30" name="Folded Corner 29"/>
            <p:cNvSpPr/>
            <p:nvPr/>
          </p:nvSpPr>
          <p:spPr>
            <a:xfrm>
              <a:off x="179512" y="3573016"/>
              <a:ext cx="1898661" cy="5548406"/>
            </a:xfrm>
            <a:prstGeom prst="foldedCorner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4000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23528" y="3573016"/>
              <a:ext cx="2088232" cy="5195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400" u="sng" dirty="0" smtClean="0"/>
                <a:t>Service Description</a:t>
              </a:r>
            </a:p>
            <a:p>
              <a:pPr algn="ctr"/>
              <a:endParaRPr lang="en-CA" sz="1600" u="sng" dirty="0" smtClean="0"/>
            </a:p>
            <a:p>
              <a:r>
                <a:rPr lang="en-CA" sz="1600" b="1" dirty="0" smtClean="0">
                  <a:solidFill>
                    <a:srgbClr val="0070C0"/>
                  </a:solidFill>
                </a:rPr>
                <a:t>INPUT OWL Class</a:t>
              </a:r>
            </a:p>
            <a:p>
              <a:r>
                <a:rPr lang="en-CA" sz="1600" b="1" dirty="0" err="1" smtClean="0"/>
                <a:t>NamedIndividual</a:t>
              </a:r>
              <a:r>
                <a:rPr lang="en-CA" sz="1600" b="1" dirty="0" smtClean="0"/>
                <a:t>:</a:t>
              </a:r>
              <a:r>
                <a:rPr lang="en-CA" sz="1600" dirty="0" smtClean="0"/>
                <a:t> things with </a:t>
              </a:r>
            </a:p>
            <a:p>
              <a:r>
                <a:rPr lang="en-CA" sz="1600" dirty="0"/>
                <a:t> </a:t>
              </a:r>
              <a:r>
                <a:rPr lang="en-CA" sz="1600" dirty="0" smtClean="0"/>
                <a:t>           a “name” property</a:t>
              </a:r>
              <a:br>
                <a:rPr lang="en-CA" sz="1600" dirty="0" smtClean="0"/>
              </a:br>
              <a:r>
                <a:rPr lang="en-CA" sz="1600" dirty="0" smtClean="0"/>
                <a:t>            from “</a:t>
              </a:r>
              <a:r>
                <a:rPr lang="en-CA" sz="1600" dirty="0" err="1" smtClean="0"/>
                <a:t>foaf</a:t>
              </a:r>
              <a:r>
                <a:rPr lang="en-CA" sz="1600" dirty="0" smtClean="0"/>
                <a:t>” ontology</a:t>
              </a:r>
              <a:br>
                <a:rPr lang="en-CA" sz="1600" dirty="0" smtClean="0"/>
              </a:br>
              <a:endParaRPr lang="en-CA" sz="1600" dirty="0" smtClean="0"/>
            </a:p>
            <a:p>
              <a:r>
                <a:rPr lang="en-CA" sz="1600" b="1" dirty="0" smtClean="0"/>
                <a:t/>
              </a:r>
              <a:br>
                <a:rPr lang="en-CA" sz="1600" b="1" dirty="0" smtClean="0"/>
              </a:br>
              <a:r>
                <a:rPr lang="en-CA" sz="1600" b="1" dirty="0" smtClean="0">
                  <a:solidFill>
                    <a:srgbClr val="0070C0"/>
                  </a:solidFill>
                </a:rPr>
                <a:t>OUTPUT OWL Class</a:t>
              </a:r>
              <a:endParaRPr lang="en-CA" sz="1600" dirty="0" smtClean="0">
                <a:solidFill>
                  <a:srgbClr val="0070C0"/>
                </a:solidFill>
              </a:endParaRPr>
            </a:p>
            <a:p>
              <a:r>
                <a:rPr lang="en-CA" sz="1600" b="1" dirty="0" err="1" smtClean="0"/>
                <a:t>GreetedIndividual</a:t>
              </a:r>
              <a:r>
                <a:rPr lang="en-CA" sz="1600" b="1" dirty="0" smtClean="0"/>
                <a:t>:</a:t>
              </a:r>
              <a:r>
                <a:rPr lang="en-CA" sz="1600" dirty="0" smtClean="0"/>
                <a:t> things with </a:t>
              </a:r>
            </a:p>
            <a:p>
              <a:r>
                <a:rPr lang="en-CA" sz="1600" dirty="0"/>
                <a:t> </a:t>
              </a:r>
              <a:r>
                <a:rPr lang="en-CA" sz="1600" dirty="0" smtClean="0"/>
                <a:t>      a “greeting” property</a:t>
              </a:r>
            </a:p>
            <a:p>
              <a:r>
                <a:rPr lang="en-CA" sz="1600" dirty="0"/>
                <a:t> </a:t>
              </a:r>
              <a:r>
                <a:rPr lang="en-CA" sz="1600" dirty="0" smtClean="0"/>
                <a:t>      from “hello” ontology </a:t>
              </a:r>
              <a:endParaRPr lang="en-CA" sz="1600" dirty="0"/>
            </a:p>
          </p:txBody>
        </p:sp>
      </p:grpSp>
      <p:sp>
        <p:nvSpPr>
          <p:cNvPr id="32" name="Right Brace 31"/>
          <p:cNvSpPr/>
          <p:nvPr/>
        </p:nvSpPr>
        <p:spPr>
          <a:xfrm>
            <a:off x="3491880" y="3573016"/>
            <a:ext cx="216024" cy="504056"/>
          </a:xfrm>
          <a:prstGeom prst="rightBrace">
            <a:avLst>
              <a:gd name="adj1" fmla="val 39670"/>
              <a:gd name="adj2" fmla="val 47604"/>
            </a:avLst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Right Brace 32"/>
          <p:cNvSpPr/>
          <p:nvPr/>
        </p:nvSpPr>
        <p:spPr>
          <a:xfrm>
            <a:off x="3491880" y="5013176"/>
            <a:ext cx="216024" cy="504056"/>
          </a:xfrm>
          <a:prstGeom prst="rightBrace">
            <a:avLst>
              <a:gd name="adj1" fmla="val 41667"/>
              <a:gd name="adj2" fmla="val 50000"/>
            </a:avLst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5" name="TextBox 34"/>
          <p:cNvSpPr txBox="1"/>
          <p:nvPr/>
        </p:nvSpPr>
        <p:spPr>
          <a:xfrm>
            <a:off x="3923928" y="3429000"/>
            <a:ext cx="2376264" cy="230832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u="sng" dirty="0" smtClean="0">
                <a:latin typeface="Courier New" pitchFamily="49" charset="0"/>
                <a:cs typeface="Courier New" pitchFamily="49" charset="0"/>
              </a:rPr>
              <a:t>INDEX</a:t>
            </a:r>
          </a:p>
          <a:p>
            <a:endParaRPr lang="en-CA" dirty="0">
              <a:latin typeface="Courier New" pitchFamily="49" charset="0"/>
              <a:cs typeface="Courier New" pitchFamily="49" charset="0"/>
            </a:endParaRPr>
          </a:p>
          <a:p>
            <a:pPr algn="ctr"/>
            <a:r>
              <a:rPr lang="en-CA" dirty="0" smtClean="0">
                <a:latin typeface="Courier New" pitchFamily="49" charset="0"/>
                <a:cs typeface="Courier New" pitchFamily="49" charset="0"/>
              </a:rPr>
              <a:t>The service provides a “greeting” property based on a “name” property</a:t>
            </a:r>
            <a:endParaRPr lang="en-CA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6444208" y="4653136"/>
            <a:ext cx="936104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n 37"/>
          <p:cNvSpPr/>
          <p:nvPr/>
        </p:nvSpPr>
        <p:spPr>
          <a:xfrm>
            <a:off x="7452320" y="4005064"/>
            <a:ext cx="1584176" cy="1296144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>
                <a:solidFill>
                  <a:schemeClr val="tx1"/>
                </a:solidFill>
              </a:rPr>
              <a:t>Registry</a:t>
            </a:r>
          </a:p>
          <a:p>
            <a:pPr algn="ctr"/>
            <a:endParaRPr lang="en-CA" dirty="0">
              <a:solidFill>
                <a:schemeClr val="tx1"/>
              </a:solidFill>
            </a:endParaRPr>
          </a:p>
          <a:p>
            <a:pPr algn="ctr"/>
            <a:endParaRPr lang="en-CA" dirty="0" smtClean="0">
              <a:solidFill>
                <a:schemeClr val="tx1"/>
              </a:solidFill>
            </a:endParaRPr>
          </a:p>
          <a:p>
            <a:pPr algn="ctr"/>
            <a:endParaRPr lang="en-CA" dirty="0">
              <a:solidFill>
                <a:schemeClr val="tx1"/>
              </a:solidFill>
            </a:endParaRPr>
          </a:p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7812360" y="4365104"/>
            <a:ext cx="936104" cy="864096"/>
            <a:chOff x="7596336" y="4437112"/>
            <a:chExt cx="792088" cy="720080"/>
          </a:xfrm>
        </p:grpSpPr>
        <p:pic>
          <p:nvPicPr>
            <p:cNvPr id="39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 l="3844" t="13672" r="46629" b="6250"/>
            <a:stretch>
              <a:fillRect/>
            </a:stretch>
          </p:blipFill>
          <p:spPr bwMode="auto">
            <a:xfrm>
              <a:off x="7596336" y="4437112"/>
              <a:ext cx="792088" cy="7200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0" name="Rectangle 39"/>
            <p:cNvSpPr/>
            <p:nvPr/>
          </p:nvSpPr>
          <p:spPr>
            <a:xfrm>
              <a:off x="8266564" y="4437112"/>
              <a:ext cx="121860" cy="2880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 1"/>
          <p:cNvSpPr/>
          <p:nvPr/>
        </p:nvSpPr>
        <p:spPr>
          <a:xfrm>
            <a:off x="5292080" y="2204864"/>
            <a:ext cx="1584176" cy="1296144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>
                <a:solidFill>
                  <a:schemeClr val="tx1"/>
                </a:solidFill>
              </a:rPr>
              <a:t>Registry</a:t>
            </a:r>
          </a:p>
          <a:p>
            <a:pPr algn="ctr"/>
            <a:endParaRPr lang="en-CA" dirty="0">
              <a:solidFill>
                <a:schemeClr val="tx1"/>
              </a:solidFill>
            </a:endParaRPr>
          </a:p>
          <a:p>
            <a:pPr algn="ctr"/>
            <a:endParaRPr lang="en-CA" dirty="0" smtClean="0">
              <a:solidFill>
                <a:schemeClr val="tx1"/>
              </a:solidFill>
            </a:endParaRPr>
          </a:p>
          <a:p>
            <a:pPr algn="ctr"/>
            <a:endParaRPr lang="en-CA" dirty="0">
              <a:solidFill>
                <a:schemeClr val="tx1"/>
              </a:solidFill>
            </a:endParaRPr>
          </a:p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5652120" y="2564904"/>
            <a:ext cx="936104" cy="864096"/>
            <a:chOff x="7596336" y="4437112"/>
            <a:chExt cx="792088" cy="720080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 l="3844" t="13672" r="46629" b="6250"/>
            <a:stretch>
              <a:fillRect/>
            </a:stretch>
          </p:blipFill>
          <p:spPr bwMode="auto">
            <a:xfrm>
              <a:off x="7596336" y="4437112"/>
              <a:ext cx="792088" cy="7200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Rectangle 4"/>
            <p:cNvSpPr/>
            <p:nvPr/>
          </p:nvSpPr>
          <p:spPr>
            <a:xfrm>
              <a:off x="8266564" y="4437112"/>
              <a:ext cx="121860" cy="2880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3844" t="13672" r="8858" b="6250"/>
          <a:stretch>
            <a:fillRect/>
          </a:stretch>
        </p:blipFill>
        <p:spPr bwMode="auto">
          <a:xfrm>
            <a:off x="467544" y="260648"/>
            <a:ext cx="3297688" cy="1700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4572000" y="548680"/>
            <a:ext cx="38072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 smtClean="0"/>
              <a:t>SADI in a nutshell...</a:t>
            </a:r>
            <a:endParaRPr lang="en-CA" sz="3600" dirty="0"/>
          </a:p>
        </p:txBody>
      </p:sp>
      <p:pic>
        <p:nvPicPr>
          <p:cNvPr id="2050" name="Picture 2" descr="C:\Users\Mark\AppData\Local\Microsoft\Windows\Temporary Internet Files\Content.IE5\8BYCBH7P\MP900422299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696" y="4149079"/>
            <a:ext cx="1662601" cy="2492685"/>
          </a:xfrm>
          <a:prstGeom prst="rect">
            <a:avLst/>
          </a:prstGeom>
          <a:noFill/>
        </p:spPr>
      </p:pic>
      <p:sp>
        <p:nvSpPr>
          <p:cNvPr id="9" name="Bent Arrow 8"/>
          <p:cNvSpPr/>
          <p:nvPr/>
        </p:nvSpPr>
        <p:spPr>
          <a:xfrm>
            <a:off x="3275856" y="2492896"/>
            <a:ext cx="1728192" cy="1872208"/>
          </a:xfrm>
          <a:prstGeom prst="bentArrow">
            <a:avLst>
              <a:gd name="adj1" fmla="val 13061"/>
              <a:gd name="adj2" fmla="val 20387"/>
              <a:gd name="adj3" fmla="val 25000"/>
              <a:gd name="adj4" fmla="val 4483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7624" y="2636912"/>
            <a:ext cx="2139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i="1" dirty="0" smtClean="0"/>
              <a:t>I have data with</a:t>
            </a:r>
          </a:p>
          <a:p>
            <a:r>
              <a:rPr lang="en-CA" sz="2000" i="1" dirty="0" smtClean="0"/>
              <a:t>a “name” property</a:t>
            </a:r>
            <a:endParaRPr lang="en-CA" sz="2000" i="1" dirty="0"/>
          </a:p>
        </p:txBody>
      </p:sp>
      <p:sp>
        <p:nvSpPr>
          <p:cNvPr id="11" name="Bent Arrow 10"/>
          <p:cNvSpPr/>
          <p:nvPr/>
        </p:nvSpPr>
        <p:spPr>
          <a:xfrm rot="10800000">
            <a:off x="4355976" y="3861048"/>
            <a:ext cx="1728192" cy="1872208"/>
          </a:xfrm>
          <a:prstGeom prst="bentArrow">
            <a:avLst>
              <a:gd name="adj1" fmla="val 13061"/>
              <a:gd name="adj2" fmla="val 20387"/>
              <a:gd name="adj3" fmla="val 25000"/>
              <a:gd name="adj4" fmla="val 4483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2" name="Folded Corner 11"/>
          <p:cNvSpPr/>
          <p:nvPr/>
        </p:nvSpPr>
        <p:spPr>
          <a:xfrm>
            <a:off x="6156176" y="4581128"/>
            <a:ext cx="1800200" cy="1949139"/>
          </a:xfrm>
          <a:prstGeom prst="foldedCorner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6156176" y="4581128"/>
            <a:ext cx="164407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100" u="sng" dirty="0" smtClean="0"/>
              <a:t>Service Description</a:t>
            </a:r>
          </a:p>
          <a:p>
            <a:pPr algn="ctr"/>
            <a:endParaRPr lang="en-CA" sz="900" u="sng" dirty="0" smtClean="0"/>
          </a:p>
          <a:p>
            <a:r>
              <a:rPr lang="en-CA" sz="900" b="1" dirty="0" smtClean="0">
                <a:solidFill>
                  <a:srgbClr val="0070C0"/>
                </a:solidFill>
              </a:rPr>
              <a:t>INPUT OWL Class</a:t>
            </a:r>
          </a:p>
          <a:p>
            <a:r>
              <a:rPr lang="en-CA" sz="900" b="1" dirty="0" err="1" smtClean="0"/>
              <a:t>NamedIndividual</a:t>
            </a:r>
            <a:r>
              <a:rPr lang="en-CA" sz="900" b="1" dirty="0" smtClean="0"/>
              <a:t>:</a:t>
            </a:r>
            <a:r>
              <a:rPr lang="en-CA" sz="900" dirty="0" smtClean="0"/>
              <a:t> things with </a:t>
            </a:r>
          </a:p>
          <a:p>
            <a:r>
              <a:rPr lang="en-CA" sz="900" dirty="0"/>
              <a:t> </a:t>
            </a:r>
            <a:r>
              <a:rPr lang="en-CA" sz="900" dirty="0" smtClean="0"/>
              <a:t>           a “name” property</a:t>
            </a:r>
            <a:br>
              <a:rPr lang="en-CA" sz="900" dirty="0" smtClean="0"/>
            </a:br>
            <a:r>
              <a:rPr lang="en-CA" sz="900" dirty="0" smtClean="0"/>
              <a:t>            from “</a:t>
            </a:r>
            <a:r>
              <a:rPr lang="en-CA" sz="900" dirty="0" err="1" smtClean="0"/>
              <a:t>foaf</a:t>
            </a:r>
            <a:r>
              <a:rPr lang="en-CA" sz="900" dirty="0" smtClean="0"/>
              <a:t>” ontology</a:t>
            </a:r>
            <a:br>
              <a:rPr lang="en-CA" sz="900" dirty="0" smtClean="0"/>
            </a:br>
            <a:endParaRPr lang="en-CA" sz="900" dirty="0" smtClean="0"/>
          </a:p>
          <a:p>
            <a:r>
              <a:rPr lang="en-CA" sz="900" b="1" dirty="0" smtClean="0"/>
              <a:t/>
            </a:r>
            <a:br>
              <a:rPr lang="en-CA" sz="900" b="1" dirty="0" smtClean="0"/>
            </a:br>
            <a:r>
              <a:rPr lang="en-CA" sz="900" b="1" dirty="0" smtClean="0">
                <a:solidFill>
                  <a:srgbClr val="0070C0"/>
                </a:solidFill>
              </a:rPr>
              <a:t>OUTPUT OWL Class</a:t>
            </a:r>
            <a:endParaRPr lang="en-CA" sz="900" dirty="0" smtClean="0">
              <a:solidFill>
                <a:srgbClr val="0070C0"/>
              </a:solidFill>
            </a:endParaRPr>
          </a:p>
          <a:p>
            <a:r>
              <a:rPr lang="en-CA" sz="900" b="1" dirty="0" err="1" smtClean="0"/>
              <a:t>GreetedIndividual</a:t>
            </a:r>
            <a:r>
              <a:rPr lang="en-CA" sz="900" b="1" dirty="0" smtClean="0"/>
              <a:t>:</a:t>
            </a:r>
            <a:r>
              <a:rPr lang="en-CA" sz="900" dirty="0" smtClean="0"/>
              <a:t> things with </a:t>
            </a:r>
          </a:p>
          <a:p>
            <a:r>
              <a:rPr lang="en-CA" sz="900" dirty="0"/>
              <a:t> </a:t>
            </a:r>
            <a:r>
              <a:rPr lang="en-CA" sz="900" dirty="0" smtClean="0"/>
              <a:t>      a “greeting” property</a:t>
            </a:r>
          </a:p>
          <a:p>
            <a:r>
              <a:rPr lang="en-CA" sz="900" dirty="0"/>
              <a:t> </a:t>
            </a:r>
            <a:r>
              <a:rPr lang="en-CA" sz="900" dirty="0" smtClean="0"/>
              <a:t>      from “hello” ontology </a:t>
            </a:r>
            <a:endParaRPr lang="en-CA" sz="9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5733256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A" sz="2400" b="1" dirty="0" smtClean="0"/>
              <a:t>Sentient Knowledge Explorer </a:t>
            </a:r>
            <a:r>
              <a:rPr lang="en-CA" sz="2400" dirty="0" smtClean="0"/>
              <a:t>is a retrieval, integration, visualization, query, and exploration environment for semantically rich data</a:t>
            </a:r>
            <a:endParaRPr lang="en-CA" sz="24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95736" y="836712"/>
            <a:ext cx="6758157" cy="4591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 descr="IOI_logo_RGB_wSpace.t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51520" y="2256656"/>
            <a:ext cx="1676400" cy="16764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 l="47498" t="5859" r="5884" b="35376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2915816" y="3356992"/>
            <a:ext cx="590465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Most imported data-sets will already have properties (e.g. “encodes”)</a:t>
            </a:r>
            <a:br>
              <a:rPr lang="en-US" sz="2400" dirty="0" smtClean="0"/>
            </a:br>
            <a:endParaRPr lang="en-US" sz="2400" dirty="0" smtClean="0"/>
          </a:p>
          <a:p>
            <a:pPr algn="ctr"/>
            <a:r>
              <a:rPr lang="en-US" sz="2400" dirty="0" smtClean="0"/>
              <a:t>…and the data will already be typed </a:t>
            </a:r>
            <a:br>
              <a:rPr lang="en-US" sz="2400" dirty="0" smtClean="0"/>
            </a:br>
            <a:r>
              <a:rPr lang="en-US" sz="2400" dirty="0" smtClean="0"/>
              <a:t>(e.g. “Gene” or “Protein”)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 smtClean="0"/>
              <a:t>…so finding SADI Services to consume that data is ~trivial</a:t>
            </a:r>
            <a:endParaRPr lang="en-US" sz="2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:\My Documents\My Pictures\Screenpresso\2011-11-30 15h19_3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04664"/>
            <a:ext cx="9144000" cy="5951727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:\My Documents\My Pictures\Screenpresso\2011-11-30 15h21_0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43310"/>
            <a:ext cx="9144000" cy="5938018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D:\My Documents\My Pictures\Screenpresso\2011-11-30 15h21_14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67525"/>
            <a:ext cx="9144000" cy="5913803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D:\My Documents\My Pictures\Screenpresso\2011-11-30 15h21_14.png"/>
          <p:cNvPicPr>
            <a:picLocks noChangeAspect="1" noChangeArrowheads="1"/>
          </p:cNvPicPr>
          <p:nvPr/>
        </p:nvPicPr>
        <p:blipFill>
          <a:blip r:embed="rId2" cstate="print"/>
          <a:srcRect l="14471" t="9375" r="21069" b="15874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264118" y="1980123"/>
            <a:ext cx="6180090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 smtClean="0"/>
              <a:t>Now what...??  </a:t>
            </a:r>
          </a:p>
          <a:p>
            <a:endParaRPr lang="en-CA" sz="2800" dirty="0"/>
          </a:p>
          <a:p>
            <a:r>
              <a:rPr lang="en-CA" sz="2800" dirty="0" smtClean="0"/>
              <a:t>No properties...</a:t>
            </a:r>
          </a:p>
          <a:p>
            <a:endParaRPr lang="en-CA" sz="2800" dirty="0"/>
          </a:p>
          <a:p>
            <a:r>
              <a:rPr lang="en-CA" sz="2800" dirty="0" smtClean="0"/>
              <a:t>No </a:t>
            </a:r>
            <a:r>
              <a:rPr lang="en-CA" sz="2800" dirty="0" err="1" smtClean="0"/>
              <a:t>rdf:type</a:t>
            </a:r>
            <a:r>
              <a:rPr lang="en-CA" sz="2800" dirty="0" smtClean="0"/>
              <a:t>...</a:t>
            </a:r>
          </a:p>
          <a:p>
            <a:endParaRPr lang="en-CA" sz="2800" dirty="0"/>
          </a:p>
          <a:p>
            <a:r>
              <a:rPr lang="en-CA" sz="2800" dirty="0" smtClean="0"/>
              <a:t>How do I find a service using that node?  </a:t>
            </a:r>
          </a:p>
          <a:p>
            <a:endParaRPr lang="en-CA" sz="2800" dirty="0"/>
          </a:p>
          <a:p>
            <a:r>
              <a:rPr lang="en-CA" sz="2800" dirty="0" smtClean="0"/>
              <a:t>What *is* that node anyway??</a:t>
            </a:r>
          </a:p>
          <a:p>
            <a:endParaRPr lang="en-CA" sz="28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My Documents\My Pictures\Screenpresso\2011-12-01 10h16_05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6512" y="908720"/>
            <a:ext cx="9066442" cy="4464496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D:\My Documents\My Pictures\Screenpresso\2011-11-30 15h21_14.png"/>
          <p:cNvPicPr>
            <a:picLocks noChangeAspect="1" noChangeArrowheads="1"/>
          </p:cNvPicPr>
          <p:nvPr/>
        </p:nvPicPr>
        <p:blipFill>
          <a:blip r:embed="rId2" cstate="print"/>
          <a:srcRect l="14471" t="38404" r="29268" b="66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251520" y="1340768"/>
            <a:ext cx="61291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 smtClean="0"/>
              <a:t>In the case of LSRN URIs, they resolve to:</a:t>
            </a:r>
          </a:p>
          <a:p>
            <a:endParaRPr lang="en-CA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2420888"/>
            <a:ext cx="8788816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dirty="0" smtClean="0"/>
              <a:t>&lt;</a:t>
            </a:r>
            <a:r>
              <a:rPr lang="en-CA" sz="2000" dirty="0" err="1" smtClean="0"/>
              <a:t>lsrn:DragonDB_Locus_Record</a:t>
            </a:r>
            <a:r>
              <a:rPr lang="en-CA" sz="2000" dirty="0" smtClean="0"/>
              <a:t> </a:t>
            </a:r>
            <a:r>
              <a:rPr lang="en-CA" sz="2000" dirty="0" err="1" smtClean="0"/>
              <a:t>rdf:about</a:t>
            </a:r>
            <a:r>
              <a:rPr lang="en-CA" sz="2000" dirty="0" smtClean="0"/>
              <a:t>="http://lsrn.org/DragonDB_Locus:CHO"&gt;</a:t>
            </a:r>
          </a:p>
          <a:p>
            <a:r>
              <a:rPr lang="en-CA" sz="2000" dirty="0" smtClean="0"/>
              <a:t>  &lt;</a:t>
            </a:r>
            <a:r>
              <a:rPr lang="en-CA" sz="2000" dirty="0" err="1" smtClean="0"/>
              <a:t>dc:identifier</a:t>
            </a:r>
            <a:r>
              <a:rPr lang="en-CA" sz="2000" dirty="0" smtClean="0"/>
              <a:t>&gt;CHO&lt;/</a:t>
            </a:r>
            <a:r>
              <a:rPr lang="en-CA" sz="2000" dirty="0" err="1" smtClean="0"/>
              <a:t>dc:identifier</a:t>
            </a:r>
            <a:r>
              <a:rPr lang="en-CA" sz="2000" dirty="0" smtClean="0"/>
              <a:t>&gt;</a:t>
            </a:r>
          </a:p>
          <a:p>
            <a:r>
              <a:rPr lang="en-CA" sz="2000" dirty="0" smtClean="0"/>
              <a:t>  &lt;sio:SIO_000671&gt; &lt;!--  has identifier --&gt;</a:t>
            </a:r>
          </a:p>
          <a:p>
            <a:r>
              <a:rPr lang="en-CA" sz="2000" dirty="0" smtClean="0"/>
              <a:t>    &lt;</a:t>
            </a:r>
            <a:r>
              <a:rPr lang="en-CA" sz="2000" dirty="0" err="1" smtClean="0"/>
              <a:t>lsrn:DragonDB_Locus_Identifier</a:t>
            </a:r>
            <a:r>
              <a:rPr lang="en-CA" sz="2000" dirty="0" smtClean="0"/>
              <a:t>&gt;</a:t>
            </a:r>
          </a:p>
          <a:p>
            <a:r>
              <a:rPr lang="en-CA" sz="2000" dirty="0" smtClean="0"/>
              <a:t>      &lt;sio:SIO_000300&gt;CHO&lt;/sio:SIO_000300&gt; &lt;!--  has value --&gt;</a:t>
            </a:r>
          </a:p>
          <a:p>
            <a:r>
              <a:rPr lang="en-CA" sz="2000" dirty="0" smtClean="0"/>
              <a:t>    &lt;/</a:t>
            </a:r>
            <a:r>
              <a:rPr lang="en-CA" sz="2000" dirty="0" err="1" smtClean="0"/>
              <a:t>lsrn:DragonDB_Locus_Identifier</a:t>
            </a:r>
            <a:r>
              <a:rPr lang="en-CA" sz="2000" dirty="0" smtClean="0"/>
              <a:t>&gt;</a:t>
            </a:r>
          </a:p>
          <a:p>
            <a:r>
              <a:rPr lang="en-CA" sz="2000" dirty="0" smtClean="0"/>
              <a:t>  &lt;/sio:SIO_000671&gt;</a:t>
            </a:r>
          </a:p>
          <a:p>
            <a:r>
              <a:rPr lang="en-CA" sz="2000" dirty="0" smtClean="0"/>
              <a:t> &lt;/</a:t>
            </a:r>
            <a:r>
              <a:rPr lang="en-CA" sz="2000" dirty="0" err="1" smtClean="0"/>
              <a:t>lsrn:DragonDB_Locus_Record</a:t>
            </a:r>
            <a:r>
              <a:rPr lang="en-CA" sz="2000" dirty="0" smtClean="0"/>
              <a:t>&gt;</a:t>
            </a:r>
          </a:p>
          <a:p>
            <a:r>
              <a:rPr lang="en-CA" sz="2000" dirty="0" smtClean="0"/>
              <a:t>&lt;/</a:t>
            </a:r>
            <a:r>
              <a:rPr lang="en-CA" sz="2000" dirty="0" err="1" smtClean="0"/>
              <a:t>rdf:RDF</a:t>
            </a:r>
            <a:r>
              <a:rPr lang="en-CA" sz="2000" dirty="0" smtClean="0"/>
              <a:t>&gt;</a:t>
            </a:r>
          </a:p>
          <a:p>
            <a:endParaRPr lang="en-CA" sz="2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D:\My Documents\My Pictures\Screenpresso\2011-11-30 15h21_14.png"/>
          <p:cNvPicPr>
            <a:picLocks noChangeAspect="1" noChangeArrowheads="1"/>
          </p:cNvPicPr>
          <p:nvPr/>
        </p:nvPicPr>
        <p:blipFill>
          <a:blip r:embed="rId2" cstate="print"/>
          <a:srcRect l="14471" t="38404" r="29268" b="66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251520" y="1340768"/>
            <a:ext cx="61291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 smtClean="0"/>
              <a:t>In the case of LSRN URIs, they resolve to:</a:t>
            </a:r>
          </a:p>
          <a:p>
            <a:endParaRPr lang="en-CA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2420888"/>
            <a:ext cx="8837676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dirty="0" smtClean="0">
                <a:solidFill>
                  <a:schemeClr val="bg1">
                    <a:lumMod val="50000"/>
                  </a:schemeClr>
                </a:solidFill>
              </a:rPr>
              <a:t>&lt;</a:t>
            </a:r>
            <a:r>
              <a:rPr lang="en-CA" sz="2000" dirty="0" err="1" smtClean="0">
                <a:solidFill>
                  <a:schemeClr val="bg1">
                    <a:lumMod val="50000"/>
                  </a:schemeClr>
                </a:solidFill>
              </a:rPr>
              <a:t>lsrn:</a:t>
            </a:r>
            <a:r>
              <a:rPr lang="en-CA" sz="20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DragonDB_Locus_Record</a:t>
            </a:r>
            <a:r>
              <a:rPr lang="en-CA" sz="20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CA" sz="2000" dirty="0" err="1" smtClean="0">
                <a:solidFill>
                  <a:schemeClr val="bg1">
                    <a:lumMod val="50000"/>
                  </a:schemeClr>
                </a:solidFill>
              </a:rPr>
              <a:t>rdf:about</a:t>
            </a:r>
            <a:r>
              <a:rPr lang="en-CA" sz="2000" dirty="0" smtClean="0">
                <a:solidFill>
                  <a:schemeClr val="bg1">
                    <a:lumMod val="50000"/>
                  </a:schemeClr>
                </a:solidFill>
              </a:rPr>
              <a:t>="http://lsrn.org/DragonDB_Locus:CHO"&gt;</a:t>
            </a:r>
          </a:p>
          <a:p>
            <a:r>
              <a:rPr lang="en-CA" sz="2000" dirty="0" smtClean="0">
                <a:solidFill>
                  <a:schemeClr val="bg1">
                    <a:lumMod val="50000"/>
                  </a:schemeClr>
                </a:solidFill>
              </a:rPr>
              <a:t>  &lt;</a:t>
            </a:r>
            <a:r>
              <a:rPr lang="en-CA" sz="2000" dirty="0" err="1" smtClean="0">
                <a:solidFill>
                  <a:schemeClr val="bg1">
                    <a:lumMod val="50000"/>
                  </a:schemeClr>
                </a:solidFill>
              </a:rPr>
              <a:t>dc:identifier</a:t>
            </a:r>
            <a:r>
              <a:rPr lang="en-CA" sz="2000" dirty="0" smtClean="0">
                <a:solidFill>
                  <a:schemeClr val="bg1">
                    <a:lumMod val="50000"/>
                  </a:schemeClr>
                </a:solidFill>
              </a:rPr>
              <a:t>&gt;CHO&lt;/</a:t>
            </a:r>
            <a:r>
              <a:rPr lang="en-CA" sz="2000" dirty="0" err="1" smtClean="0">
                <a:solidFill>
                  <a:schemeClr val="bg1">
                    <a:lumMod val="50000"/>
                  </a:schemeClr>
                </a:solidFill>
              </a:rPr>
              <a:t>dc:identifier</a:t>
            </a:r>
            <a:r>
              <a:rPr lang="en-CA" sz="2000" dirty="0" smtClean="0">
                <a:solidFill>
                  <a:schemeClr val="bg1">
                    <a:lumMod val="50000"/>
                  </a:schemeClr>
                </a:solidFill>
              </a:rPr>
              <a:t>&gt;</a:t>
            </a:r>
          </a:p>
          <a:p>
            <a:r>
              <a:rPr lang="en-CA" sz="2000" dirty="0" smtClean="0">
                <a:solidFill>
                  <a:schemeClr val="bg1">
                    <a:lumMod val="50000"/>
                  </a:schemeClr>
                </a:solidFill>
              </a:rPr>
              <a:t>  &lt;sio:SIO_000671&gt; &lt;!--  </a:t>
            </a:r>
            <a:r>
              <a:rPr lang="en-CA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has identifier </a:t>
            </a:r>
            <a:r>
              <a:rPr lang="en-CA" sz="2000" dirty="0" smtClean="0">
                <a:solidFill>
                  <a:schemeClr val="bg1">
                    <a:lumMod val="50000"/>
                  </a:schemeClr>
                </a:solidFill>
              </a:rPr>
              <a:t>--&gt;</a:t>
            </a:r>
          </a:p>
          <a:p>
            <a:r>
              <a:rPr lang="en-CA" sz="2000" dirty="0" smtClean="0">
                <a:solidFill>
                  <a:schemeClr val="bg1">
                    <a:lumMod val="50000"/>
                  </a:schemeClr>
                </a:solidFill>
              </a:rPr>
              <a:t>    &lt;</a:t>
            </a:r>
            <a:r>
              <a:rPr lang="en-CA" sz="2000" dirty="0" err="1" smtClean="0">
                <a:solidFill>
                  <a:schemeClr val="bg1">
                    <a:lumMod val="50000"/>
                  </a:schemeClr>
                </a:solidFill>
              </a:rPr>
              <a:t>lsrn:</a:t>
            </a:r>
            <a:r>
              <a:rPr lang="en-CA" sz="20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DragonDB_Locus_Identifier</a:t>
            </a:r>
            <a:r>
              <a:rPr lang="en-CA" sz="2000" dirty="0" smtClean="0">
                <a:solidFill>
                  <a:schemeClr val="bg1">
                    <a:lumMod val="50000"/>
                  </a:schemeClr>
                </a:solidFill>
              </a:rPr>
              <a:t>&gt;</a:t>
            </a:r>
          </a:p>
          <a:p>
            <a:r>
              <a:rPr lang="en-CA" sz="2000" dirty="0" smtClean="0">
                <a:solidFill>
                  <a:schemeClr val="bg1">
                    <a:lumMod val="50000"/>
                  </a:schemeClr>
                </a:solidFill>
              </a:rPr>
              <a:t>      &lt;sio:SIO_000300&gt;</a:t>
            </a:r>
            <a:r>
              <a:rPr lang="en-CA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CHO</a:t>
            </a:r>
            <a:r>
              <a:rPr lang="en-CA" sz="2000" dirty="0" smtClean="0">
                <a:solidFill>
                  <a:schemeClr val="bg1">
                    <a:lumMod val="50000"/>
                  </a:schemeClr>
                </a:solidFill>
              </a:rPr>
              <a:t>&lt;/sio:SIO_000300&gt; &lt;!--  </a:t>
            </a:r>
            <a:r>
              <a:rPr lang="en-CA" sz="2000" b="1" dirty="0" smtClean="0"/>
              <a:t>has value </a:t>
            </a:r>
            <a:r>
              <a:rPr lang="en-CA" sz="2000" dirty="0" smtClean="0">
                <a:solidFill>
                  <a:schemeClr val="bg1">
                    <a:lumMod val="50000"/>
                  </a:schemeClr>
                </a:solidFill>
              </a:rPr>
              <a:t>--&gt;</a:t>
            </a:r>
          </a:p>
          <a:p>
            <a:r>
              <a:rPr lang="en-CA" sz="2000" dirty="0" smtClean="0">
                <a:solidFill>
                  <a:schemeClr val="bg1">
                    <a:lumMod val="50000"/>
                  </a:schemeClr>
                </a:solidFill>
              </a:rPr>
              <a:t>    &lt;/</a:t>
            </a:r>
            <a:r>
              <a:rPr lang="en-CA" sz="2000" dirty="0" err="1" smtClean="0">
                <a:solidFill>
                  <a:schemeClr val="bg1">
                    <a:lumMod val="50000"/>
                  </a:schemeClr>
                </a:solidFill>
              </a:rPr>
              <a:t>lsrn:DragonDB_Locus_Identifier</a:t>
            </a:r>
            <a:r>
              <a:rPr lang="en-CA" sz="2000" dirty="0" smtClean="0">
                <a:solidFill>
                  <a:schemeClr val="bg1">
                    <a:lumMod val="50000"/>
                  </a:schemeClr>
                </a:solidFill>
              </a:rPr>
              <a:t>&gt;</a:t>
            </a:r>
          </a:p>
          <a:p>
            <a:r>
              <a:rPr lang="en-CA" sz="2000" dirty="0" smtClean="0">
                <a:solidFill>
                  <a:schemeClr val="bg1">
                    <a:lumMod val="50000"/>
                  </a:schemeClr>
                </a:solidFill>
              </a:rPr>
              <a:t>  &lt;/sio:SIO_000671&gt;</a:t>
            </a:r>
          </a:p>
          <a:p>
            <a:r>
              <a:rPr lang="en-CA" sz="2000" dirty="0" smtClean="0">
                <a:solidFill>
                  <a:schemeClr val="bg1">
                    <a:lumMod val="50000"/>
                  </a:schemeClr>
                </a:solidFill>
              </a:rPr>
              <a:t> &lt;/</a:t>
            </a:r>
            <a:r>
              <a:rPr lang="en-CA" sz="2000" dirty="0" err="1" smtClean="0">
                <a:solidFill>
                  <a:schemeClr val="bg1">
                    <a:lumMod val="50000"/>
                  </a:schemeClr>
                </a:solidFill>
              </a:rPr>
              <a:t>lsrn:DragonDB_Locus_Record</a:t>
            </a:r>
            <a:r>
              <a:rPr lang="en-CA" sz="2000" dirty="0" smtClean="0">
                <a:solidFill>
                  <a:schemeClr val="bg1">
                    <a:lumMod val="50000"/>
                  </a:schemeClr>
                </a:solidFill>
              </a:rPr>
              <a:t>&gt;</a:t>
            </a:r>
          </a:p>
          <a:p>
            <a:r>
              <a:rPr lang="en-CA" sz="2000" dirty="0" smtClean="0">
                <a:solidFill>
                  <a:schemeClr val="bg1">
                    <a:lumMod val="50000"/>
                  </a:schemeClr>
                </a:solidFill>
              </a:rPr>
              <a:t>&lt;/</a:t>
            </a:r>
            <a:r>
              <a:rPr lang="en-CA" sz="2000" dirty="0" err="1" smtClean="0">
                <a:solidFill>
                  <a:schemeClr val="bg1">
                    <a:lumMod val="50000"/>
                  </a:schemeClr>
                </a:solidFill>
              </a:rPr>
              <a:t>rdf:RDF</a:t>
            </a:r>
            <a:r>
              <a:rPr lang="en-CA" sz="2000" dirty="0" smtClean="0">
                <a:solidFill>
                  <a:schemeClr val="bg1">
                    <a:lumMod val="50000"/>
                  </a:schemeClr>
                </a:solidFill>
              </a:rPr>
              <a:t>&gt;</a:t>
            </a:r>
          </a:p>
          <a:p>
            <a:endParaRPr lang="en-CA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3887416" y="4919008"/>
            <a:ext cx="52565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 smtClean="0"/>
              <a:t>The Semantic Science Integrated Ontology (</a:t>
            </a:r>
            <a:r>
              <a:rPr lang="en-CA" sz="2000" dirty="0" err="1" smtClean="0"/>
              <a:t>Dumontier</a:t>
            </a:r>
            <a:r>
              <a:rPr lang="en-CA" sz="2000" dirty="0" smtClean="0"/>
              <a:t>) has a model for how to describe database records, including explicitly making the record identifier an attribute of that record; in our LSRN metadata, we also explicitly </a:t>
            </a:r>
            <a:r>
              <a:rPr lang="en-CA" sz="2000" dirty="0" err="1" smtClean="0"/>
              <a:t>rdf:type</a:t>
            </a:r>
            <a:r>
              <a:rPr lang="en-CA" sz="2000" dirty="0" smtClean="0"/>
              <a:t> both records and identifiers.</a:t>
            </a:r>
            <a:endParaRPr lang="en-CA" sz="2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:\My Documents\My Pictures\Screenpresso\2011-12-01 12h31_11.png"/>
          <p:cNvPicPr>
            <a:picLocks noChangeAspect="1" noChangeArrowheads="1"/>
          </p:cNvPicPr>
          <p:nvPr/>
        </p:nvPicPr>
        <p:blipFill>
          <a:blip r:embed="rId2" cstate="print"/>
          <a:srcRect r="1721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23528" y="5949280"/>
            <a:ext cx="8305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 smtClean="0"/>
              <a:t>Now we have enough information to start exploring global data...</a:t>
            </a:r>
            <a:endParaRPr lang="en-CA" sz="2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:\My Documents\My Pictures\Screenpresso\2011-12-01 12h32_4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43516"/>
          </a:xfrm>
          <a:prstGeom prst="rect">
            <a:avLst/>
          </a:prstGeom>
          <a:noFill/>
        </p:spPr>
      </p:pic>
      <p:cxnSp>
        <p:nvCxnSpPr>
          <p:cNvPr id="4" name="Straight Arrow Connector 3"/>
          <p:cNvCxnSpPr/>
          <p:nvPr/>
        </p:nvCxnSpPr>
        <p:spPr>
          <a:xfrm>
            <a:off x="3491880" y="5517232"/>
            <a:ext cx="1728192" cy="792088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7584" y="5013176"/>
            <a:ext cx="40320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b="1" dirty="0" smtClean="0"/>
              <a:t>Menu option provided by the </a:t>
            </a:r>
            <a:r>
              <a:rPr lang="en-CA" sz="2000" b="1" dirty="0" err="1" smtClean="0"/>
              <a:t>plugin</a:t>
            </a:r>
            <a:endParaRPr lang="en-CA" sz="2000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 descr="D:\My Documents\My Pictures\Screenpresso\2011-12-01 12h37_05.png"/>
          <p:cNvPicPr>
            <a:picLocks noChangeAspect="1" noChangeArrowheads="1"/>
          </p:cNvPicPr>
          <p:nvPr/>
        </p:nvPicPr>
        <p:blipFill>
          <a:blip r:embed="rId2" cstate="print"/>
          <a:srcRect l="4037" r="6025"/>
          <a:stretch>
            <a:fillRect/>
          </a:stretch>
        </p:blipFill>
        <p:spPr bwMode="auto">
          <a:xfrm>
            <a:off x="0" y="-27384"/>
            <a:ext cx="9144000" cy="6885384"/>
          </a:xfrm>
          <a:prstGeom prst="rect">
            <a:avLst/>
          </a:prstGeom>
          <a:noFill/>
        </p:spPr>
      </p:pic>
      <p:cxnSp>
        <p:nvCxnSpPr>
          <p:cNvPr id="4" name="Straight Arrow Connector 3"/>
          <p:cNvCxnSpPr/>
          <p:nvPr/>
        </p:nvCxnSpPr>
        <p:spPr>
          <a:xfrm flipV="1">
            <a:off x="2195736" y="1700808"/>
            <a:ext cx="1296144" cy="1728192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347864" y="2276872"/>
            <a:ext cx="5472608" cy="1368152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/>
          <p:cNvSpPr txBox="1"/>
          <p:nvPr/>
        </p:nvSpPr>
        <p:spPr>
          <a:xfrm>
            <a:off x="179512" y="3501008"/>
            <a:ext cx="30219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dirty="0" smtClean="0"/>
              <a:t>Discovered the (only)</a:t>
            </a:r>
            <a:br>
              <a:rPr lang="en-CA" sz="2400" b="1" dirty="0" smtClean="0"/>
            </a:br>
            <a:r>
              <a:rPr lang="en-CA" sz="2400" b="1" dirty="0" smtClean="0"/>
              <a:t>service that consumes</a:t>
            </a:r>
            <a:br>
              <a:rPr lang="en-CA" sz="2400" b="1" dirty="0" smtClean="0"/>
            </a:br>
            <a:r>
              <a:rPr lang="en-CA" sz="2400" b="1" dirty="0" smtClean="0"/>
              <a:t>these kinds of records</a:t>
            </a:r>
            <a:endParaRPr lang="en-CA" sz="2400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 descr="D:\My Documents\My Pictures\Screenpresso\2011-12-01 12h44_20.png"/>
          <p:cNvPicPr>
            <a:picLocks noChangeAspect="1" noChangeArrowheads="1"/>
          </p:cNvPicPr>
          <p:nvPr/>
        </p:nvPicPr>
        <p:blipFill>
          <a:blip r:embed="rId2" cstate="print"/>
          <a:srcRect r="11424" b="15433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cxnSp>
        <p:nvCxnSpPr>
          <p:cNvPr id="4" name="Straight Arrow Connector 3"/>
          <p:cNvCxnSpPr/>
          <p:nvPr/>
        </p:nvCxnSpPr>
        <p:spPr>
          <a:xfrm flipV="1">
            <a:off x="4788024" y="3501008"/>
            <a:ext cx="1296144" cy="1728192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71800" y="5301208"/>
            <a:ext cx="59766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 smtClean="0"/>
              <a:t>Output is added to the graph  (with some extra logic to make visualization of complex data structures a bit easier)</a:t>
            </a:r>
            <a:endParaRPr lang="en-CA" sz="2400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D:\My Documents\My Pictures\Screenpresso\2011-12-01 12h47_27.png"/>
          <p:cNvPicPr>
            <a:picLocks noChangeAspect="1" noChangeArrowheads="1"/>
          </p:cNvPicPr>
          <p:nvPr/>
        </p:nvPicPr>
        <p:blipFill>
          <a:blip r:embed="rId2" cstate="print"/>
          <a:srcRect r="20381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5796136" y="5301208"/>
            <a:ext cx="3024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 smtClean="0"/>
              <a:t>Lather, rinse, repeat...</a:t>
            </a:r>
            <a:endParaRPr lang="en-CA" sz="2400" b="1" dirty="0"/>
          </a:p>
        </p:txBody>
      </p:sp>
      <p:pic>
        <p:nvPicPr>
          <p:cNvPr id="1026" name="Picture 2" descr="C:\Program Files (x86)\Microsoft Office\MEDIA\OFFICE12\Bullets\BD21301_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22470" y="3379470"/>
            <a:ext cx="99060" cy="99060"/>
          </a:xfrm>
          <a:prstGeom prst="rect">
            <a:avLst/>
          </a:prstGeom>
          <a:noFill/>
        </p:spPr>
      </p:pic>
      <p:pic>
        <p:nvPicPr>
          <p:cNvPr id="1027" name="Picture 3" descr="C:\Program Files (x86)\Microsoft Office\MEDIA\OFFICE12\Bullets\BD21301_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982" y="427142"/>
            <a:ext cx="265554" cy="265554"/>
          </a:xfrm>
          <a:prstGeom prst="rect">
            <a:avLst/>
          </a:prstGeom>
          <a:noFill/>
        </p:spPr>
      </p:pic>
      <p:pic>
        <p:nvPicPr>
          <p:cNvPr id="6" name="Picture 3" descr="C:\Program Files (x86)\Microsoft Office\MEDIA\OFFICE12\Bullets\BD21301_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982" y="4171558"/>
            <a:ext cx="265554" cy="265554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 descr="D:\My Documents\My Pictures\Screenpresso\2011-12-01 12h56_05.png"/>
          <p:cNvPicPr>
            <a:picLocks noChangeAspect="1" noChangeArrowheads="1"/>
          </p:cNvPicPr>
          <p:nvPr/>
        </p:nvPicPr>
        <p:blipFill>
          <a:blip r:embed="rId2" cstate="print"/>
          <a:srcRect b="24649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cxnSp>
        <p:nvCxnSpPr>
          <p:cNvPr id="5" name="Straight Arrow Connector 4"/>
          <p:cNvCxnSpPr/>
          <p:nvPr/>
        </p:nvCxnSpPr>
        <p:spPr>
          <a:xfrm>
            <a:off x="2915816" y="476672"/>
            <a:ext cx="1800200" cy="50405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1520" y="188640"/>
            <a:ext cx="29523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 smtClean="0"/>
              <a:t>...and of course, these links are “live”</a:t>
            </a:r>
            <a:endParaRPr lang="en-CA" sz="2400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D:\My Documents\My Pictures\Screenpresso\2011-12-01 12h51_55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6731691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:\My Documents\My Pictures\Screenpresso\2011-11-30 15h19_3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547664" y="2852936"/>
            <a:ext cx="6022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 smtClean="0"/>
              <a:t>What about URIs other than LSRN?</a:t>
            </a:r>
            <a:endParaRPr lang="en-CA" sz="3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My Documents\My Pictures\Screenpresso\2011-12-01 10h05_26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7384"/>
            <a:ext cx="9144000" cy="6065874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:\My Documents\My Pictures\Screenpresso\2011-11-30 15h19_3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043608" y="1628800"/>
            <a:ext cx="727280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smtClean="0"/>
              <a:t>HTTP POST the URI to the SHARE Resolver service and it will (try to) return you SIO-compliant RDF metadata about that URI</a:t>
            </a:r>
          </a:p>
          <a:p>
            <a:pPr algn="ctr"/>
            <a:r>
              <a:rPr lang="en-CA" sz="3200" dirty="0" smtClean="0"/>
              <a:t>(this is a typical SADI service)</a:t>
            </a:r>
          </a:p>
          <a:p>
            <a:pPr algn="ctr"/>
            <a:endParaRPr lang="en-CA" sz="3200" dirty="0" smtClean="0"/>
          </a:p>
          <a:p>
            <a:pPr algn="ctr"/>
            <a:r>
              <a:rPr lang="en-CA" sz="3200" dirty="0" smtClean="0"/>
              <a:t>The resolver currently recognizes a few different URI schemes (e.g. Bio2RDF) and can be updated with new patterns easily</a:t>
            </a:r>
            <a:endParaRPr lang="en-CA" sz="3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39952" y="404664"/>
            <a:ext cx="468052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800" dirty="0" smtClean="0"/>
              <a:t>Next problem:</a:t>
            </a:r>
          </a:p>
          <a:p>
            <a:pPr algn="ctr"/>
            <a:endParaRPr lang="en-CA" sz="3200" dirty="0" smtClean="0"/>
          </a:p>
          <a:p>
            <a:pPr algn="ctr"/>
            <a:r>
              <a:rPr lang="en-CA" sz="3200" dirty="0" smtClean="0"/>
              <a:t>Knowledge Explorer </a:t>
            </a:r>
            <a:br>
              <a:rPr lang="en-CA" sz="3200" dirty="0" smtClean="0"/>
            </a:br>
            <a:r>
              <a:rPr lang="en-CA" sz="3200" dirty="0" smtClean="0"/>
              <a:t>and therefore the plug-in</a:t>
            </a:r>
            <a:br>
              <a:rPr lang="en-CA" sz="3200" dirty="0" smtClean="0"/>
            </a:br>
            <a:r>
              <a:rPr lang="en-CA" sz="3200" dirty="0" smtClean="0"/>
              <a:t> are written in C#</a:t>
            </a:r>
          </a:p>
          <a:p>
            <a:pPr algn="ctr"/>
            <a:endParaRPr lang="en-CA" sz="3200" dirty="0" smtClean="0"/>
          </a:p>
          <a:p>
            <a:pPr algn="ctr"/>
            <a:r>
              <a:rPr lang="en-CA" sz="3200" dirty="0" smtClean="0"/>
              <a:t>All of our interfaces are described in OWL</a:t>
            </a:r>
          </a:p>
          <a:p>
            <a:pPr algn="ctr"/>
            <a:endParaRPr lang="en-CA" sz="3200" dirty="0" smtClean="0"/>
          </a:p>
          <a:p>
            <a:pPr algn="ctr"/>
            <a:r>
              <a:rPr lang="en-CA" sz="3200" dirty="0" smtClean="0"/>
              <a:t>C# reasoners are extremely limited at this time</a:t>
            </a:r>
          </a:p>
          <a:p>
            <a:pPr algn="ctr"/>
            <a:endParaRPr lang="en-CA" sz="32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628800"/>
            <a:ext cx="3456384" cy="3456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67544" y="476672"/>
            <a:ext cx="835292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 smtClean="0"/>
              <a:t>This problem manifests itself in two ways:</a:t>
            </a:r>
          </a:p>
          <a:p>
            <a:endParaRPr lang="en-CA" sz="2800" dirty="0" smtClean="0"/>
          </a:p>
          <a:p>
            <a:endParaRPr lang="en-CA" sz="2800" dirty="0" smtClean="0"/>
          </a:p>
          <a:p>
            <a:pPr marL="342900" indent="-342900">
              <a:buFont typeface="+mj-lt"/>
              <a:buAutoNum type="arabicPeriod"/>
            </a:pPr>
            <a:r>
              <a:rPr lang="en-CA" sz="2800" dirty="0" smtClean="0"/>
              <a:t>An individual on the KE canvas has all the properties required by a Service in the registry, but is not </a:t>
            </a:r>
            <a:r>
              <a:rPr lang="en-CA" sz="2800" dirty="0" err="1" smtClean="0"/>
              <a:t>rdf:typed</a:t>
            </a:r>
            <a:r>
              <a:rPr lang="en-CA" sz="2800" dirty="0" smtClean="0"/>
              <a:t> as that Service’s input type  </a:t>
            </a:r>
            <a:r>
              <a:rPr lang="en-CA" sz="2800" dirty="0" smtClean="0">
                <a:sym typeface="Wingdings" pitchFamily="2" charset="2"/>
              </a:rPr>
              <a:t> </a:t>
            </a:r>
            <a:r>
              <a:rPr lang="en-CA" sz="2800" dirty="0" smtClean="0"/>
              <a:t>how do you discover that Service so that you can add it to the menu?</a:t>
            </a:r>
          </a:p>
          <a:p>
            <a:pPr marL="342900" indent="-342900">
              <a:buFont typeface="+mj-lt"/>
              <a:buAutoNum type="arabicPeriod"/>
            </a:pPr>
            <a:endParaRPr lang="en-CA" sz="2800" dirty="0" smtClean="0"/>
          </a:p>
          <a:p>
            <a:pPr marL="342900" indent="-342900">
              <a:buFont typeface="+mj-lt"/>
              <a:buAutoNum type="arabicPeriod"/>
            </a:pPr>
            <a:r>
              <a:rPr lang="en-CA" sz="2800" dirty="0" smtClean="0"/>
              <a:t>For a selected Service from the menu, how does the plug-in know which data-elements it needs to extract from KE to  send to that service in order to fulfil it’s input property-restrictions?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D:\My Documents\My Pictures\Screenpresso\2011-12-02 10h11_47.png"/>
          <p:cNvPicPr>
            <a:picLocks noChangeAspect="1" noChangeArrowheads="1"/>
          </p:cNvPicPr>
          <p:nvPr/>
        </p:nvPicPr>
        <p:blipFill>
          <a:blip r:embed="rId2" cstate="print"/>
          <a:srcRect l="7097" r="20848"/>
          <a:stretch>
            <a:fillRect/>
          </a:stretch>
        </p:blipFill>
        <p:spPr bwMode="auto">
          <a:xfrm>
            <a:off x="0" y="-1"/>
            <a:ext cx="9144000" cy="6868795"/>
          </a:xfrm>
          <a:prstGeom prst="rect">
            <a:avLst/>
          </a:prstGeom>
          <a:noFill/>
        </p:spPr>
      </p:pic>
      <p:pic>
        <p:nvPicPr>
          <p:cNvPr id="10243" name="Picture 3" descr="D:\My Documents\My Pictures\Screenpresso\2011-12-02 10h13_37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5656" y="4293096"/>
            <a:ext cx="6716314" cy="2016224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1475656" y="692696"/>
            <a:ext cx="621926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 smtClean="0"/>
              <a:t>If I select a canvas node, and ask SADI to </a:t>
            </a:r>
            <a:br>
              <a:rPr lang="en-CA" sz="2800" dirty="0" smtClean="0"/>
            </a:br>
            <a:r>
              <a:rPr lang="en-CA" sz="2800" dirty="0" smtClean="0"/>
              <a:t>find services, it will...</a:t>
            </a:r>
            <a:endParaRPr lang="en-CA" sz="28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D:\My Documents\My Pictures\Screenpresso\2011-12-02 10h17_3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402006" cy="6858000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3491880" y="1988840"/>
            <a:ext cx="4752528" cy="38164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extBox 3"/>
          <p:cNvSpPr txBox="1"/>
          <p:nvPr/>
        </p:nvSpPr>
        <p:spPr>
          <a:xfrm>
            <a:off x="1449500" y="476672"/>
            <a:ext cx="635840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800" dirty="0" smtClean="0"/>
              <a:t>The </a:t>
            </a:r>
            <a:r>
              <a:rPr lang="en-CA" sz="2800" dirty="0" err="1" smtClean="0"/>
              <a:t>get_sequence_for_region</a:t>
            </a:r>
            <a:r>
              <a:rPr lang="en-CA" sz="2800" dirty="0" smtClean="0"/>
              <a:t> service </a:t>
            </a:r>
            <a:br>
              <a:rPr lang="en-CA" sz="2800" dirty="0" smtClean="0"/>
            </a:br>
            <a:r>
              <a:rPr lang="en-CA" sz="2800" dirty="0" smtClean="0"/>
              <a:t>required ALL of this (hidden) information</a:t>
            </a:r>
            <a:endParaRPr lang="en-CA" sz="28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D:\My Documents\My Pictures\Screenpresso\2011-12-02 10h11_47.png"/>
          <p:cNvPicPr>
            <a:picLocks noChangeAspect="1" noChangeArrowheads="1"/>
          </p:cNvPicPr>
          <p:nvPr/>
        </p:nvPicPr>
        <p:blipFill>
          <a:blip r:embed="rId2" cstate="print"/>
          <a:srcRect l="7097" r="20848"/>
          <a:stretch>
            <a:fillRect/>
          </a:stretch>
        </p:blipFill>
        <p:spPr bwMode="auto">
          <a:xfrm>
            <a:off x="0" y="-1"/>
            <a:ext cx="9144000" cy="6868795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323528" y="404664"/>
            <a:ext cx="8610114" cy="2185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dirty="0" smtClean="0"/>
              <a:t>Nevertheless:</a:t>
            </a:r>
          </a:p>
          <a:p>
            <a:pPr marL="342900" indent="-342900">
              <a:buAutoNum type="alphaLcParenBoth"/>
            </a:pPr>
            <a:endParaRPr lang="en-CA" sz="2400" dirty="0" smtClean="0"/>
          </a:p>
          <a:p>
            <a:pPr marL="342900" indent="-342900">
              <a:buAutoNum type="alphaLcParenBoth"/>
            </a:pPr>
            <a:r>
              <a:rPr lang="en-CA" sz="2400" dirty="0" smtClean="0"/>
              <a:t> The service can be discovered based on JUST this node selection</a:t>
            </a:r>
          </a:p>
          <a:p>
            <a:pPr marL="342900" indent="-342900">
              <a:buAutoNum type="alphaLcParenBoth"/>
            </a:pPr>
            <a:endParaRPr lang="en-CA" sz="2400" dirty="0" smtClean="0"/>
          </a:p>
          <a:p>
            <a:pPr marL="342900" indent="-342900">
              <a:buAutoNum type="alphaLcParenBoth"/>
            </a:pPr>
            <a:r>
              <a:rPr lang="en-CA" sz="2400" dirty="0" smtClean="0"/>
              <a:t> The service can be invoked based on JUST this node selection</a:t>
            </a:r>
            <a:endParaRPr lang="en-CA" sz="2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D:\My Documents\My Pictures\Screenpresso\2011-12-02 10h21_39.png"/>
          <p:cNvPicPr>
            <a:picLocks noChangeAspect="1" noChangeArrowheads="1"/>
          </p:cNvPicPr>
          <p:nvPr/>
        </p:nvPicPr>
        <p:blipFill>
          <a:blip r:embed="rId2" cstate="print"/>
          <a:srcRect l="4091" r="16077" b="15433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1691680" y="3861048"/>
            <a:ext cx="583264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600" dirty="0" smtClean="0"/>
              <a:t>Voila!</a:t>
            </a:r>
          </a:p>
          <a:p>
            <a:pPr algn="ctr"/>
            <a:endParaRPr lang="en-CA" sz="2400" dirty="0" smtClean="0"/>
          </a:p>
          <a:p>
            <a:pPr algn="ctr"/>
            <a:r>
              <a:rPr lang="en-CA" sz="2400" dirty="0" smtClean="0"/>
              <a:t>How did the plug-in discover the service, and determine which data was required to access that service based on an OWL Class definition, without a reasoner?</a:t>
            </a:r>
            <a:endParaRPr lang="en-CA" sz="2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3"/>
          <p:cNvGrpSpPr/>
          <p:nvPr/>
        </p:nvGrpSpPr>
        <p:grpSpPr>
          <a:xfrm>
            <a:off x="179512" y="2825552"/>
            <a:ext cx="3672407" cy="3483768"/>
            <a:chOff x="179512" y="3573016"/>
            <a:chExt cx="2232248" cy="5548406"/>
          </a:xfrm>
        </p:grpSpPr>
        <p:sp>
          <p:nvSpPr>
            <p:cNvPr id="30" name="Folded Corner 29"/>
            <p:cNvSpPr/>
            <p:nvPr/>
          </p:nvSpPr>
          <p:spPr>
            <a:xfrm>
              <a:off x="179512" y="3573016"/>
              <a:ext cx="1898661" cy="5548406"/>
            </a:xfrm>
            <a:prstGeom prst="foldedCorner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4000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23528" y="3573016"/>
              <a:ext cx="2088232" cy="5195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400" u="sng" dirty="0" smtClean="0"/>
                <a:t>Service Description</a:t>
              </a:r>
            </a:p>
            <a:p>
              <a:pPr algn="ctr"/>
              <a:endParaRPr lang="en-CA" sz="1600" u="sng" dirty="0" smtClean="0"/>
            </a:p>
            <a:p>
              <a:r>
                <a:rPr lang="en-CA" sz="1600" b="1" dirty="0" smtClean="0">
                  <a:solidFill>
                    <a:srgbClr val="0070C0"/>
                  </a:solidFill>
                </a:rPr>
                <a:t>INPUT OWL Class</a:t>
              </a:r>
            </a:p>
            <a:p>
              <a:r>
                <a:rPr lang="en-CA" sz="1600" b="1" dirty="0" err="1" smtClean="0"/>
                <a:t>NamedIndividual</a:t>
              </a:r>
              <a:r>
                <a:rPr lang="en-CA" sz="1600" b="1" dirty="0" smtClean="0"/>
                <a:t>:</a:t>
              </a:r>
              <a:r>
                <a:rPr lang="en-CA" sz="1600" dirty="0" smtClean="0"/>
                <a:t> things with </a:t>
              </a:r>
            </a:p>
            <a:p>
              <a:r>
                <a:rPr lang="en-CA" sz="1600" dirty="0"/>
                <a:t> </a:t>
              </a:r>
              <a:r>
                <a:rPr lang="en-CA" sz="1600" dirty="0" smtClean="0"/>
                <a:t>           a “name” property</a:t>
              </a:r>
              <a:br>
                <a:rPr lang="en-CA" sz="1600" dirty="0" smtClean="0"/>
              </a:br>
              <a:r>
                <a:rPr lang="en-CA" sz="1600" dirty="0" smtClean="0"/>
                <a:t>            from “</a:t>
              </a:r>
              <a:r>
                <a:rPr lang="en-CA" sz="1600" dirty="0" err="1" smtClean="0"/>
                <a:t>foaf</a:t>
              </a:r>
              <a:r>
                <a:rPr lang="en-CA" sz="1600" dirty="0" smtClean="0"/>
                <a:t>” ontology</a:t>
              </a:r>
              <a:br>
                <a:rPr lang="en-CA" sz="1600" dirty="0" smtClean="0"/>
              </a:br>
              <a:endParaRPr lang="en-CA" sz="1600" dirty="0" smtClean="0"/>
            </a:p>
            <a:p>
              <a:r>
                <a:rPr lang="en-CA" sz="1600" b="1" dirty="0" smtClean="0"/>
                <a:t/>
              </a:r>
              <a:br>
                <a:rPr lang="en-CA" sz="1600" b="1" dirty="0" smtClean="0"/>
              </a:br>
              <a:r>
                <a:rPr lang="en-CA" sz="1600" b="1" dirty="0" smtClean="0">
                  <a:solidFill>
                    <a:srgbClr val="0070C0"/>
                  </a:solidFill>
                </a:rPr>
                <a:t>OUTPUT OWL Class</a:t>
              </a:r>
              <a:endParaRPr lang="en-CA" sz="1600" dirty="0" smtClean="0">
                <a:solidFill>
                  <a:srgbClr val="0070C0"/>
                </a:solidFill>
              </a:endParaRPr>
            </a:p>
            <a:p>
              <a:r>
                <a:rPr lang="en-CA" sz="1600" b="1" dirty="0" err="1" smtClean="0"/>
                <a:t>GreetedIndividual</a:t>
              </a:r>
              <a:r>
                <a:rPr lang="en-CA" sz="1600" b="1" dirty="0" smtClean="0"/>
                <a:t>:</a:t>
              </a:r>
              <a:r>
                <a:rPr lang="en-CA" sz="1600" dirty="0" smtClean="0"/>
                <a:t> things with </a:t>
              </a:r>
            </a:p>
            <a:p>
              <a:r>
                <a:rPr lang="en-CA" sz="1600" dirty="0"/>
                <a:t> </a:t>
              </a:r>
              <a:r>
                <a:rPr lang="en-CA" sz="1600" dirty="0" smtClean="0"/>
                <a:t>      a “greeting” property</a:t>
              </a:r>
            </a:p>
            <a:p>
              <a:r>
                <a:rPr lang="en-CA" sz="1600" dirty="0"/>
                <a:t> </a:t>
              </a:r>
              <a:r>
                <a:rPr lang="en-CA" sz="1600" dirty="0" smtClean="0"/>
                <a:t>      from “hello” ontology </a:t>
              </a:r>
              <a:endParaRPr lang="en-CA" sz="1600" dirty="0"/>
            </a:p>
          </p:txBody>
        </p:sp>
      </p:grpSp>
      <p:sp>
        <p:nvSpPr>
          <p:cNvPr id="32" name="Right Brace 31"/>
          <p:cNvSpPr/>
          <p:nvPr/>
        </p:nvSpPr>
        <p:spPr>
          <a:xfrm>
            <a:off x="3491880" y="4005064"/>
            <a:ext cx="216024" cy="504056"/>
          </a:xfrm>
          <a:prstGeom prst="rightBrace">
            <a:avLst>
              <a:gd name="adj1" fmla="val 39670"/>
              <a:gd name="adj2" fmla="val 47604"/>
            </a:avLst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Right Brace 32"/>
          <p:cNvSpPr/>
          <p:nvPr/>
        </p:nvSpPr>
        <p:spPr>
          <a:xfrm>
            <a:off x="3491880" y="5445224"/>
            <a:ext cx="216024" cy="504056"/>
          </a:xfrm>
          <a:prstGeom prst="rightBrace">
            <a:avLst>
              <a:gd name="adj1" fmla="val 41667"/>
              <a:gd name="adj2" fmla="val 50000"/>
            </a:avLst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5" name="TextBox 34"/>
          <p:cNvSpPr txBox="1"/>
          <p:nvPr/>
        </p:nvSpPr>
        <p:spPr>
          <a:xfrm>
            <a:off x="3923928" y="3861048"/>
            <a:ext cx="2376264" cy="230832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u="sng" dirty="0" smtClean="0">
                <a:latin typeface="Courier New" pitchFamily="49" charset="0"/>
                <a:cs typeface="Courier New" pitchFamily="49" charset="0"/>
              </a:rPr>
              <a:t>INDEX</a:t>
            </a:r>
          </a:p>
          <a:p>
            <a:endParaRPr lang="en-CA" dirty="0">
              <a:latin typeface="Courier New" pitchFamily="49" charset="0"/>
              <a:cs typeface="Courier New" pitchFamily="49" charset="0"/>
            </a:endParaRPr>
          </a:p>
          <a:p>
            <a:pPr algn="ctr"/>
            <a:r>
              <a:rPr lang="en-CA" dirty="0" smtClean="0">
                <a:latin typeface="Courier New" pitchFamily="49" charset="0"/>
                <a:cs typeface="Courier New" pitchFamily="49" charset="0"/>
              </a:rPr>
              <a:t>The service provides a “greeting” property based on a “name” property</a:t>
            </a:r>
            <a:endParaRPr lang="en-CA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6444208" y="5085184"/>
            <a:ext cx="936104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n 37"/>
          <p:cNvSpPr/>
          <p:nvPr/>
        </p:nvSpPr>
        <p:spPr>
          <a:xfrm>
            <a:off x="7452320" y="4437112"/>
            <a:ext cx="1584176" cy="1296144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>
                <a:solidFill>
                  <a:schemeClr val="tx1"/>
                </a:solidFill>
              </a:rPr>
              <a:t>Registry</a:t>
            </a:r>
          </a:p>
          <a:p>
            <a:pPr algn="ctr"/>
            <a:endParaRPr lang="en-CA" dirty="0">
              <a:solidFill>
                <a:schemeClr val="tx1"/>
              </a:solidFill>
            </a:endParaRPr>
          </a:p>
          <a:p>
            <a:pPr algn="ctr"/>
            <a:endParaRPr lang="en-CA" dirty="0" smtClean="0">
              <a:solidFill>
                <a:schemeClr val="tx1"/>
              </a:solidFill>
            </a:endParaRPr>
          </a:p>
          <a:p>
            <a:pPr algn="ctr"/>
            <a:endParaRPr lang="en-CA" dirty="0">
              <a:solidFill>
                <a:schemeClr val="tx1"/>
              </a:solidFill>
            </a:endParaRPr>
          </a:p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grpSp>
        <p:nvGrpSpPr>
          <p:cNvPr id="3" name="Group 41"/>
          <p:cNvGrpSpPr/>
          <p:nvPr/>
        </p:nvGrpSpPr>
        <p:grpSpPr>
          <a:xfrm>
            <a:off x="7812360" y="4797152"/>
            <a:ext cx="936104" cy="864096"/>
            <a:chOff x="7596336" y="4437112"/>
            <a:chExt cx="792088" cy="720080"/>
          </a:xfrm>
        </p:grpSpPr>
        <p:pic>
          <p:nvPicPr>
            <p:cNvPr id="39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 l="3844" t="13672" r="46629" b="6250"/>
            <a:stretch>
              <a:fillRect/>
            </a:stretch>
          </p:blipFill>
          <p:spPr bwMode="auto">
            <a:xfrm>
              <a:off x="7596336" y="4437112"/>
              <a:ext cx="792088" cy="7200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0" name="Rectangle 39"/>
            <p:cNvSpPr/>
            <p:nvPr/>
          </p:nvSpPr>
          <p:spPr>
            <a:xfrm>
              <a:off x="8266564" y="4437112"/>
              <a:ext cx="121860" cy="2880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16632"/>
            <a:ext cx="2160240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6" name="Straight Arrow Connector 15"/>
          <p:cNvCxnSpPr/>
          <p:nvPr/>
        </p:nvCxnSpPr>
        <p:spPr>
          <a:xfrm flipV="1">
            <a:off x="2411760" y="1772816"/>
            <a:ext cx="1656184" cy="1872208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39952" y="836712"/>
            <a:ext cx="4860032" cy="14773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 smtClean="0">
                <a:latin typeface="Courier New" pitchFamily="49" charset="0"/>
                <a:cs typeface="Courier New" pitchFamily="49" charset="0"/>
              </a:rPr>
              <a:t>SELECT ?x, ?y</a:t>
            </a:r>
          </a:p>
          <a:p>
            <a:r>
              <a:rPr lang="en-CA" dirty="0" smtClean="0">
                <a:latin typeface="Courier New" pitchFamily="49" charset="0"/>
                <a:cs typeface="Courier New" pitchFamily="49" charset="0"/>
              </a:rPr>
              <a:t>FROM </a:t>
            </a:r>
            <a:r>
              <a:rPr lang="en-CA" dirty="0" err="1" smtClean="0">
                <a:latin typeface="Courier New" pitchFamily="49" charset="0"/>
                <a:cs typeface="Courier New" pitchFamily="49" charset="0"/>
              </a:rPr>
              <a:t>knowledge_explorer_database</a:t>
            </a:r>
            <a:endParaRPr lang="en-CA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CA" dirty="0" smtClean="0">
                <a:latin typeface="Courier New" pitchFamily="49" charset="0"/>
                <a:cs typeface="Courier New" pitchFamily="49" charset="0"/>
              </a:rPr>
              <a:t>WHERE {</a:t>
            </a:r>
          </a:p>
          <a:p>
            <a:r>
              <a:rPr lang="en-CA" dirty="0" smtClean="0">
                <a:latin typeface="Courier New" pitchFamily="49" charset="0"/>
                <a:cs typeface="Courier New" pitchFamily="49" charset="0"/>
              </a:rPr>
              <a:t>     ?x    </a:t>
            </a:r>
            <a:r>
              <a:rPr lang="en-CA" dirty="0" err="1" smtClean="0">
                <a:latin typeface="Courier New" pitchFamily="49" charset="0"/>
                <a:cs typeface="Courier New" pitchFamily="49" charset="0"/>
              </a:rPr>
              <a:t>foaf:name</a:t>
            </a:r>
            <a:r>
              <a:rPr lang="en-CA" dirty="0" smtClean="0">
                <a:latin typeface="Courier New" pitchFamily="49" charset="0"/>
                <a:cs typeface="Courier New" pitchFamily="49" charset="0"/>
              </a:rPr>
              <a:t>   ?y</a:t>
            </a:r>
          </a:p>
          <a:p>
            <a:r>
              <a:rPr lang="en-CA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CA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8604448" y="2492896"/>
            <a:ext cx="0" cy="180020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91880" y="2420888"/>
            <a:ext cx="35386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smtClean="0"/>
              <a:t>Convert Input OWL Class </a:t>
            </a:r>
            <a:r>
              <a:rPr lang="en-CA" b="1" dirty="0" err="1" smtClean="0"/>
              <a:t>def’n</a:t>
            </a:r>
            <a:r>
              <a:rPr lang="en-CA" b="1" dirty="0" smtClean="0"/>
              <a:t/>
            </a:r>
            <a:br>
              <a:rPr lang="en-CA" b="1" dirty="0" smtClean="0"/>
            </a:br>
            <a:r>
              <a:rPr lang="en-CA" b="1" dirty="0" smtClean="0"/>
              <a:t>into an ~equivalent  SPARQL  query</a:t>
            </a:r>
            <a:endParaRPr lang="en-CA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7020272" y="3356992"/>
            <a:ext cx="15649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smtClean="0"/>
              <a:t>Store together</a:t>
            </a:r>
            <a:br>
              <a:rPr lang="en-CA" b="1" dirty="0" smtClean="0"/>
            </a:br>
            <a:r>
              <a:rPr lang="en-CA" b="1" dirty="0" smtClean="0"/>
              <a:t>with index</a:t>
            </a:r>
            <a:endParaRPr lang="en-CA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My Documents\My Pictures\Screenpresso\2011-12-02 10h21_39.png"/>
          <p:cNvPicPr>
            <a:picLocks noChangeAspect="1" noChangeArrowheads="1"/>
          </p:cNvPicPr>
          <p:nvPr/>
        </p:nvPicPr>
        <p:blipFill>
          <a:blip r:embed="rId2" cstate="print"/>
          <a:srcRect l="4091" r="16077" b="15433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467544" y="4221088"/>
            <a:ext cx="83527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400" dirty="0" smtClean="0"/>
              <a:t>Just to ensure that I don’t over-trivialize this point, </a:t>
            </a:r>
          </a:p>
          <a:p>
            <a:pPr algn="ctr"/>
            <a:endParaRPr lang="en-CA" sz="2400" dirty="0" smtClean="0"/>
          </a:p>
          <a:p>
            <a:pPr algn="ctr"/>
            <a:r>
              <a:rPr lang="en-CA" sz="2400" dirty="0" smtClean="0"/>
              <a:t>the REAL SPARQL query that extracts the input for this service is...</a:t>
            </a:r>
            <a:endParaRPr lang="en-CA" sz="2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:\My Documents\My Pictures\Screenpresso\2011-12-02 10h21_39.png"/>
          <p:cNvPicPr>
            <a:picLocks noChangeAspect="1" noChangeArrowheads="1"/>
          </p:cNvPicPr>
          <p:nvPr/>
        </p:nvPicPr>
        <p:blipFill>
          <a:blip r:embed="rId2" cstate="print"/>
          <a:srcRect l="4091" r="16077" b="15433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1403648" y="548680"/>
            <a:ext cx="6840760" cy="5909310"/>
          </a:xfrm>
          <a:prstGeom prst="rect">
            <a:avLst/>
          </a:prstGeom>
          <a:solidFill>
            <a:srgbClr val="FFFFFF">
              <a:alpha val="74118"/>
            </a:srgbClr>
          </a:solidFill>
        </p:spPr>
        <p:txBody>
          <a:bodyPr wrap="square">
            <a:spAutoFit/>
          </a:bodyPr>
          <a:lstStyle/>
          <a:p>
            <a:r>
              <a:rPr lang="en-CA" sz="700" b="1" dirty="0" smtClean="0"/>
              <a:t>CONSTRUCT {</a:t>
            </a:r>
          </a:p>
          <a:p>
            <a:r>
              <a:rPr lang="en-CA" sz="700" b="1" dirty="0" smtClean="0"/>
              <a:t>	?input a &lt;http://sadiframework.org/ontologies/GMOD/BiopolymerRegion.owl#BiopolymerRegion&gt; .</a:t>
            </a:r>
          </a:p>
          <a:p>
            <a:r>
              <a:rPr lang="en-CA" sz="700" b="1" dirty="0" smtClean="0"/>
              <a:t>	?input &lt;http://sadiframework.org/ontologies/GMOD/BiopolymerRegion.owl#position&gt; ?position .</a:t>
            </a:r>
          </a:p>
          <a:p>
            <a:r>
              <a:rPr lang="en-CA" sz="700" b="1" dirty="0" smtClean="0"/>
              <a:t>	?position a &lt;http://sadiframework.org/ontologies/GMOD/RangedSequencePosition.owl#RangedSequencePosition&gt; .</a:t>
            </a:r>
          </a:p>
          <a:p>
            <a:r>
              <a:rPr lang="en-CA" sz="700" b="1" dirty="0" smtClean="0"/>
              <a:t>	?position &lt;http://sadiframework.org/ontologies/GMOD/RangedSequencePosition.owl#coordinate&gt; ?start .</a:t>
            </a:r>
          </a:p>
          <a:p>
            <a:r>
              <a:rPr lang="en-CA" sz="700" b="1" dirty="0" smtClean="0"/>
              <a:t>	?start a &lt;http://sadiframework.org/ontologies/GMOD/RangedSequencePosition.owl#StartPosition&gt; .</a:t>
            </a:r>
          </a:p>
          <a:p>
            <a:r>
              <a:rPr lang="en-CA" sz="700" b="1" dirty="0" smtClean="0"/>
              <a:t>	?start &lt;http://semanticscience.org/resource/SIO_000300&gt; ?</a:t>
            </a:r>
            <a:r>
              <a:rPr lang="en-CA" sz="700" b="1" dirty="0" err="1" smtClean="0"/>
              <a:t>startValue</a:t>
            </a:r>
            <a:r>
              <a:rPr lang="en-CA" sz="700" b="1" dirty="0" smtClean="0"/>
              <a:t> .</a:t>
            </a:r>
          </a:p>
          <a:p>
            <a:r>
              <a:rPr lang="en-CA" sz="700" b="1" dirty="0" smtClean="0"/>
              <a:t>	?position &lt;http://sadiframework.org/ontologies/GMOD/RangedSequencePosition.owl#coordinate&gt; ?end .</a:t>
            </a:r>
          </a:p>
          <a:p>
            <a:r>
              <a:rPr lang="en-CA" sz="700" b="1" dirty="0" smtClean="0"/>
              <a:t>	?end a &lt;http://sadiframework.org/ontologies/GMOD/RangedSequencePosition.owl#EndPosition&gt; .</a:t>
            </a:r>
          </a:p>
          <a:p>
            <a:r>
              <a:rPr lang="en-CA" sz="700" b="1" dirty="0" smtClean="0"/>
              <a:t>	?end &lt;http://semanticscience.org/resource/SIO_000300&gt; ?</a:t>
            </a:r>
            <a:r>
              <a:rPr lang="en-CA" sz="700" b="1" dirty="0" err="1" smtClean="0"/>
              <a:t>endValue</a:t>
            </a:r>
            <a:r>
              <a:rPr lang="en-CA" sz="700" b="1" dirty="0" smtClean="0"/>
              <a:t> .</a:t>
            </a:r>
          </a:p>
          <a:p>
            <a:r>
              <a:rPr lang="en-CA" sz="700" b="1" dirty="0" smtClean="0"/>
              <a:t>	?position &lt;http://sadiframework.org/ontologies/GMOD/RangedSequencePosition.owl#in_relation_to&gt; ?sequence .</a:t>
            </a:r>
          </a:p>
          <a:p>
            <a:r>
              <a:rPr lang="en-CA" sz="700" b="1" dirty="0" smtClean="0"/>
              <a:t>	?sequence &lt;http://semanticscience.org/resource/SIO_000210&gt; ?feature .</a:t>
            </a:r>
          </a:p>
          <a:p>
            <a:r>
              <a:rPr lang="en-CA" sz="700" b="1" dirty="0" smtClean="0"/>
              <a:t>	?feature &lt;http://semanticscience.org/resource/SIO_000008&gt; ?identifier .</a:t>
            </a:r>
          </a:p>
          <a:p>
            <a:r>
              <a:rPr lang="en-CA" sz="700" b="1" dirty="0" smtClean="0"/>
              <a:t>	?identifier &lt;http://semanticscience.org/resource/SIO_000300&gt; ?</a:t>
            </a:r>
            <a:r>
              <a:rPr lang="en-CA" sz="700" b="1" dirty="0" err="1" smtClean="0"/>
              <a:t>featureID</a:t>
            </a:r>
            <a:r>
              <a:rPr lang="en-CA" sz="700" b="1" dirty="0" smtClean="0"/>
              <a:t> .</a:t>
            </a:r>
          </a:p>
          <a:p>
            <a:r>
              <a:rPr lang="en-CA" sz="700" b="1" dirty="0" smtClean="0"/>
              <a:t> </a:t>
            </a:r>
          </a:p>
          <a:p>
            <a:r>
              <a:rPr lang="en-CA" sz="700" b="1" dirty="0" smtClean="0"/>
              <a:t>	?sequence &lt;http://semanticscience.org/resource/SIO_000210&gt; ?strand .</a:t>
            </a:r>
          </a:p>
          <a:p>
            <a:r>
              <a:rPr lang="en-CA" sz="700" b="1" dirty="0" smtClean="0"/>
              <a:t>	?strand &lt;http://semanticscience.org/resource/SIO_000093&gt; ?</a:t>
            </a:r>
            <a:r>
              <a:rPr lang="en-CA" sz="700" b="1" dirty="0" err="1" smtClean="0"/>
              <a:t>strandFeature</a:t>
            </a:r>
            <a:r>
              <a:rPr lang="en-CA" sz="700" b="1" dirty="0" smtClean="0"/>
              <a:t> . </a:t>
            </a:r>
          </a:p>
          <a:p>
            <a:r>
              <a:rPr lang="en-CA" sz="700" b="1" dirty="0" smtClean="0"/>
              <a:t>	?</a:t>
            </a:r>
            <a:r>
              <a:rPr lang="en-CA" sz="700" b="1" dirty="0" err="1" smtClean="0"/>
              <a:t>strandFeature</a:t>
            </a:r>
            <a:r>
              <a:rPr lang="en-CA" sz="700" b="1" dirty="0" smtClean="0"/>
              <a:t> a ?</a:t>
            </a:r>
            <a:r>
              <a:rPr lang="en-CA" sz="700" b="1" dirty="0" err="1" smtClean="0"/>
              <a:t>strandFeatureType</a:t>
            </a:r>
            <a:r>
              <a:rPr lang="en-CA" sz="700" b="1" dirty="0" smtClean="0"/>
              <a:t> .</a:t>
            </a:r>
          </a:p>
          <a:p>
            <a:r>
              <a:rPr lang="en-CA" sz="700" b="1" dirty="0" smtClean="0"/>
              <a:t>	?</a:t>
            </a:r>
            <a:r>
              <a:rPr lang="en-CA" sz="700" b="1" dirty="0" err="1" smtClean="0"/>
              <a:t>strandFeature</a:t>
            </a:r>
            <a:r>
              <a:rPr lang="en-CA" sz="700" b="1" dirty="0" smtClean="0"/>
              <a:t> &lt;http://semanticscience.org/resource/SIO_000008&gt; ?</a:t>
            </a:r>
            <a:r>
              <a:rPr lang="en-CA" sz="700" b="1" dirty="0" err="1" smtClean="0"/>
              <a:t>strandFeatureIdentifier</a:t>
            </a:r>
            <a:r>
              <a:rPr lang="en-CA" sz="700" b="1" dirty="0" smtClean="0"/>
              <a:t> .</a:t>
            </a:r>
          </a:p>
          <a:p>
            <a:r>
              <a:rPr lang="en-CA" sz="700" b="1" dirty="0" smtClean="0"/>
              <a:t>	?</a:t>
            </a:r>
            <a:r>
              <a:rPr lang="en-CA" sz="700" b="1" dirty="0" err="1" smtClean="0"/>
              <a:t>strandFeatureIdentifier</a:t>
            </a:r>
            <a:r>
              <a:rPr lang="en-CA" sz="700" b="1" dirty="0" smtClean="0"/>
              <a:t> &lt;http://semanticscience.org/resource/SIO_000300&gt; ?</a:t>
            </a:r>
            <a:r>
              <a:rPr lang="en-CA" sz="700" b="1" dirty="0" err="1" smtClean="0"/>
              <a:t>strandFeatureID</a:t>
            </a:r>
            <a:r>
              <a:rPr lang="en-CA" sz="700" b="1" dirty="0" smtClean="0"/>
              <a:t> .</a:t>
            </a:r>
          </a:p>
          <a:p>
            <a:r>
              <a:rPr lang="en-CA" sz="700" b="1" dirty="0" smtClean="0"/>
              <a:t>	?strand a ?</a:t>
            </a:r>
            <a:r>
              <a:rPr lang="en-CA" sz="700" b="1" dirty="0" err="1" smtClean="0"/>
              <a:t>strandType</a:t>
            </a:r>
            <a:r>
              <a:rPr lang="en-CA" sz="700" b="1" dirty="0" smtClean="0"/>
              <a:t> .</a:t>
            </a:r>
          </a:p>
          <a:p>
            <a:r>
              <a:rPr lang="en-CA" sz="700" b="1" dirty="0" smtClean="0"/>
              <a:t>} WHERE {</a:t>
            </a:r>
          </a:p>
          <a:p>
            <a:r>
              <a:rPr lang="en-CA" sz="700" b="1" dirty="0" smtClean="0"/>
              <a:t>	?input &lt;http://sadiframework.org/ontologies/GMOD/BiopolymerRegion.owl#position&gt; ?position .</a:t>
            </a:r>
          </a:p>
          <a:p>
            <a:r>
              <a:rPr lang="en-CA" sz="700" b="1" dirty="0" smtClean="0"/>
              <a:t>	?position &lt;http://sadiframework.org/ontologies/GMOD/RangedSequencePosition.owl#coordinate&gt; ?start .</a:t>
            </a:r>
          </a:p>
          <a:p>
            <a:r>
              <a:rPr lang="en-CA" sz="700" b="1" dirty="0" smtClean="0"/>
              <a:t>	?start a &lt;http://sadiframework.org/ontologies/GMOD/RangedSequencePosition.owl#StartPosition&gt; .</a:t>
            </a:r>
          </a:p>
          <a:p>
            <a:r>
              <a:rPr lang="en-CA" sz="700" b="1" dirty="0" smtClean="0"/>
              <a:t>	?start &lt;http://semanticscience.org/resource/SIO_000300&gt; ?</a:t>
            </a:r>
            <a:r>
              <a:rPr lang="en-CA" sz="700" b="1" dirty="0" err="1" smtClean="0"/>
              <a:t>startValue</a:t>
            </a:r>
            <a:r>
              <a:rPr lang="en-CA" sz="700" b="1" dirty="0" smtClean="0"/>
              <a:t> .</a:t>
            </a:r>
          </a:p>
          <a:p>
            <a:r>
              <a:rPr lang="en-CA" sz="700" b="1" dirty="0" smtClean="0"/>
              <a:t>	?position &lt;http://sadiframework.org/ontologies/GMOD/RangedSequencePosition.owl#coordinate&gt; ?end .</a:t>
            </a:r>
          </a:p>
          <a:p>
            <a:r>
              <a:rPr lang="en-CA" sz="700" b="1" dirty="0" smtClean="0"/>
              <a:t>	?end a &lt;http://sadiframework.org/ontologies/GMOD/RangedSequencePosition.owl#EndPosition&gt; .</a:t>
            </a:r>
          </a:p>
          <a:p>
            <a:r>
              <a:rPr lang="en-CA" sz="700" b="1" dirty="0" smtClean="0"/>
              <a:t>	?end &lt;http://semanticscience.org/resource/SIO_000300&gt; ?</a:t>
            </a:r>
            <a:r>
              <a:rPr lang="en-CA" sz="700" b="1" dirty="0" err="1" smtClean="0"/>
              <a:t>endValue</a:t>
            </a:r>
            <a:r>
              <a:rPr lang="en-CA" sz="700" b="1" dirty="0" smtClean="0"/>
              <a:t> .</a:t>
            </a:r>
          </a:p>
          <a:p>
            <a:r>
              <a:rPr lang="en-CA" sz="700" b="1" dirty="0" smtClean="0"/>
              <a:t>	?position &lt;http://sadiframework.org/ontologies/GMOD/RangedSequencePosition.owl#in_relation_to&gt; ?sequence .</a:t>
            </a:r>
          </a:p>
          <a:p>
            <a:r>
              <a:rPr lang="en-CA" sz="700" b="1" dirty="0" smtClean="0"/>
              <a:t>	{</a:t>
            </a:r>
          </a:p>
          <a:p>
            <a:r>
              <a:rPr lang="en-CA" sz="700" b="1" dirty="0" smtClean="0"/>
              <a:t>		?sequence &lt;http://semanticscience.org/resource/SIO_000210&gt; ?feature .</a:t>
            </a:r>
          </a:p>
          <a:p>
            <a:r>
              <a:rPr lang="en-CA" sz="700" b="1" dirty="0" smtClean="0"/>
              <a:t>		?feature &lt;http://semanticscience.org/resource/SIO_000008&gt; ?identifier .</a:t>
            </a:r>
          </a:p>
          <a:p>
            <a:r>
              <a:rPr lang="en-CA" sz="700" b="1" dirty="0" smtClean="0"/>
              <a:t> </a:t>
            </a:r>
          </a:p>
          <a:p>
            <a:r>
              <a:rPr lang="en-CA" sz="700" b="1" dirty="0" smtClean="0"/>
              <a:t>		?identifier &lt;http://semanticscience.org/resource/SIO_000300&gt; ?</a:t>
            </a:r>
            <a:r>
              <a:rPr lang="en-CA" sz="700" b="1" dirty="0" err="1" smtClean="0"/>
              <a:t>featureID</a:t>
            </a:r>
            <a:r>
              <a:rPr lang="en-CA" sz="700" b="1" dirty="0" smtClean="0"/>
              <a:t> .</a:t>
            </a:r>
          </a:p>
          <a:p>
            <a:r>
              <a:rPr lang="en-CA" sz="700" b="1" dirty="0" smtClean="0"/>
              <a:t>	} UNION {</a:t>
            </a:r>
          </a:p>
          <a:p>
            <a:r>
              <a:rPr lang="en-CA" sz="700" b="1" dirty="0" smtClean="0"/>
              <a:t>		?sequence &lt;http://semanticscience.org/resource/SIO_000210&gt; ?strand .</a:t>
            </a:r>
          </a:p>
          <a:p>
            <a:r>
              <a:rPr lang="en-CA" sz="700" b="1" dirty="0" smtClean="0"/>
              <a:t>		?strand &lt;http://semanticscience.org/resource/SIO_000093&gt; ?</a:t>
            </a:r>
            <a:r>
              <a:rPr lang="en-CA" sz="700" b="1" dirty="0" err="1" smtClean="0"/>
              <a:t>strandFeature</a:t>
            </a:r>
            <a:r>
              <a:rPr lang="en-CA" sz="700" b="1" dirty="0" smtClean="0"/>
              <a:t> .</a:t>
            </a:r>
          </a:p>
          <a:p>
            <a:r>
              <a:rPr lang="en-CA" sz="700" b="1" dirty="0" smtClean="0"/>
              <a:t>		{</a:t>
            </a:r>
          </a:p>
          <a:p>
            <a:r>
              <a:rPr lang="en-CA" sz="700" b="1" dirty="0" smtClean="0"/>
              <a:t>			?</a:t>
            </a:r>
            <a:r>
              <a:rPr lang="en-CA" sz="700" b="1" dirty="0" err="1" smtClean="0"/>
              <a:t>strandFeature</a:t>
            </a:r>
            <a:r>
              <a:rPr lang="en-CA" sz="700" b="1" dirty="0" smtClean="0"/>
              <a:t> a &lt;http://sadiframework.org/ontologies/GMOD/Feature.owl#Feature&gt; .</a:t>
            </a:r>
          </a:p>
          <a:p>
            <a:r>
              <a:rPr lang="en-CA" sz="700" b="1" dirty="0" smtClean="0"/>
              <a:t>		} UNION {</a:t>
            </a:r>
          </a:p>
          <a:p>
            <a:r>
              <a:rPr lang="en-CA" sz="700" b="1" dirty="0" smtClean="0"/>
              <a:t>			?</a:t>
            </a:r>
            <a:r>
              <a:rPr lang="en-CA" sz="700" b="1" dirty="0" err="1" smtClean="0"/>
              <a:t>strandFeature</a:t>
            </a:r>
            <a:r>
              <a:rPr lang="en-CA" sz="700" b="1" dirty="0" smtClean="0"/>
              <a:t> &lt;http://semanticscience.org/resource/SIO_000008&gt; ?</a:t>
            </a:r>
            <a:r>
              <a:rPr lang="en-CA" sz="700" b="1" dirty="0" err="1" smtClean="0"/>
              <a:t>strandFeatureIdentifier</a:t>
            </a:r>
            <a:r>
              <a:rPr lang="en-CA" sz="700" b="1" dirty="0" smtClean="0"/>
              <a:t> .</a:t>
            </a:r>
          </a:p>
          <a:p>
            <a:r>
              <a:rPr lang="en-CA" sz="700" b="1" dirty="0" smtClean="0"/>
              <a:t>			?</a:t>
            </a:r>
            <a:r>
              <a:rPr lang="en-CA" sz="700" b="1" dirty="0" err="1" smtClean="0"/>
              <a:t>strandFeatureIdentifier</a:t>
            </a:r>
            <a:r>
              <a:rPr lang="en-CA" sz="700" b="1" dirty="0" smtClean="0"/>
              <a:t> &lt;http://semanticscience.org/resource/SIO_000300&gt; ?</a:t>
            </a:r>
            <a:r>
              <a:rPr lang="en-CA" sz="700" b="1" dirty="0" err="1" smtClean="0"/>
              <a:t>strandFeatureID</a:t>
            </a:r>
            <a:r>
              <a:rPr lang="en-CA" sz="700" b="1" dirty="0" smtClean="0"/>
              <a:t> .</a:t>
            </a:r>
          </a:p>
          <a:p>
            <a:r>
              <a:rPr lang="en-CA" sz="700" b="1" dirty="0" smtClean="0"/>
              <a:t>		} .</a:t>
            </a:r>
          </a:p>
          <a:p>
            <a:r>
              <a:rPr lang="en-CA" sz="700" b="1" dirty="0" smtClean="0"/>
              <a:t>		{</a:t>
            </a:r>
          </a:p>
          <a:p>
            <a:r>
              <a:rPr lang="en-CA" sz="700" b="1" dirty="0" smtClean="0"/>
              <a:t>			?strand a &lt;http://sadiframework.org/ontologies/GMOD/Strand.owl#PlusStrand&gt; .</a:t>
            </a:r>
          </a:p>
          <a:p>
            <a:r>
              <a:rPr lang="en-CA" sz="700" b="1" dirty="0" smtClean="0"/>
              <a:t>			?strand a ?</a:t>
            </a:r>
            <a:r>
              <a:rPr lang="en-CA" sz="700" b="1" dirty="0" err="1" smtClean="0"/>
              <a:t>strandType</a:t>
            </a:r>
            <a:r>
              <a:rPr lang="en-CA" sz="700" b="1" dirty="0" smtClean="0"/>
              <a:t> .</a:t>
            </a:r>
          </a:p>
          <a:p>
            <a:r>
              <a:rPr lang="en-CA" sz="700" b="1" dirty="0" smtClean="0"/>
              <a:t>		} UNION {</a:t>
            </a:r>
          </a:p>
          <a:p>
            <a:r>
              <a:rPr lang="en-CA" sz="700" b="1" dirty="0" smtClean="0"/>
              <a:t>			?strand a &lt;http://sadiframework.org/ontologies/GMOD/Strand.owl#MinusStrand&gt; .</a:t>
            </a:r>
          </a:p>
          <a:p>
            <a:r>
              <a:rPr lang="en-CA" sz="700" b="1" dirty="0" smtClean="0"/>
              <a:t>			?strand a ?</a:t>
            </a:r>
            <a:r>
              <a:rPr lang="en-CA" sz="700" b="1" dirty="0" err="1" smtClean="0"/>
              <a:t>strandType</a:t>
            </a:r>
            <a:r>
              <a:rPr lang="en-CA" sz="700" b="1" dirty="0" smtClean="0"/>
              <a:t> .</a:t>
            </a:r>
          </a:p>
          <a:p>
            <a:r>
              <a:rPr lang="en-CA" sz="700" b="1" dirty="0" smtClean="0"/>
              <a:t>		} .</a:t>
            </a:r>
          </a:p>
          <a:p>
            <a:r>
              <a:rPr lang="en-CA" sz="700" b="1" dirty="0" smtClean="0"/>
              <a:t>	} .</a:t>
            </a:r>
          </a:p>
          <a:p>
            <a:r>
              <a:rPr lang="en-CA" sz="700" b="1" dirty="0" smtClean="0"/>
              <a:t>}</a:t>
            </a:r>
          </a:p>
          <a:p>
            <a:r>
              <a:rPr lang="en-CA" sz="700" b="1" dirty="0" smtClean="0"/>
              <a:t> </a:t>
            </a:r>
            <a:endParaRPr lang="en-CA" sz="700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764704"/>
            <a:ext cx="6984776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000" dirty="0" smtClean="0"/>
              <a:t>Summary</a:t>
            </a:r>
          </a:p>
          <a:p>
            <a:pPr algn="ctr"/>
            <a:endParaRPr lang="en-CA" dirty="0" smtClean="0"/>
          </a:p>
          <a:p>
            <a:pPr algn="ctr"/>
            <a:endParaRPr lang="en-CA" dirty="0" smtClean="0"/>
          </a:p>
          <a:p>
            <a:pPr algn="ctr"/>
            <a:endParaRPr lang="en-CA" sz="2400" dirty="0" smtClean="0"/>
          </a:p>
          <a:p>
            <a:pPr algn="ctr"/>
            <a:r>
              <a:rPr lang="en-CA" sz="2400" dirty="0" smtClean="0"/>
              <a:t>While the Knowledge Explorer plug-in has similar functionality to other tools we have built for SADI, it takes advantage of some features of the SADI Registry, and SADI in general, that are not widely-known.</a:t>
            </a:r>
          </a:p>
          <a:p>
            <a:pPr algn="ctr"/>
            <a:endParaRPr lang="en-CA" sz="2400" dirty="0" smtClean="0"/>
          </a:p>
          <a:p>
            <a:pPr algn="ctr"/>
            <a:endParaRPr lang="en-CA" sz="2400" dirty="0" smtClean="0"/>
          </a:p>
          <a:p>
            <a:pPr algn="ctr"/>
            <a:r>
              <a:rPr lang="en-CA" sz="2400" dirty="0" smtClean="0"/>
              <a:t>We hope that the availability of these features encourages development of SADI tooling in languages that have limited access to reasoning. </a:t>
            </a:r>
            <a:endParaRPr lang="en-CA" sz="2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95936" y="2616582"/>
            <a:ext cx="4248472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3200" dirty="0" smtClean="0"/>
              <a:t>Luke McCarthy </a:t>
            </a:r>
            <a:r>
              <a:rPr lang="en-CA" sz="2400" dirty="0" smtClean="0"/>
              <a:t/>
            </a:r>
            <a:br>
              <a:rPr lang="en-CA" sz="2400" dirty="0" smtClean="0"/>
            </a:br>
            <a:r>
              <a:rPr lang="en-CA" sz="1600" dirty="0" smtClean="0">
                <a:solidFill>
                  <a:srgbClr val="0070C0"/>
                </a:solidFill>
              </a:rPr>
              <a:t>Lead Developer, SADI project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CA" sz="1600" dirty="0" smtClean="0">
              <a:solidFill>
                <a:srgbClr val="0070C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CA" sz="1600" dirty="0" smtClean="0">
              <a:solidFill>
                <a:srgbClr val="0070C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CA" sz="1600" dirty="0" smtClean="0">
              <a:solidFill>
                <a:srgbClr val="0070C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CA" sz="1600" dirty="0" smtClean="0">
              <a:solidFill>
                <a:srgbClr val="0070C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CA" sz="1600" dirty="0" smtClean="0">
              <a:solidFill>
                <a:srgbClr val="0070C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CA" sz="1600" dirty="0" smtClean="0">
              <a:solidFill>
                <a:srgbClr val="0070C0"/>
              </a:solidFill>
            </a:endParaRPr>
          </a:p>
          <a:p>
            <a:pPr>
              <a:defRPr/>
            </a:pPr>
            <a:r>
              <a:rPr lang="en-CA" sz="3200" dirty="0" smtClean="0"/>
              <a:t>Benjamin </a:t>
            </a:r>
            <a:r>
              <a:rPr lang="en-CA" sz="3200" dirty="0" err="1" smtClean="0"/>
              <a:t>VanderValk</a:t>
            </a:r>
            <a:r>
              <a:rPr lang="en-CA" sz="3200" dirty="0" smtClean="0"/>
              <a:t> </a:t>
            </a:r>
            <a:br>
              <a:rPr lang="en-CA" sz="3200" dirty="0" smtClean="0"/>
            </a:br>
            <a:r>
              <a:rPr lang="en-CA" sz="1600" dirty="0" smtClean="0">
                <a:solidFill>
                  <a:srgbClr val="0070C0"/>
                </a:solidFill>
              </a:rPr>
              <a:t>Developer, SADI project</a:t>
            </a:r>
            <a:endParaRPr lang="en-CA" sz="2400" dirty="0" smtClean="0">
              <a:solidFill>
                <a:srgbClr val="0070C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CA" sz="1600" dirty="0" smtClean="0">
              <a:solidFill>
                <a:srgbClr val="0070C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CA" sz="1600" dirty="0" smtClean="0">
              <a:solidFill>
                <a:srgbClr val="0070C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CA" sz="2400" dirty="0" smtClean="0">
              <a:solidFill>
                <a:srgbClr val="0070C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41087" y="332656"/>
            <a:ext cx="6983900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400" dirty="0" smtClean="0"/>
              <a:t>University of British Columbia</a:t>
            </a:r>
          </a:p>
          <a:p>
            <a:pPr algn="ctr"/>
            <a:r>
              <a:rPr lang="en-CA" sz="3200" dirty="0" smtClean="0"/>
              <a:t>Mark Wilkinson, Project Lead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lum bright="10000" contrast="20000"/>
          </a:blip>
          <a:srcRect/>
          <a:stretch>
            <a:fillRect/>
          </a:stretch>
        </p:blipFill>
        <p:spPr bwMode="auto">
          <a:xfrm>
            <a:off x="1763688" y="1968510"/>
            <a:ext cx="2014113" cy="2105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 cstate="print"/>
          <a:srcRect l="4301" t="9449" r="-3226" b="15612"/>
          <a:stretch>
            <a:fillRect/>
          </a:stretch>
        </p:blipFill>
        <p:spPr bwMode="auto">
          <a:xfrm>
            <a:off x="1763688" y="4128750"/>
            <a:ext cx="2088232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8" descr="CIHRlogo_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9645" y="1847103"/>
            <a:ext cx="1257291" cy="1171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37"/>
          <p:cNvPicPr>
            <a:picLocks noChangeAspect="1" noChangeArrowheads="1"/>
          </p:cNvPicPr>
          <p:nvPr/>
        </p:nvPicPr>
        <p:blipFill>
          <a:blip r:embed="rId3" cstate="print"/>
          <a:srcRect t="21249" b="32117"/>
          <a:stretch>
            <a:fillRect/>
          </a:stretch>
        </p:blipFill>
        <p:spPr bwMode="auto">
          <a:xfrm>
            <a:off x="5861258" y="1847103"/>
            <a:ext cx="2222484" cy="1142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40" descr="BC_HSFBCY_new_log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04048" y="332656"/>
            <a:ext cx="1981186" cy="1146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5" cstate="print"/>
          <a:srcRect l="3844" t="5859" r="1720" b="4297"/>
          <a:stretch>
            <a:fillRect/>
          </a:stretch>
        </p:blipFill>
        <p:spPr bwMode="auto">
          <a:xfrm>
            <a:off x="3003784" y="4231928"/>
            <a:ext cx="2867025" cy="1357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6" cstate="print"/>
          <a:srcRect r="4551"/>
          <a:stretch>
            <a:fillRect/>
          </a:stretch>
        </p:blipFill>
        <p:spPr bwMode="auto">
          <a:xfrm>
            <a:off x="6075618" y="4231928"/>
            <a:ext cx="3068382" cy="1357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7" cstate="print"/>
          <a:srcRect l="64239" t="23437" r="13799" b="64844"/>
          <a:stretch>
            <a:fillRect/>
          </a:stretch>
        </p:blipFill>
        <p:spPr bwMode="auto">
          <a:xfrm>
            <a:off x="4227755" y="5490842"/>
            <a:ext cx="3571900" cy="1071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3329379" y="3429000"/>
            <a:ext cx="3042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dirty="0" smtClean="0">
                <a:solidFill>
                  <a:schemeClr val="accent1">
                    <a:lumMod val="75000"/>
                  </a:schemeClr>
                </a:solidFill>
              </a:rPr>
              <a:t>Microsoft </a:t>
            </a:r>
            <a:r>
              <a:rPr lang="en-CA" sz="2400" b="1" i="1" dirty="0" smtClean="0">
                <a:solidFill>
                  <a:schemeClr val="accent1">
                    <a:lumMod val="75000"/>
                  </a:schemeClr>
                </a:solidFill>
              </a:rPr>
              <a:t>Research</a:t>
            </a:r>
            <a:endParaRPr lang="en-CA" sz="2400" b="1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9" name="Picture 8" descr="IOI_logo_RGB_wSpace.tif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300227" y="1916832"/>
            <a:ext cx="1676400" cy="1676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6211" y="3789040"/>
            <a:ext cx="25435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/>
              <a:t>The Knowledge Explorer</a:t>
            </a:r>
            <a:br>
              <a:rPr lang="en-CA" dirty="0" smtClean="0"/>
            </a:br>
            <a:r>
              <a:rPr lang="en-CA" dirty="0" smtClean="0"/>
              <a:t>Personal Edition, </a:t>
            </a:r>
            <a:br>
              <a:rPr lang="en-CA" dirty="0" smtClean="0"/>
            </a:br>
            <a:r>
              <a:rPr lang="en-CA" dirty="0" smtClean="0"/>
              <a:t>and the SADI plug-in, are</a:t>
            </a:r>
            <a:br>
              <a:rPr lang="en-CA" dirty="0" smtClean="0"/>
            </a:br>
            <a:r>
              <a:rPr lang="en-CA" dirty="0" smtClean="0"/>
              <a:t>freely available. 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2771800" y="-171400"/>
            <a:ext cx="0" cy="7344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588224" y="2852936"/>
            <a:ext cx="1996641" cy="1174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1717</TotalTime>
  <Words>834</Words>
  <Application>Microsoft Office PowerPoint</Application>
  <PresentationFormat>On-screen Show (4:3)</PresentationFormat>
  <Paragraphs>241</Paragraphs>
  <Slides>37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Mark</dc:creator>
  <cp:lastModifiedBy>Mark</cp:lastModifiedBy>
  <cp:revision>55</cp:revision>
  <dcterms:created xsi:type="dcterms:W3CDTF">2011-11-30T21:42:18Z</dcterms:created>
  <dcterms:modified xsi:type="dcterms:W3CDTF">2011-12-15T19:54:38Z</dcterms:modified>
</cp:coreProperties>
</file>